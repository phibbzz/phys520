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85" r:id="rId2"/>
    <p:sldId id="279" r:id="rId3"/>
    <p:sldId id="347" r:id="rId4"/>
    <p:sldId id="332" r:id="rId5"/>
    <p:sldId id="281" r:id="rId6"/>
    <p:sldId id="286" r:id="rId7"/>
    <p:sldId id="333" r:id="rId8"/>
    <p:sldId id="287" r:id="rId9"/>
    <p:sldId id="335" r:id="rId10"/>
    <p:sldId id="274" r:id="rId11"/>
    <p:sldId id="350" r:id="rId12"/>
    <p:sldId id="340" r:id="rId13"/>
    <p:sldId id="275" r:id="rId14"/>
    <p:sldId id="288" r:id="rId15"/>
    <p:sldId id="342" r:id="rId16"/>
    <p:sldId id="341" r:id="rId17"/>
    <p:sldId id="277" r:id="rId18"/>
    <p:sldId id="284" r:id="rId19"/>
    <p:sldId id="276" r:id="rId20"/>
    <p:sldId id="289" r:id="rId21"/>
    <p:sldId id="290" r:id="rId22"/>
    <p:sldId id="343" r:id="rId23"/>
    <p:sldId id="344" r:id="rId24"/>
    <p:sldId id="291" r:id="rId25"/>
    <p:sldId id="348" r:id="rId26"/>
    <p:sldId id="303" r:id="rId27"/>
    <p:sldId id="293" r:id="rId28"/>
    <p:sldId id="305" r:id="rId29"/>
    <p:sldId id="280" r:id="rId30"/>
    <p:sldId id="355" r:id="rId31"/>
    <p:sldId id="356" r:id="rId32"/>
    <p:sldId id="278" r:id="rId33"/>
    <p:sldId id="351" r:id="rId34"/>
    <p:sldId id="352" r:id="rId35"/>
    <p:sldId id="361" r:id="rId36"/>
    <p:sldId id="353" r:id="rId37"/>
    <p:sldId id="354" r:id="rId38"/>
    <p:sldId id="359" r:id="rId39"/>
    <p:sldId id="360" r:id="rId40"/>
    <p:sldId id="362" r:id="rId41"/>
    <p:sldId id="363" r:id="rId42"/>
    <p:sldId id="366" r:id="rId43"/>
    <p:sldId id="364" r:id="rId44"/>
    <p:sldId id="336" r:id="rId45"/>
    <p:sldId id="349" r:id="rId46"/>
    <p:sldId id="337" r:id="rId47"/>
    <p:sldId id="367" r:id="rId48"/>
    <p:sldId id="339" r:id="rId49"/>
    <p:sldId id="334" r:id="rId50"/>
    <p:sldId id="296" r:id="rId51"/>
    <p:sldId id="298" r:id="rId52"/>
    <p:sldId id="294" r:id="rId53"/>
    <p:sldId id="309" r:id="rId54"/>
    <p:sldId id="297" r:id="rId55"/>
    <p:sldId id="357" r:id="rId56"/>
    <p:sldId id="365" r:id="rId57"/>
    <p:sldId id="346" r:id="rId58"/>
    <p:sldId id="345"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2495" autoAdjust="0"/>
  </p:normalViewPr>
  <p:slideViewPr>
    <p:cSldViewPr snapToGrid="0" showGuides="1">
      <p:cViewPr varScale="1">
        <p:scale>
          <a:sx n="73" d="100"/>
          <a:sy n="73" d="100"/>
        </p:scale>
        <p:origin x="298" y="43"/>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1A487A-BCAB-4FA9-93D5-0C8D3D81510A}" type="datetimeFigureOut">
              <a:rPr lang="en-GB" smtClean="0"/>
              <a:t>15/09/2026</a:t>
            </a:fld>
            <a:endParaRPr lang="en-GB"/>
          </a:p>
        </p:txBody>
      </p:sp>
      <p:sp>
        <p:nvSpPr>
          <p:cNvPr id="4" name="Zástupný symbol pro obrázek snímk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B06DE7-9061-4127-8135-16BB94E2A4FA}" type="slidenum">
              <a:rPr lang="en-GB" smtClean="0"/>
              <a:t>‹#›</a:t>
            </a:fld>
            <a:endParaRPr lang="en-GB"/>
          </a:p>
        </p:txBody>
      </p:sp>
    </p:spTree>
    <p:extLst>
      <p:ext uri="{BB962C8B-B14F-4D97-AF65-F5344CB8AC3E}">
        <p14:creationId xmlns:p14="http://schemas.microsoft.com/office/powerpoint/2010/main" val="3363615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minute. Point: the field is alive, but Git is the interchange format. jj is Git-compatible, so nothing you learn today is wasted.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Honest framing: I use GitHub Desktop for nearly everything. But the day you SSH into Great Lakes, or paste an error into a search box, the GUI cannot help you.</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they remember one line: git status. It tells you the state and usually prints the exact command you need next.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single rule of the lecture on this topic. Regenerable = out. Ask the room for examples from their own projects.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moment: show them the .DS_Store sitting in beards-lab/Phys520. It got there because someone on a Mac committed everything blindly.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point is not that one tool wins — it is that 'just commit everything' has a size at which it stops working, and they will hit 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github.com/github/gitignore has ready-made templates for Python, MATLAB, macOS and Windows — tell them to start there and add to 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Tie back to the Beyoncé slide. Emphasise: the fix is revoking the key, not cleaning the repo — by the time you notice, assume it is compromised.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that sells worktrees to a modelling audience: comparing two model versions numerically is a daily task, and it normally means two clones.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Inside the repo they would show up as untracked files. Next to it, e.g. Phys520/ and Phys520-main/.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Connect to the Tiwari 2021 number from the motivation slide: about half of published ODE models were not directly reproducible. This checklist is the difference.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minutes, live if the wifi holds. This is the concrete answer to the 'make your research public' slide they just saw.</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Land the motivation: the reason to use Git in 2026 is stronger than in 2015, because you are now reviewing changes you did not write.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one rule: anything COMMITTED can be recovered. Anything never committed cannot. That is the argument for committing often.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where hands-on sessions die. That is why it is homework: account + 2FA + signed-in GitHub Desktop before the next session.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this one out loud and put it in the course announcement too.</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p:cNvSpPr>
            <a:spLocks noGrp="1"/>
          </p:cNvSpPr>
          <p:nvPr>
            <p:ph type="ctrTitle"/>
          </p:nvPr>
        </p:nvSpPr>
        <p:spPr>
          <a:xfrm>
            <a:off x="1524000" y="1122363"/>
            <a:ext cx="9144000" cy="2387600"/>
          </a:xfrm>
        </p:spPr>
        <p:txBody>
          <a:bodyPr anchor="b"/>
          <a:lstStyle>
            <a:lvl1pPr algn="ctr">
              <a:defRPr sz="6000"/>
            </a:lvl1pPr>
          </a:lstStyle>
          <a:p>
            <a:r>
              <a:rPr lang="en-US"/>
              <a:t>Kliknutím lze upravit styl.</a:t>
            </a:r>
          </a:p>
        </p:txBody>
      </p:sp>
      <p:sp>
        <p:nvSpPr>
          <p:cNvPr id="3" name="Podnadpis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Kliknutím můžete upravit styl předlohy.</a:t>
            </a:r>
          </a:p>
        </p:txBody>
      </p:sp>
      <p:sp>
        <p:nvSpPr>
          <p:cNvPr id="4" name="Zástupný symbol pro datum 3"/>
          <p:cNvSpPr>
            <a:spLocks noGrp="1"/>
          </p:cNvSpPr>
          <p:nvPr>
            <p:ph type="dt" sz="half" idx="10"/>
          </p:nvPr>
        </p:nvSpPr>
        <p:spPr/>
        <p:txBody>
          <a:bodyPr/>
          <a:lstStyle/>
          <a:p>
            <a:fld id="{ECAF4212-6013-4BDE-BCCC-04B63E5B0D67}" type="datetimeFigureOut">
              <a:rPr lang="en-US" smtClean="0"/>
              <a:t>9/15/2026</a:t>
            </a:fld>
            <a:endParaRPr lang="en-US"/>
          </a:p>
        </p:txBody>
      </p:sp>
      <p:sp>
        <p:nvSpPr>
          <p:cNvPr id="5" name="Zástupný symbol pro zápatí 4"/>
          <p:cNvSpPr>
            <a:spLocks noGrp="1"/>
          </p:cNvSpPr>
          <p:nvPr>
            <p:ph type="ftr" sz="quarter" idx="11"/>
          </p:nvPr>
        </p:nvSpPr>
        <p:spPr/>
        <p:txBody>
          <a:bodyPr/>
          <a:lstStyle/>
          <a:p>
            <a:endParaRPr lang="en-US"/>
          </a:p>
        </p:txBody>
      </p:sp>
      <p:sp>
        <p:nvSpPr>
          <p:cNvPr id="6" name="Zástupný symbol pro číslo snímku 5"/>
          <p:cNvSpPr>
            <a:spLocks noGrp="1"/>
          </p:cNvSpPr>
          <p:nvPr>
            <p:ph type="sldNum" sz="quarter" idx="12"/>
          </p:nvPr>
        </p:nvSpPr>
        <p:spPr/>
        <p:txBody>
          <a:bodyPr/>
          <a:lstStyle/>
          <a:p>
            <a:fld id="{25333724-9734-45D8-98F4-49CB6251B12F}" type="slidenum">
              <a:rPr lang="en-US" smtClean="0"/>
              <a:t>‹#›</a:t>
            </a:fld>
            <a:endParaRPr lang="en-US"/>
          </a:p>
        </p:txBody>
      </p:sp>
    </p:spTree>
    <p:extLst>
      <p:ext uri="{BB962C8B-B14F-4D97-AF65-F5344CB8AC3E}">
        <p14:creationId xmlns:p14="http://schemas.microsoft.com/office/powerpoint/2010/main" val="2036434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a:t>Kliknutím lze upravit styl.</a:t>
            </a:r>
          </a:p>
        </p:txBody>
      </p:sp>
      <p:sp>
        <p:nvSpPr>
          <p:cNvPr id="3" name="Zástupný symbol pro obsah 2"/>
          <p:cNvSpPr>
            <a:spLocks noGrp="1"/>
          </p:cNvSpPr>
          <p:nvPr>
            <p:ph idx="1"/>
          </p:nvPr>
        </p:nvSpPr>
        <p:spPr/>
        <p:txBody>
          <a:bodyPr/>
          <a:lstStyle/>
          <a:p>
            <a:pPr lvl="0"/>
            <a:r>
              <a:rPr lang="en-US"/>
              <a:t>Upravte styly předlohy textu.</a:t>
            </a:r>
          </a:p>
          <a:p>
            <a:pPr lvl="1"/>
            <a:r>
              <a:rPr lang="en-US"/>
              <a:t>Druhá úroveň</a:t>
            </a:r>
          </a:p>
          <a:p>
            <a:pPr lvl="2"/>
            <a:r>
              <a:rPr lang="en-US"/>
              <a:t>Třetí úroveň</a:t>
            </a:r>
          </a:p>
          <a:p>
            <a:pPr lvl="3"/>
            <a:r>
              <a:rPr lang="en-US"/>
              <a:t>Čtvrtá úroveň</a:t>
            </a:r>
          </a:p>
          <a:p>
            <a:pPr lvl="4"/>
            <a:r>
              <a:rPr lang="en-US"/>
              <a:t>Pátá úroveň</a:t>
            </a:r>
          </a:p>
        </p:txBody>
      </p:sp>
      <p:sp>
        <p:nvSpPr>
          <p:cNvPr id="4" name="Zástupný symbol pro datum 3"/>
          <p:cNvSpPr>
            <a:spLocks noGrp="1"/>
          </p:cNvSpPr>
          <p:nvPr>
            <p:ph type="dt" sz="half" idx="10"/>
          </p:nvPr>
        </p:nvSpPr>
        <p:spPr/>
        <p:txBody>
          <a:bodyPr/>
          <a:lstStyle/>
          <a:p>
            <a:fld id="{ECAF4212-6013-4BDE-BCCC-04B63E5B0D67}" type="datetimeFigureOut">
              <a:rPr lang="en-US" smtClean="0"/>
              <a:t>9/15/2026</a:t>
            </a:fld>
            <a:endParaRPr lang="en-US"/>
          </a:p>
        </p:txBody>
      </p:sp>
      <p:sp>
        <p:nvSpPr>
          <p:cNvPr id="5" name="Zástupný symbol pro zápatí 4"/>
          <p:cNvSpPr>
            <a:spLocks noGrp="1"/>
          </p:cNvSpPr>
          <p:nvPr>
            <p:ph type="ftr" sz="quarter" idx="11"/>
          </p:nvPr>
        </p:nvSpPr>
        <p:spPr/>
        <p:txBody>
          <a:bodyPr/>
          <a:lstStyle/>
          <a:p>
            <a:endParaRPr lang="en-US"/>
          </a:p>
        </p:txBody>
      </p:sp>
      <p:sp>
        <p:nvSpPr>
          <p:cNvPr id="6" name="Zástupný symbol pro číslo snímku 5"/>
          <p:cNvSpPr>
            <a:spLocks noGrp="1"/>
          </p:cNvSpPr>
          <p:nvPr>
            <p:ph type="sldNum" sz="quarter" idx="12"/>
          </p:nvPr>
        </p:nvSpPr>
        <p:spPr/>
        <p:txBody>
          <a:bodyPr/>
          <a:lstStyle/>
          <a:p>
            <a:fld id="{25333724-9734-45D8-98F4-49CB6251B12F}" type="slidenum">
              <a:rPr lang="en-US" smtClean="0"/>
              <a:t>‹#›</a:t>
            </a:fld>
            <a:endParaRPr lang="en-US"/>
          </a:p>
        </p:txBody>
      </p:sp>
    </p:spTree>
    <p:extLst>
      <p:ext uri="{BB962C8B-B14F-4D97-AF65-F5344CB8AC3E}">
        <p14:creationId xmlns:p14="http://schemas.microsoft.com/office/powerpoint/2010/main" val="1118147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p:cNvSpPr>
            <a:spLocks noGrp="1"/>
          </p:cNvSpPr>
          <p:nvPr>
            <p:ph type="title"/>
          </p:nvPr>
        </p:nvSpPr>
        <p:spPr>
          <a:xfrm>
            <a:off x="831850" y="1709738"/>
            <a:ext cx="10515600" cy="2852737"/>
          </a:xfrm>
        </p:spPr>
        <p:txBody>
          <a:bodyPr anchor="b"/>
          <a:lstStyle>
            <a:lvl1pPr>
              <a:defRPr sz="6000"/>
            </a:lvl1pPr>
          </a:lstStyle>
          <a:p>
            <a:r>
              <a:rPr lang="en-US"/>
              <a:t>Kliknutím lze upravit styl.</a:t>
            </a:r>
          </a:p>
        </p:txBody>
      </p:sp>
      <p:sp>
        <p:nvSpPr>
          <p:cNvPr id="3" name="Zástupný symbol pro tex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Upravte styly předlohy textu.</a:t>
            </a:r>
          </a:p>
        </p:txBody>
      </p:sp>
      <p:sp>
        <p:nvSpPr>
          <p:cNvPr id="4" name="Zástupný symbol pro datum 3"/>
          <p:cNvSpPr>
            <a:spLocks noGrp="1"/>
          </p:cNvSpPr>
          <p:nvPr>
            <p:ph type="dt" sz="half" idx="10"/>
          </p:nvPr>
        </p:nvSpPr>
        <p:spPr/>
        <p:txBody>
          <a:bodyPr/>
          <a:lstStyle/>
          <a:p>
            <a:fld id="{ECAF4212-6013-4BDE-BCCC-04B63E5B0D67}" type="datetimeFigureOut">
              <a:rPr lang="en-US" smtClean="0"/>
              <a:t>9/15/2026</a:t>
            </a:fld>
            <a:endParaRPr lang="en-US"/>
          </a:p>
        </p:txBody>
      </p:sp>
      <p:sp>
        <p:nvSpPr>
          <p:cNvPr id="5" name="Zástupný symbol pro zápatí 4"/>
          <p:cNvSpPr>
            <a:spLocks noGrp="1"/>
          </p:cNvSpPr>
          <p:nvPr>
            <p:ph type="ftr" sz="quarter" idx="11"/>
          </p:nvPr>
        </p:nvSpPr>
        <p:spPr/>
        <p:txBody>
          <a:bodyPr/>
          <a:lstStyle/>
          <a:p>
            <a:endParaRPr lang="en-US"/>
          </a:p>
        </p:txBody>
      </p:sp>
      <p:sp>
        <p:nvSpPr>
          <p:cNvPr id="6" name="Zástupný symbol pro číslo snímku 5"/>
          <p:cNvSpPr>
            <a:spLocks noGrp="1"/>
          </p:cNvSpPr>
          <p:nvPr>
            <p:ph type="sldNum" sz="quarter" idx="12"/>
          </p:nvPr>
        </p:nvSpPr>
        <p:spPr/>
        <p:txBody>
          <a:bodyPr/>
          <a:lstStyle/>
          <a:p>
            <a:fld id="{25333724-9734-45D8-98F4-49CB6251B12F}" type="slidenum">
              <a:rPr lang="en-US" smtClean="0"/>
              <a:t>‹#›</a:t>
            </a:fld>
            <a:endParaRPr lang="en-US"/>
          </a:p>
        </p:txBody>
      </p:sp>
    </p:spTree>
    <p:extLst>
      <p:ext uri="{BB962C8B-B14F-4D97-AF65-F5344CB8AC3E}">
        <p14:creationId xmlns:p14="http://schemas.microsoft.com/office/powerpoint/2010/main" val="384958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a:t>Kliknutím lze upravit styl.</a:t>
            </a:r>
          </a:p>
        </p:txBody>
      </p:sp>
      <p:sp>
        <p:nvSpPr>
          <p:cNvPr id="3" name="Zástupný symbol pro obsah 2"/>
          <p:cNvSpPr>
            <a:spLocks noGrp="1"/>
          </p:cNvSpPr>
          <p:nvPr>
            <p:ph sz="half" idx="1"/>
          </p:nvPr>
        </p:nvSpPr>
        <p:spPr>
          <a:xfrm>
            <a:off x="838200" y="1825625"/>
            <a:ext cx="5181600" cy="4351338"/>
          </a:xfrm>
        </p:spPr>
        <p:txBody>
          <a:bodyPr/>
          <a:lstStyle/>
          <a:p>
            <a:pPr lvl="0"/>
            <a:r>
              <a:rPr lang="en-US"/>
              <a:t>Upravte styly předlohy textu.</a:t>
            </a:r>
          </a:p>
          <a:p>
            <a:pPr lvl="1"/>
            <a:r>
              <a:rPr lang="en-US"/>
              <a:t>Druhá úroveň</a:t>
            </a:r>
          </a:p>
          <a:p>
            <a:pPr lvl="2"/>
            <a:r>
              <a:rPr lang="en-US"/>
              <a:t>Třetí úroveň</a:t>
            </a:r>
          </a:p>
          <a:p>
            <a:pPr lvl="3"/>
            <a:r>
              <a:rPr lang="en-US"/>
              <a:t>Čtvrtá úroveň</a:t>
            </a:r>
          </a:p>
          <a:p>
            <a:pPr lvl="4"/>
            <a:r>
              <a:rPr lang="en-US"/>
              <a:t>Pátá úroveň</a:t>
            </a:r>
          </a:p>
        </p:txBody>
      </p:sp>
      <p:sp>
        <p:nvSpPr>
          <p:cNvPr id="4" name="Zástupný symbol pro obsah 3"/>
          <p:cNvSpPr>
            <a:spLocks noGrp="1"/>
          </p:cNvSpPr>
          <p:nvPr>
            <p:ph sz="half" idx="2"/>
          </p:nvPr>
        </p:nvSpPr>
        <p:spPr>
          <a:xfrm>
            <a:off x="6172200" y="1825625"/>
            <a:ext cx="5181600" cy="4351338"/>
          </a:xfrm>
        </p:spPr>
        <p:txBody>
          <a:bodyPr/>
          <a:lstStyle/>
          <a:p>
            <a:pPr lvl="0"/>
            <a:r>
              <a:rPr lang="en-US"/>
              <a:t>Upravte styly předlohy textu.</a:t>
            </a:r>
          </a:p>
          <a:p>
            <a:pPr lvl="1"/>
            <a:r>
              <a:rPr lang="en-US"/>
              <a:t>Druhá úroveň</a:t>
            </a:r>
          </a:p>
          <a:p>
            <a:pPr lvl="2"/>
            <a:r>
              <a:rPr lang="en-US"/>
              <a:t>Třetí úroveň</a:t>
            </a:r>
          </a:p>
          <a:p>
            <a:pPr lvl="3"/>
            <a:r>
              <a:rPr lang="en-US"/>
              <a:t>Čtvrtá úroveň</a:t>
            </a:r>
          </a:p>
          <a:p>
            <a:pPr lvl="4"/>
            <a:r>
              <a:rPr lang="en-US"/>
              <a:t>Pátá úroveň</a:t>
            </a:r>
          </a:p>
        </p:txBody>
      </p:sp>
      <p:sp>
        <p:nvSpPr>
          <p:cNvPr id="5" name="Zástupný symbol pro datum 4"/>
          <p:cNvSpPr>
            <a:spLocks noGrp="1"/>
          </p:cNvSpPr>
          <p:nvPr>
            <p:ph type="dt" sz="half" idx="10"/>
          </p:nvPr>
        </p:nvSpPr>
        <p:spPr/>
        <p:txBody>
          <a:bodyPr/>
          <a:lstStyle/>
          <a:p>
            <a:fld id="{ECAF4212-6013-4BDE-BCCC-04B63E5B0D67}" type="datetimeFigureOut">
              <a:rPr lang="en-US" smtClean="0"/>
              <a:t>9/15/2026</a:t>
            </a:fld>
            <a:endParaRPr lang="en-US"/>
          </a:p>
        </p:txBody>
      </p:sp>
      <p:sp>
        <p:nvSpPr>
          <p:cNvPr id="6" name="Zástupný symbol pro zápatí 5"/>
          <p:cNvSpPr>
            <a:spLocks noGrp="1"/>
          </p:cNvSpPr>
          <p:nvPr>
            <p:ph type="ftr" sz="quarter" idx="11"/>
          </p:nvPr>
        </p:nvSpPr>
        <p:spPr/>
        <p:txBody>
          <a:bodyPr/>
          <a:lstStyle/>
          <a:p>
            <a:endParaRPr lang="en-US"/>
          </a:p>
        </p:txBody>
      </p:sp>
      <p:sp>
        <p:nvSpPr>
          <p:cNvPr id="7" name="Zástupný symbol pro číslo snímku 6"/>
          <p:cNvSpPr>
            <a:spLocks noGrp="1"/>
          </p:cNvSpPr>
          <p:nvPr>
            <p:ph type="sldNum" sz="quarter" idx="12"/>
          </p:nvPr>
        </p:nvSpPr>
        <p:spPr/>
        <p:txBody>
          <a:bodyPr/>
          <a:lstStyle/>
          <a:p>
            <a:fld id="{25333724-9734-45D8-98F4-49CB6251B12F}" type="slidenum">
              <a:rPr lang="en-US" smtClean="0"/>
              <a:t>‹#›</a:t>
            </a:fld>
            <a:endParaRPr lang="en-US"/>
          </a:p>
        </p:txBody>
      </p:sp>
    </p:spTree>
    <p:extLst>
      <p:ext uri="{BB962C8B-B14F-4D97-AF65-F5344CB8AC3E}">
        <p14:creationId xmlns:p14="http://schemas.microsoft.com/office/powerpoint/2010/main" val="399358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p:cNvSpPr>
            <a:spLocks noGrp="1"/>
          </p:cNvSpPr>
          <p:nvPr>
            <p:ph type="title"/>
          </p:nvPr>
        </p:nvSpPr>
        <p:spPr>
          <a:xfrm>
            <a:off x="839788" y="365125"/>
            <a:ext cx="10515600" cy="1325563"/>
          </a:xfrm>
        </p:spPr>
        <p:txBody>
          <a:bodyPr/>
          <a:lstStyle/>
          <a:p>
            <a:r>
              <a:rPr lang="en-US"/>
              <a:t>Kliknutím lze upravit styl.</a:t>
            </a:r>
          </a:p>
        </p:txBody>
      </p:sp>
      <p:sp>
        <p:nvSpPr>
          <p:cNvPr id="3" name="Zástupný symbol pro tex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Upravte styly předlohy textu.</a:t>
            </a:r>
          </a:p>
        </p:txBody>
      </p:sp>
      <p:sp>
        <p:nvSpPr>
          <p:cNvPr id="4" name="Zástupný symbol pro obsah 3"/>
          <p:cNvSpPr>
            <a:spLocks noGrp="1"/>
          </p:cNvSpPr>
          <p:nvPr>
            <p:ph sz="half" idx="2"/>
          </p:nvPr>
        </p:nvSpPr>
        <p:spPr>
          <a:xfrm>
            <a:off x="839788" y="2505075"/>
            <a:ext cx="5157787" cy="3684588"/>
          </a:xfrm>
        </p:spPr>
        <p:txBody>
          <a:bodyPr/>
          <a:lstStyle/>
          <a:p>
            <a:pPr lvl="0"/>
            <a:r>
              <a:rPr lang="en-US"/>
              <a:t>Upravte styly předlohy textu.</a:t>
            </a:r>
          </a:p>
          <a:p>
            <a:pPr lvl="1"/>
            <a:r>
              <a:rPr lang="en-US"/>
              <a:t>Druhá úroveň</a:t>
            </a:r>
          </a:p>
          <a:p>
            <a:pPr lvl="2"/>
            <a:r>
              <a:rPr lang="en-US"/>
              <a:t>Třetí úroveň</a:t>
            </a:r>
          </a:p>
          <a:p>
            <a:pPr lvl="3"/>
            <a:r>
              <a:rPr lang="en-US"/>
              <a:t>Čtvrtá úroveň</a:t>
            </a:r>
          </a:p>
          <a:p>
            <a:pPr lvl="4"/>
            <a:r>
              <a:rPr lang="en-US"/>
              <a:t>Pátá úroveň</a:t>
            </a:r>
          </a:p>
        </p:txBody>
      </p:sp>
      <p:sp>
        <p:nvSpPr>
          <p:cNvPr id="5" name="Zástupný symbol pro tex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Upravte styly předlohy textu.</a:t>
            </a:r>
          </a:p>
        </p:txBody>
      </p:sp>
      <p:sp>
        <p:nvSpPr>
          <p:cNvPr id="6" name="Zástupný symbol pro obsah 5"/>
          <p:cNvSpPr>
            <a:spLocks noGrp="1"/>
          </p:cNvSpPr>
          <p:nvPr>
            <p:ph sz="quarter" idx="4"/>
          </p:nvPr>
        </p:nvSpPr>
        <p:spPr>
          <a:xfrm>
            <a:off x="6172200" y="2505075"/>
            <a:ext cx="5183188" cy="3684588"/>
          </a:xfrm>
        </p:spPr>
        <p:txBody>
          <a:bodyPr/>
          <a:lstStyle/>
          <a:p>
            <a:pPr lvl="0"/>
            <a:r>
              <a:rPr lang="en-US"/>
              <a:t>Upravte styly předlohy textu.</a:t>
            </a:r>
          </a:p>
          <a:p>
            <a:pPr lvl="1"/>
            <a:r>
              <a:rPr lang="en-US"/>
              <a:t>Druhá úroveň</a:t>
            </a:r>
          </a:p>
          <a:p>
            <a:pPr lvl="2"/>
            <a:r>
              <a:rPr lang="en-US"/>
              <a:t>Třetí úroveň</a:t>
            </a:r>
          </a:p>
          <a:p>
            <a:pPr lvl="3"/>
            <a:r>
              <a:rPr lang="en-US"/>
              <a:t>Čtvrtá úroveň</a:t>
            </a:r>
          </a:p>
          <a:p>
            <a:pPr lvl="4"/>
            <a:r>
              <a:rPr lang="en-US"/>
              <a:t>Pátá úroveň</a:t>
            </a:r>
          </a:p>
        </p:txBody>
      </p:sp>
      <p:sp>
        <p:nvSpPr>
          <p:cNvPr id="7" name="Zástupný symbol pro datum 6"/>
          <p:cNvSpPr>
            <a:spLocks noGrp="1"/>
          </p:cNvSpPr>
          <p:nvPr>
            <p:ph type="dt" sz="half" idx="10"/>
          </p:nvPr>
        </p:nvSpPr>
        <p:spPr/>
        <p:txBody>
          <a:bodyPr/>
          <a:lstStyle/>
          <a:p>
            <a:fld id="{ECAF4212-6013-4BDE-BCCC-04B63E5B0D67}" type="datetimeFigureOut">
              <a:rPr lang="en-US" smtClean="0"/>
              <a:t>9/15/2026</a:t>
            </a:fld>
            <a:endParaRPr lang="en-US"/>
          </a:p>
        </p:txBody>
      </p:sp>
      <p:sp>
        <p:nvSpPr>
          <p:cNvPr id="8" name="Zástupný symbol pro zápatí 7"/>
          <p:cNvSpPr>
            <a:spLocks noGrp="1"/>
          </p:cNvSpPr>
          <p:nvPr>
            <p:ph type="ftr" sz="quarter" idx="11"/>
          </p:nvPr>
        </p:nvSpPr>
        <p:spPr/>
        <p:txBody>
          <a:bodyPr/>
          <a:lstStyle/>
          <a:p>
            <a:endParaRPr lang="en-US"/>
          </a:p>
        </p:txBody>
      </p:sp>
      <p:sp>
        <p:nvSpPr>
          <p:cNvPr id="9" name="Zástupný symbol pro číslo snímku 8"/>
          <p:cNvSpPr>
            <a:spLocks noGrp="1"/>
          </p:cNvSpPr>
          <p:nvPr>
            <p:ph type="sldNum" sz="quarter" idx="12"/>
          </p:nvPr>
        </p:nvSpPr>
        <p:spPr/>
        <p:txBody>
          <a:bodyPr/>
          <a:lstStyle/>
          <a:p>
            <a:fld id="{25333724-9734-45D8-98F4-49CB6251B12F}" type="slidenum">
              <a:rPr lang="en-US" smtClean="0"/>
              <a:t>‹#›</a:t>
            </a:fld>
            <a:endParaRPr lang="en-US"/>
          </a:p>
        </p:txBody>
      </p:sp>
    </p:spTree>
    <p:extLst>
      <p:ext uri="{BB962C8B-B14F-4D97-AF65-F5344CB8AC3E}">
        <p14:creationId xmlns:p14="http://schemas.microsoft.com/office/powerpoint/2010/main" val="1538501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a:t>Kliknutím lze upravit styl.</a:t>
            </a:r>
          </a:p>
        </p:txBody>
      </p:sp>
      <p:sp>
        <p:nvSpPr>
          <p:cNvPr id="3" name="Zástupný symbol pro datum 2"/>
          <p:cNvSpPr>
            <a:spLocks noGrp="1"/>
          </p:cNvSpPr>
          <p:nvPr>
            <p:ph type="dt" sz="half" idx="10"/>
          </p:nvPr>
        </p:nvSpPr>
        <p:spPr/>
        <p:txBody>
          <a:bodyPr/>
          <a:lstStyle/>
          <a:p>
            <a:fld id="{ECAF4212-6013-4BDE-BCCC-04B63E5B0D67}" type="datetimeFigureOut">
              <a:rPr lang="en-US" smtClean="0"/>
              <a:t>9/15/2026</a:t>
            </a:fld>
            <a:endParaRPr lang="en-US"/>
          </a:p>
        </p:txBody>
      </p:sp>
      <p:sp>
        <p:nvSpPr>
          <p:cNvPr id="4" name="Zástupný symbol pro zápatí 3"/>
          <p:cNvSpPr>
            <a:spLocks noGrp="1"/>
          </p:cNvSpPr>
          <p:nvPr>
            <p:ph type="ftr" sz="quarter" idx="11"/>
          </p:nvPr>
        </p:nvSpPr>
        <p:spPr/>
        <p:txBody>
          <a:bodyPr/>
          <a:lstStyle/>
          <a:p>
            <a:endParaRPr lang="en-US"/>
          </a:p>
        </p:txBody>
      </p:sp>
      <p:sp>
        <p:nvSpPr>
          <p:cNvPr id="5" name="Zástupný symbol pro číslo snímku 4"/>
          <p:cNvSpPr>
            <a:spLocks noGrp="1"/>
          </p:cNvSpPr>
          <p:nvPr>
            <p:ph type="sldNum" sz="quarter" idx="12"/>
          </p:nvPr>
        </p:nvSpPr>
        <p:spPr/>
        <p:txBody>
          <a:bodyPr/>
          <a:lstStyle/>
          <a:p>
            <a:fld id="{25333724-9734-45D8-98F4-49CB6251B12F}" type="slidenum">
              <a:rPr lang="en-US" smtClean="0"/>
              <a:t>‹#›</a:t>
            </a:fld>
            <a:endParaRPr lang="en-US"/>
          </a:p>
        </p:txBody>
      </p:sp>
    </p:spTree>
    <p:extLst>
      <p:ext uri="{BB962C8B-B14F-4D97-AF65-F5344CB8AC3E}">
        <p14:creationId xmlns:p14="http://schemas.microsoft.com/office/powerpoint/2010/main" val="2612964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p:cNvSpPr>
            <a:spLocks noGrp="1"/>
          </p:cNvSpPr>
          <p:nvPr>
            <p:ph type="dt" sz="half" idx="10"/>
          </p:nvPr>
        </p:nvSpPr>
        <p:spPr/>
        <p:txBody>
          <a:bodyPr/>
          <a:lstStyle/>
          <a:p>
            <a:fld id="{ECAF4212-6013-4BDE-BCCC-04B63E5B0D67}" type="datetimeFigureOut">
              <a:rPr lang="en-US" smtClean="0"/>
              <a:t>9/15/2026</a:t>
            </a:fld>
            <a:endParaRPr lang="en-US"/>
          </a:p>
        </p:txBody>
      </p:sp>
      <p:sp>
        <p:nvSpPr>
          <p:cNvPr id="3" name="Zástupný symbol pro zápatí 2"/>
          <p:cNvSpPr>
            <a:spLocks noGrp="1"/>
          </p:cNvSpPr>
          <p:nvPr>
            <p:ph type="ftr" sz="quarter" idx="11"/>
          </p:nvPr>
        </p:nvSpPr>
        <p:spPr/>
        <p:txBody>
          <a:bodyPr/>
          <a:lstStyle/>
          <a:p>
            <a:endParaRPr lang="en-US"/>
          </a:p>
        </p:txBody>
      </p:sp>
      <p:sp>
        <p:nvSpPr>
          <p:cNvPr id="4" name="Zástupný symbol pro číslo snímku 3"/>
          <p:cNvSpPr>
            <a:spLocks noGrp="1"/>
          </p:cNvSpPr>
          <p:nvPr>
            <p:ph type="sldNum" sz="quarter" idx="12"/>
          </p:nvPr>
        </p:nvSpPr>
        <p:spPr/>
        <p:txBody>
          <a:bodyPr/>
          <a:lstStyle/>
          <a:p>
            <a:fld id="{25333724-9734-45D8-98F4-49CB6251B12F}" type="slidenum">
              <a:rPr lang="en-US" smtClean="0"/>
              <a:t>‹#›</a:t>
            </a:fld>
            <a:endParaRPr lang="en-US"/>
          </a:p>
        </p:txBody>
      </p:sp>
    </p:spTree>
    <p:extLst>
      <p:ext uri="{BB962C8B-B14F-4D97-AF65-F5344CB8AC3E}">
        <p14:creationId xmlns:p14="http://schemas.microsoft.com/office/powerpoint/2010/main" val="1214132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839788" y="457200"/>
            <a:ext cx="3932237" cy="1600200"/>
          </a:xfrm>
        </p:spPr>
        <p:txBody>
          <a:bodyPr anchor="b"/>
          <a:lstStyle>
            <a:lvl1pPr>
              <a:defRPr sz="3200"/>
            </a:lvl1pPr>
          </a:lstStyle>
          <a:p>
            <a:r>
              <a:rPr lang="en-US"/>
              <a:t>Kliknutím lze upravit styl.</a:t>
            </a:r>
          </a:p>
        </p:txBody>
      </p:sp>
      <p:sp>
        <p:nvSpPr>
          <p:cNvPr id="3" name="Zástupný symbol pro obsah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Upravte styly předlohy textu.</a:t>
            </a:r>
          </a:p>
          <a:p>
            <a:pPr lvl="1"/>
            <a:r>
              <a:rPr lang="en-US"/>
              <a:t>Druhá úroveň</a:t>
            </a:r>
          </a:p>
          <a:p>
            <a:pPr lvl="2"/>
            <a:r>
              <a:rPr lang="en-US"/>
              <a:t>Třetí úroveň</a:t>
            </a:r>
          </a:p>
          <a:p>
            <a:pPr lvl="3"/>
            <a:r>
              <a:rPr lang="en-US"/>
              <a:t>Čtvrtá úroveň</a:t>
            </a:r>
          </a:p>
          <a:p>
            <a:pPr lvl="4"/>
            <a:r>
              <a:rPr lang="en-US"/>
              <a:t>Pátá úroveň</a:t>
            </a:r>
          </a:p>
        </p:txBody>
      </p:sp>
      <p:sp>
        <p:nvSpPr>
          <p:cNvPr id="4" name="Zástupný symbol pro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Upravte styly předlohy textu.</a:t>
            </a:r>
          </a:p>
        </p:txBody>
      </p:sp>
      <p:sp>
        <p:nvSpPr>
          <p:cNvPr id="5" name="Zástupný symbol pro datum 4"/>
          <p:cNvSpPr>
            <a:spLocks noGrp="1"/>
          </p:cNvSpPr>
          <p:nvPr>
            <p:ph type="dt" sz="half" idx="10"/>
          </p:nvPr>
        </p:nvSpPr>
        <p:spPr/>
        <p:txBody>
          <a:bodyPr/>
          <a:lstStyle/>
          <a:p>
            <a:fld id="{ECAF4212-6013-4BDE-BCCC-04B63E5B0D67}" type="datetimeFigureOut">
              <a:rPr lang="en-US" smtClean="0"/>
              <a:t>9/15/2026</a:t>
            </a:fld>
            <a:endParaRPr lang="en-US"/>
          </a:p>
        </p:txBody>
      </p:sp>
      <p:sp>
        <p:nvSpPr>
          <p:cNvPr id="6" name="Zástupný symbol pro zápatí 5"/>
          <p:cNvSpPr>
            <a:spLocks noGrp="1"/>
          </p:cNvSpPr>
          <p:nvPr>
            <p:ph type="ftr" sz="quarter" idx="11"/>
          </p:nvPr>
        </p:nvSpPr>
        <p:spPr/>
        <p:txBody>
          <a:bodyPr/>
          <a:lstStyle/>
          <a:p>
            <a:endParaRPr lang="en-US"/>
          </a:p>
        </p:txBody>
      </p:sp>
      <p:sp>
        <p:nvSpPr>
          <p:cNvPr id="7" name="Zástupný symbol pro číslo snímku 6"/>
          <p:cNvSpPr>
            <a:spLocks noGrp="1"/>
          </p:cNvSpPr>
          <p:nvPr>
            <p:ph type="sldNum" sz="quarter" idx="12"/>
          </p:nvPr>
        </p:nvSpPr>
        <p:spPr/>
        <p:txBody>
          <a:bodyPr/>
          <a:lstStyle/>
          <a:p>
            <a:fld id="{25333724-9734-45D8-98F4-49CB6251B12F}" type="slidenum">
              <a:rPr lang="en-US" smtClean="0"/>
              <a:t>‹#›</a:t>
            </a:fld>
            <a:endParaRPr lang="en-US"/>
          </a:p>
        </p:txBody>
      </p:sp>
    </p:spTree>
    <p:extLst>
      <p:ext uri="{BB962C8B-B14F-4D97-AF65-F5344CB8AC3E}">
        <p14:creationId xmlns:p14="http://schemas.microsoft.com/office/powerpoint/2010/main" val="1946458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839788" y="457200"/>
            <a:ext cx="3932237" cy="1600200"/>
          </a:xfrm>
        </p:spPr>
        <p:txBody>
          <a:bodyPr anchor="b"/>
          <a:lstStyle>
            <a:lvl1pPr>
              <a:defRPr sz="3200"/>
            </a:lvl1pPr>
          </a:lstStyle>
          <a:p>
            <a:r>
              <a:rPr lang="en-US"/>
              <a:t>Kliknutím lze upravit styl.</a:t>
            </a:r>
          </a:p>
        </p:txBody>
      </p:sp>
      <p:sp>
        <p:nvSpPr>
          <p:cNvPr id="3" name="Zástupný symbol pro obrázek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Zástupný symbol pro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Upravte styly předlohy textu.</a:t>
            </a:r>
          </a:p>
        </p:txBody>
      </p:sp>
      <p:sp>
        <p:nvSpPr>
          <p:cNvPr id="5" name="Zástupný symbol pro datum 4"/>
          <p:cNvSpPr>
            <a:spLocks noGrp="1"/>
          </p:cNvSpPr>
          <p:nvPr>
            <p:ph type="dt" sz="half" idx="10"/>
          </p:nvPr>
        </p:nvSpPr>
        <p:spPr/>
        <p:txBody>
          <a:bodyPr/>
          <a:lstStyle/>
          <a:p>
            <a:fld id="{ECAF4212-6013-4BDE-BCCC-04B63E5B0D67}" type="datetimeFigureOut">
              <a:rPr lang="en-US" smtClean="0"/>
              <a:t>9/15/2026</a:t>
            </a:fld>
            <a:endParaRPr lang="en-US"/>
          </a:p>
        </p:txBody>
      </p:sp>
      <p:sp>
        <p:nvSpPr>
          <p:cNvPr id="6" name="Zástupný symbol pro zápatí 5"/>
          <p:cNvSpPr>
            <a:spLocks noGrp="1"/>
          </p:cNvSpPr>
          <p:nvPr>
            <p:ph type="ftr" sz="quarter" idx="11"/>
          </p:nvPr>
        </p:nvSpPr>
        <p:spPr/>
        <p:txBody>
          <a:bodyPr/>
          <a:lstStyle/>
          <a:p>
            <a:endParaRPr lang="en-US"/>
          </a:p>
        </p:txBody>
      </p:sp>
      <p:sp>
        <p:nvSpPr>
          <p:cNvPr id="7" name="Zástupný symbol pro číslo snímku 6"/>
          <p:cNvSpPr>
            <a:spLocks noGrp="1"/>
          </p:cNvSpPr>
          <p:nvPr>
            <p:ph type="sldNum" sz="quarter" idx="12"/>
          </p:nvPr>
        </p:nvSpPr>
        <p:spPr/>
        <p:txBody>
          <a:bodyPr/>
          <a:lstStyle/>
          <a:p>
            <a:fld id="{25333724-9734-45D8-98F4-49CB6251B12F}" type="slidenum">
              <a:rPr lang="en-US" smtClean="0"/>
              <a:t>‹#›</a:t>
            </a:fld>
            <a:endParaRPr lang="en-US"/>
          </a:p>
        </p:txBody>
      </p:sp>
    </p:spTree>
    <p:extLst>
      <p:ext uri="{BB962C8B-B14F-4D97-AF65-F5344CB8AC3E}">
        <p14:creationId xmlns:p14="http://schemas.microsoft.com/office/powerpoint/2010/main" val="621055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a:t>Kliknutím lze upravit styl.</a:t>
            </a:r>
          </a:p>
        </p:txBody>
      </p:sp>
      <p:sp>
        <p:nvSpPr>
          <p:cNvPr id="3" name="Zástupný symbol pro svislý text 2"/>
          <p:cNvSpPr>
            <a:spLocks noGrp="1"/>
          </p:cNvSpPr>
          <p:nvPr>
            <p:ph type="body" orient="vert" idx="1"/>
          </p:nvPr>
        </p:nvSpPr>
        <p:spPr/>
        <p:txBody>
          <a:bodyPr vert="eaVert"/>
          <a:lstStyle/>
          <a:p>
            <a:pPr lvl="0"/>
            <a:r>
              <a:rPr lang="en-US"/>
              <a:t>Upravte styly předlohy textu.</a:t>
            </a:r>
          </a:p>
          <a:p>
            <a:pPr lvl="1"/>
            <a:r>
              <a:rPr lang="en-US"/>
              <a:t>Druhá úroveň</a:t>
            </a:r>
          </a:p>
          <a:p>
            <a:pPr lvl="2"/>
            <a:r>
              <a:rPr lang="en-US"/>
              <a:t>Třetí úroveň</a:t>
            </a:r>
          </a:p>
          <a:p>
            <a:pPr lvl="3"/>
            <a:r>
              <a:rPr lang="en-US"/>
              <a:t>Čtvrtá úroveň</a:t>
            </a:r>
          </a:p>
          <a:p>
            <a:pPr lvl="4"/>
            <a:r>
              <a:rPr lang="en-US"/>
              <a:t>Pátá úroveň</a:t>
            </a:r>
          </a:p>
        </p:txBody>
      </p:sp>
      <p:sp>
        <p:nvSpPr>
          <p:cNvPr id="4" name="Zástupný symbol pro datum 3"/>
          <p:cNvSpPr>
            <a:spLocks noGrp="1"/>
          </p:cNvSpPr>
          <p:nvPr>
            <p:ph type="dt" sz="half" idx="10"/>
          </p:nvPr>
        </p:nvSpPr>
        <p:spPr/>
        <p:txBody>
          <a:bodyPr/>
          <a:lstStyle/>
          <a:p>
            <a:fld id="{ECAF4212-6013-4BDE-BCCC-04B63E5B0D67}" type="datetimeFigureOut">
              <a:rPr lang="en-US" smtClean="0"/>
              <a:t>9/15/2026</a:t>
            </a:fld>
            <a:endParaRPr lang="en-US"/>
          </a:p>
        </p:txBody>
      </p:sp>
      <p:sp>
        <p:nvSpPr>
          <p:cNvPr id="5" name="Zástupný symbol pro zápatí 4"/>
          <p:cNvSpPr>
            <a:spLocks noGrp="1"/>
          </p:cNvSpPr>
          <p:nvPr>
            <p:ph type="ftr" sz="quarter" idx="11"/>
          </p:nvPr>
        </p:nvSpPr>
        <p:spPr/>
        <p:txBody>
          <a:bodyPr/>
          <a:lstStyle/>
          <a:p>
            <a:endParaRPr lang="en-US"/>
          </a:p>
        </p:txBody>
      </p:sp>
      <p:sp>
        <p:nvSpPr>
          <p:cNvPr id="6" name="Zástupný symbol pro číslo snímku 5"/>
          <p:cNvSpPr>
            <a:spLocks noGrp="1"/>
          </p:cNvSpPr>
          <p:nvPr>
            <p:ph type="sldNum" sz="quarter" idx="12"/>
          </p:nvPr>
        </p:nvSpPr>
        <p:spPr/>
        <p:txBody>
          <a:bodyPr/>
          <a:lstStyle/>
          <a:p>
            <a:fld id="{25333724-9734-45D8-98F4-49CB6251B12F}" type="slidenum">
              <a:rPr lang="en-US" smtClean="0"/>
              <a:t>‹#›</a:t>
            </a:fld>
            <a:endParaRPr lang="en-US"/>
          </a:p>
        </p:txBody>
      </p:sp>
    </p:spTree>
    <p:extLst>
      <p:ext uri="{BB962C8B-B14F-4D97-AF65-F5344CB8AC3E}">
        <p14:creationId xmlns:p14="http://schemas.microsoft.com/office/powerpoint/2010/main" val="2045586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p:cNvSpPr>
            <a:spLocks noGrp="1"/>
          </p:cNvSpPr>
          <p:nvPr>
            <p:ph type="title" orient="vert"/>
          </p:nvPr>
        </p:nvSpPr>
        <p:spPr>
          <a:xfrm>
            <a:off x="8724900" y="365125"/>
            <a:ext cx="2628900" cy="5811838"/>
          </a:xfrm>
        </p:spPr>
        <p:txBody>
          <a:bodyPr vert="eaVert"/>
          <a:lstStyle/>
          <a:p>
            <a:r>
              <a:rPr lang="en-US"/>
              <a:t>Kliknutím lze upravit styl.</a:t>
            </a:r>
          </a:p>
        </p:txBody>
      </p:sp>
      <p:sp>
        <p:nvSpPr>
          <p:cNvPr id="3" name="Zástupný symbol pro svislý text 2"/>
          <p:cNvSpPr>
            <a:spLocks noGrp="1"/>
          </p:cNvSpPr>
          <p:nvPr>
            <p:ph type="body" orient="vert" idx="1"/>
          </p:nvPr>
        </p:nvSpPr>
        <p:spPr>
          <a:xfrm>
            <a:off x="838200" y="365125"/>
            <a:ext cx="7734300" cy="5811838"/>
          </a:xfrm>
        </p:spPr>
        <p:txBody>
          <a:bodyPr vert="eaVert"/>
          <a:lstStyle/>
          <a:p>
            <a:pPr lvl="0"/>
            <a:r>
              <a:rPr lang="en-US"/>
              <a:t>Upravte styly předlohy textu.</a:t>
            </a:r>
          </a:p>
          <a:p>
            <a:pPr lvl="1"/>
            <a:r>
              <a:rPr lang="en-US"/>
              <a:t>Druhá úroveň</a:t>
            </a:r>
          </a:p>
          <a:p>
            <a:pPr lvl="2"/>
            <a:r>
              <a:rPr lang="en-US"/>
              <a:t>Třetí úroveň</a:t>
            </a:r>
          </a:p>
          <a:p>
            <a:pPr lvl="3"/>
            <a:r>
              <a:rPr lang="en-US"/>
              <a:t>Čtvrtá úroveň</a:t>
            </a:r>
          </a:p>
          <a:p>
            <a:pPr lvl="4"/>
            <a:r>
              <a:rPr lang="en-US"/>
              <a:t>Pátá úroveň</a:t>
            </a:r>
          </a:p>
        </p:txBody>
      </p:sp>
      <p:sp>
        <p:nvSpPr>
          <p:cNvPr id="4" name="Zástupný symbol pro datum 3"/>
          <p:cNvSpPr>
            <a:spLocks noGrp="1"/>
          </p:cNvSpPr>
          <p:nvPr>
            <p:ph type="dt" sz="half" idx="10"/>
          </p:nvPr>
        </p:nvSpPr>
        <p:spPr/>
        <p:txBody>
          <a:bodyPr/>
          <a:lstStyle/>
          <a:p>
            <a:fld id="{ECAF4212-6013-4BDE-BCCC-04B63E5B0D67}" type="datetimeFigureOut">
              <a:rPr lang="en-US" smtClean="0"/>
              <a:t>9/15/2026</a:t>
            </a:fld>
            <a:endParaRPr lang="en-US"/>
          </a:p>
        </p:txBody>
      </p:sp>
      <p:sp>
        <p:nvSpPr>
          <p:cNvPr id="5" name="Zástupný symbol pro zápatí 4"/>
          <p:cNvSpPr>
            <a:spLocks noGrp="1"/>
          </p:cNvSpPr>
          <p:nvPr>
            <p:ph type="ftr" sz="quarter" idx="11"/>
          </p:nvPr>
        </p:nvSpPr>
        <p:spPr/>
        <p:txBody>
          <a:bodyPr/>
          <a:lstStyle/>
          <a:p>
            <a:endParaRPr lang="en-US"/>
          </a:p>
        </p:txBody>
      </p:sp>
      <p:sp>
        <p:nvSpPr>
          <p:cNvPr id="6" name="Zástupný symbol pro číslo snímku 5"/>
          <p:cNvSpPr>
            <a:spLocks noGrp="1"/>
          </p:cNvSpPr>
          <p:nvPr>
            <p:ph type="sldNum" sz="quarter" idx="12"/>
          </p:nvPr>
        </p:nvSpPr>
        <p:spPr/>
        <p:txBody>
          <a:bodyPr/>
          <a:lstStyle/>
          <a:p>
            <a:fld id="{25333724-9734-45D8-98F4-49CB6251B12F}" type="slidenum">
              <a:rPr lang="en-US" smtClean="0"/>
              <a:t>‹#›</a:t>
            </a:fld>
            <a:endParaRPr lang="en-US"/>
          </a:p>
        </p:txBody>
      </p:sp>
    </p:spTree>
    <p:extLst>
      <p:ext uri="{BB962C8B-B14F-4D97-AF65-F5344CB8AC3E}">
        <p14:creationId xmlns:p14="http://schemas.microsoft.com/office/powerpoint/2010/main" val="3209127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nadpis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Kliknutím lze upravit styl.</a:t>
            </a:r>
          </a:p>
        </p:txBody>
      </p:sp>
      <p:sp>
        <p:nvSpPr>
          <p:cNvPr id="3" name="Zástupný symbol pro tex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Upravte styly předlohy textu.</a:t>
            </a:r>
          </a:p>
          <a:p>
            <a:pPr lvl="1"/>
            <a:r>
              <a:rPr lang="en-US"/>
              <a:t>Druhá úroveň</a:t>
            </a:r>
          </a:p>
          <a:p>
            <a:pPr lvl="2"/>
            <a:r>
              <a:rPr lang="en-US"/>
              <a:t>Třetí úroveň</a:t>
            </a:r>
          </a:p>
          <a:p>
            <a:pPr lvl="3"/>
            <a:r>
              <a:rPr lang="en-US"/>
              <a:t>Čtvrtá úroveň</a:t>
            </a:r>
          </a:p>
          <a:p>
            <a:pPr lvl="4"/>
            <a:r>
              <a:rPr lang="en-US"/>
              <a:t>Pátá úroveň</a:t>
            </a:r>
          </a:p>
        </p:txBody>
      </p:sp>
      <p:sp>
        <p:nvSpPr>
          <p:cNvPr id="4" name="Zástupný symbol pro datum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AF4212-6013-4BDE-BCCC-04B63E5B0D67}" type="datetimeFigureOut">
              <a:rPr lang="en-US" smtClean="0"/>
              <a:t>9/15/2026</a:t>
            </a:fld>
            <a:endParaRPr lang="en-US"/>
          </a:p>
        </p:txBody>
      </p:sp>
      <p:sp>
        <p:nvSpPr>
          <p:cNvPr id="5" name="Zástupný symbol pro zápatí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Zástupný symbol pro číslo snímk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333724-9734-45D8-98F4-49CB6251B12F}" type="slidenum">
              <a:rPr lang="en-US" smtClean="0"/>
              <a:t>‹#›</a:t>
            </a:fld>
            <a:endParaRPr lang="en-US"/>
          </a:p>
        </p:txBody>
      </p:sp>
    </p:spTree>
    <p:extLst>
      <p:ext uri="{BB962C8B-B14F-4D97-AF65-F5344CB8AC3E}">
        <p14:creationId xmlns:p14="http://schemas.microsoft.com/office/powerpoint/2010/main" val="1698094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its.umich.edu/communication/collaboration/github" TargetMode="External"/><Relationship Id="rId2" Type="http://schemas.openxmlformats.org/officeDocument/2006/relationships/hyperlink" Target="https://github.com/beards-lab" TargetMode="Externa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git-scm.com/downloads/guis" TargetMode="External"/><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hyperlink" Target="https://desktop.github.com/" TargetMode="External"/><Relationship Id="rId5" Type="http://schemas.openxmlformats.org/officeDocument/2006/relationships/hyperlink" Target="https://tortoisegit.org/" TargetMode="External"/><Relationship Id="rId4" Type="http://schemas.openxmlformats.org/officeDocument/2006/relationships/hyperlink" Target="https://git-scm.com/"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2.xml"/><Relationship Id="rId4" Type="http://schemas.openxmlformats.org/officeDocument/2006/relationships/image" Target="../media/image47.jpeg"/></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49.jpeg"/></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s://zenodo.org/"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hyperlink" Target="https://git-scm.com/book/en/v2" TargetMode="External"/><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5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dpis 3"/>
          <p:cNvSpPr>
            <a:spLocks noGrp="1"/>
          </p:cNvSpPr>
          <p:nvPr>
            <p:ph type="ctrTitle"/>
          </p:nvPr>
        </p:nvSpPr>
        <p:spPr/>
        <p:txBody>
          <a:bodyPr/>
          <a:lstStyle/>
          <a:p>
            <a:r>
              <a:rPr lang="en-US" dirty="0"/>
              <a:t>Use  </a:t>
            </a:r>
            <a:r>
              <a:rPr lang="en-US" dirty="0" err="1"/>
              <a:t>Git</a:t>
            </a:r>
            <a:endParaRPr lang="en-US" dirty="0"/>
          </a:p>
        </p:txBody>
      </p:sp>
      <p:sp>
        <p:nvSpPr>
          <p:cNvPr id="5" name="Podnadpis 4"/>
          <p:cNvSpPr>
            <a:spLocks noGrp="1"/>
          </p:cNvSpPr>
          <p:nvPr>
            <p:ph type="subTitle" idx="1"/>
          </p:nvPr>
        </p:nvSpPr>
        <p:spPr/>
        <p:txBody>
          <a:bodyPr/>
          <a:lstStyle/>
          <a:p>
            <a:r>
              <a:rPr lang="en-US" dirty="0"/>
              <a:t>Or any other v</a:t>
            </a:r>
            <a:r>
              <a:rPr lang="en-US" dirty="0" err="1"/>
              <a:t>ersion</a:t>
            </a:r>
            <a:r>
              <a:rPr lang="en-US" dirty="0"/>
              <a:t> </a:t>
            </a:r>
            <a:r>
              <a:rPr lang="en-US" dirty="0" err="1"/>
              <a:t>control</a:t>
            </a:r>
            <a:r>
              <a:rPr lang="en-US" dirty="0"/>
              <a:t> </a:t>
            </a:r>
            <a:r>
              <a:rPr lang="en-US" dirty="0" err="1"/>
              <a:t>system</a:t>
            </a:r>
            <a:endParaRPr lang="en-US" dirty="0"/>
          </a:p>
        </p:txBody>
      </p:sp>
    </p:spTree>
    <p:extLst>
      <p:ext uri="{BB962C8B-B14F-4D97-AF65-F5344CB8AC3E}">
        <p14:creationId xmlns:p14="http://schemas.microsoft.com/office/powerpoint/2010/main" val="2148720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Project organization</a:t>
            </a:r>
          </a:p>
        </p:txBody>
      </p:sp>
      <p:pic>
        <p:nvPicPr>
          <p:cNvPr id="4" name="Obrázek 3" descr="A computer screen displaying a file explorer window with the folder path 'UMICH' open. Inside the folder, there are six visible yellow folders named 'BestVersion Ever,' 'Changes,' 'FinalSubmission,' 'FinalTest,' and 'Revi.' On the left sidebar, there are various locations including Desktop, Creative Cloud Files, OneDrive, and a folder named 'flip.' To the right, there is a panel showing commit history with dates and descriptions of recent changes, including updates to README files and model creation."/>
          <p:cNvPicPr>
            <a:picLocks noChangeAspect="1"/>
          </p:cNvPicPr>
          <p:nvPr/>
        </p:nvPicPr>
        <p:blipFill>
          <a:blip r:embed="rId2"/>
          <a:stretch>
            <a:fillRect/>
          </a:stretch>
        </p:blipFill>
        <p:spPr>
          <a:xfrm>
            <a:off x="222265" y="1690688"/>
            <a:ext cx="7972425" cy="4305300"/>
          </a:xfrm>
          <a:prstGeom prst="rect">
            <a:avLst/>
          </a:prstGeom>
        </p:spPr>
      </p:pic>
    </p:spTree>
    <p:extLst>
      <p:ext uri="{BB962C8B-B14F-4D97-AF65-F5344CB8AC3E}">
        <p14:creationId xmlns:p14="http://schemas.microsoft.com/office/powerpoint/2010/main" val="2946891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91FA3-E36F-E72F-1E7A-2A7908BE2249}"/>
              </a:ext>
            </a:extLst>
          </p:cNvPr>
          <p:cNvSpPr>
            <a:spLocks noGrp="1"/>
          </p:cNvSpPr>
          <p:nvPr>
            <p:ph type="title"/>
          </p:nvPr>
        </p:nvSpPr>
        <p:spPr/>
        <p:txBody>
          <a:bodyPr/>
          <a:lstStyle/>
          <a:p>
            <a:r>
              <a:rPr lang="en-US" dirty="0"/>
              <a:t>Oh snap!</a:t>
            </a:r>
          </a:p>
        </p:txBody>
      </p:sp>
      <p:sp>
        <p:nvSpPr>
          <p:cNvPr id="3" name="Content Placeholder 2">
            <a:extLst>
              <a:ext uri="{FF2B5EF4-FFF2-40B4-BE49-F238E27FC236}">
                <a16:creationId xmlns:a16="http://schemas.microsoft.com/office/drawing/2014/main" id="{FB17BE69-706B-9FFE-891D-DC5DC7B8B4FA}"/>
              </a:ext>
            </a:extLst>
          </p:cNvPr>
          <p:cNvSpPr>
            <a:spLocks noGrp="1"/>
          </p:cNvSpPr>
          <p:nvPr>
            <p:ph idx="1"/>
          </p:nvPr>
        </p:nvSpPr>
        <p:spPr/>
        <p:txBody>
          <a:bodyPr/>
          <a:lstStyle/>
          <a:p>
            <a:r>
              <a:rPr lang="en-US" dirty="0"/>
              <a:t>Made a big oops?</a:t>
            </a:r>
          </a:p>
          <a:p>
            <a:r>
              <a:rPr lang="en-US" dirty="0"/>
              <a:t>Overwrote an important file?</a:t>
            </a:r>
          </a:p>
          <a:p>
            <a:endParaRPr lang="en-US" dirty="0"/>
          </a:p>
          <a:p>
            <a:r>
              <a:rPr lang="en-US" dirty="0"/>
              <a:t>The project JUST does not run?</a:t>
            </a:r>
          </a:p>
          <a:p>
            <a:endParaRPr lang="en-US" dirty="0"/>
          </a:p>
        </p:txBody>
      </p:sp>
      <p:pic>
        <p:nvPicPr>
          <p:cNvPr id="1026" name="Picture 2" descr="A video thumbnail: a woman's face filling the frame with wide, alarmed eyes, captioned 'Oops! I made a big mistake! What should I do?'">
            <a:extLst>
              <a:ext uri="{FF2B5EF4-FFF2-40B4-BE49-F238E27FC236}">
                <a16:creationId xmlns:a16="http://schemas.microsoft.com/office/drawing/2014/main" id="{8D30C2A0-567C-9AC5-AE1E-30FC2BF083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6300" y="1825625"/>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screenshot of a tweet reading: 'I wish my life was a #github #repository where I could just roll back to my last stable version.'">
            <a:extLst>
              <a:ext uri="{FF2B5EF4-FFF2-40B4-BE49-F238E27FC236}">
                <a16:creationId xmlns:a16="http://schemas.microsoft.com/office/drawing/2014/main" id="{4ADD3654-ED5C-86DC-D1DA-1EBE2CE366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6300" y="3456126"/>
            <a:ext cx="2857500" cy="2720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3155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B68E9F8-9CB1-201A-71D8-36412B494AC7}"/>
              </a:ext>
            </a:extLst>
          </p:cNvPr>
          <p:cNvSpPr>
            <a:spLocks noGrp="1"/>
          </p:cNvSpPr>
          <p:nvPr>
            <p:ph type="title"/>
          </p:nvPr>
        </p:nvSpPr>
        <p:spPr/>
        <p:txBody>
          <a:bodyPr/>
          <a:lstStyle/>
          <a:p>
            <a:r>
              <a:rPr lang="en-US" dirty="0"/>
              <a:t>Version hell</a:t>
            </a:r>
          </a:p>
        </p:txBody>
      </p:sp>
      <p:sp>
        <p:nvSpPr>
          <p:cNvPr id="3" name="Zástupný obsah 2">
            <a:extLst>
              <a:ext uri="{FF2B5EF4-FFF2-40B4-BE49-F238E27FC236}">
                <a16:creationId xmlns:a16="http://schemas.microsoft.com/office/drawing/2014/main" id="{7A4092C8-1F19-2909-93E7-F851C2B1D507}"/>
              </a:ext>
            </a:extLst>
          </p:cNvPr>
          <p:cNvSpPr>
            <a:spLocks noGrp="1"/>
          </p:cNvSpPr>
          <p:nvPr>
            <p:ph idx="1"/>
          </p:nvPr>
        </p:nvSpPr>
        <p:spPr>
          <a:xfrm>
            <a:off x="838200" y="1825625"/>
            <a:ext cx="4470918" cy="4351338"/>
          </a:xfrm>
        </p:spPr>
        <p:txBody>
          <a:bodyPr/>
          <a:lstStyle/>
          <a:p>
            <a:r>
              <a:rPr lang="en-US" dirty="0"/>
              <a:t>Some experiments are dead ends</a:t>
            </a:r>
          </a:p>
          <a:p>
            <a:r>
              <a:rPr lang="en-US" dirty="0"/>
              <a:t>Still good to keep track of them or reuse just a part</a:t>
            </a:r>
          </a:p>
          <a:p>
            <a:endParaRPr lang="en-US" dirty="0"/>
          </a:p>
          <a:p>
            <a:r>
              <a:rPr lang="en-US" dirty="0"/>
              <a:t>Hell to maintain</a:t>
            </a:r>
          </a:p>
        </p:txBody>
      </p:sp>
      <p:pic>
        <p:nvPicPr>
          <p:cNvPr id="1026" name="Picture 2" descr="A branching diagram with a legend for Main, Release, Develop and two Feature branches. Commits are coloured dots on parallel lanes; feature branches split off develop and merge back, and release points are tagged v0.1, v0.2 and v1.0 on the main line.">
            <a:extLst>
              <a:ext uri="{FF2B5EF4-FFF2-40B4-BE49-F238E27FC236}">
                <a16:creationId xmlns:a16="http://schemas.microsoft.com/office/drawing/2014/main" id="{269AC49E-0E73-CF5B-41A5-F5F450D1B4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9118" y="2567568"/>
            <a:ext cx="6882882" cy="42904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9104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No backup</a:t>
            </a:r>
          </a:p>
        </p:txBody>
      </p:sp>
      <p:pic>
        <p:nvPicPr>
          <p:cNvPr id="4" name="Picture 2" descr="A meme: a bearded man looking resigned, captioned 'Me: finishing a paper. Computer: I have decided that I want to d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279" y="1825625"/>
            <a:ext cx="5495925"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922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Collaborating nightmare</a:t>
            </a:r>
          </a:p>
        </p:txBody>
      </p:sp>
      <p:sp>
        <p:nvSpPr>
          <p:cNvPr id="3" name="Zástupný symbol pro obsah 2"/>
          <p:cNvSpPr>
            <a:spLocks noGrp="1"/>
          </p:cNvSpPr>
          <p:nvPr>
            <p:ph idx="1"/>
          </p:nvPr>
        </p:nvSpPr>
        <p:spPr/>
        <p:txBody>
          <a:bodyPr/>
          <a:lstStyle/>
          <a:p>
            <a:endParaRPr lang="en-US" dirty="0"/>
          </a:p>
        </p:txBody>
      </p:sp>
      <p:pic>
        <p:nvPicPr>
          <p:cNvPr id="4" name="Obrázek 3" descr="An example illustrating ambiguity of having multiple files that represent different version of the same document. The filenames are: LetterForBrian.doc, LetterForBrian_FJ_changes merged DAB.doc, LetterForBrian_FJ_changes Rev2_FJ_merged_BC_comments3.doc, and LetterForBrian_FJ_changes Rev2_FJ_merged_BC.doc."/>
          <p:cNvPicPr>
            <a:picLocks noChangeAspect="1"/>
          </p:cNvPicPr>
          <p:nvPr/>
        </p:nvPicPr>
        <p:blipFill>
          <a:blip r:embed="rId2"/>
          <a:stretch>
            <a:fillRect/>
          </a:stretch>
        </p:blipFill>
        <p:spPr>
          <a:xfrm>
            <a:off x="946907" y="1926293"/>
            <a:ext cx="6438900" cy="2495550"/>
          </a:xfrm>
          <a:prstGeom prst="rect">
            <a:avLst/>
          </a:prstGeom>
        </p:spPr>
      </p:pic>
      <p:pic>
        <p:nvPicPr>
          <p:cNvPr id="5" name="Obrázek 4" descr="&quot;Poster for The Nightmare Before Christmas featuring Jack Skellington, Sally, Zero the ghost dog, and other characters standing on a curled hill in front of a large yellow moon, with the movie title in stylized text.&quot;"/>
          <p:cNvPicPr>
            <a:picLocks noChangeAspect="1"/>
          </p:cNvPicPr>
          <p:nvPr/>
        </p:nvPicPr>
        <p:blipFill>
          <a:blip r:embed="rId3"/>
          <a:stretch>
            <a:fillRect/>
          </a:stretch>
        </p:blipFill>
        <p:spPr>
          <a:xfrm>
            <a:off x="8926587" y="5021205"/>
            <a:ext cx="3265413" cy="1836795"/>
          </a:xfrm>
          <a:prstGeom prst="rect">
            <a:avLst/>
          </a:prstGeom>
        </p:spPr>
      </p:pic>
    </p:spTree>
    <p:extLst>
      <p:ext uri="{BB962C8B-B14F-4D97-AF65-F5344CB8AC3E}">
        <p14:creationId xmlns:p14="http://schemas.microsoft.com/office/powerpoint/2010/main" val="3306779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9A6401E-0BD7-76FB-5E7F-46557F21C420}"/>
              </a:ext>
            </a:extLst>
          </p:cNvPr>
          <p:cNvSpPr>
            <a:spLocks noGrp="1"/>
          </p:cNvSpPr>
          <p:nvPr>
            <p:ph type="title"/>
          </p:nvPr>
        </p:nvSpPr>
        <p:spPr/>
        <p:txBody>
          <a:bodyPr/>
          <a:lstStyle/>
          <a:p>
            <a:r>
              <a:rPr lang="en-US" dirty="0"/>
              <a:t>Making your research „public“</a:t>
            </a:r>
          </a:p>
        </p:txBody>
      </p:sp>
      <p:sp>
        <p:nvSpPr>
          <p:cNvPr id="3" name="Zástupný obsah 2">
            <a:extLst>
              <a:ext uri="{FF2B5EF4-FFF2-40B4-BE49-F238E27FC236}">
                <a16:creationId xmlns:a16="http://schemas.microsoft.com/office/drawing/2014/main" id="{D875B028-130C-E263-C50A-1796AE0C6FBB}"/>
              </a:ext>
            </a:extLst>
          </p:cNvPr>
          <p:cNvSpPr>
            <a:spLocks noGrp="1"/>
          </p:cNvSpPr>
          <p:nvPr>
            <p:ph idx="1"/>
          </p:nvPr>
        </p:nvSpPr>
        <p:spPr/>
        <p:txBody>
          <a:bodyPr>
            <a:normAutofit/>
          </a:bodyPr>
          <a:lstStyle/>
          <a:p>
            <a:r>
              <a:rPr lang="en-US" dirty="0"/>
              <a:t>Science must be repeatable</a:t>
            </a:r>
          </a:p>
          <a:p>
            <a:r>
              <a:rPr lang="en-US" dirty="0"/>
              <a:t>Describe methods, attach source code</a:t>
            </a:r>
          </a:p>
          <a:p>
            <a:pPr lvl="1"/>
            <a:r>
              <a:rPr lang="en-US" dirty="0"/>
              <a:t>Bug in the methods or in the code</a:t>
            </a:r>
          </a:p>
          <a:p>
            <a:r>
              <a:rPr lang="en-US" dirty="0"/>
              <a:t>About half of published ODE models are not directly reproducible (Tiwari et al., Mol Syst Biol 2021; 222/455)</a:t>
            </a:r>
          </a:p>
          <a:p>
            <a:pPr lvl="1"/>
            <a:r>
              <a:rPr lang="en-US" dirty="0"/>
              <a:t>links to old, hard-to-find papers</a:t>
            </a:r>
          </a:p>
          <a:p>
            <a:pPr lvl="1"/>
            <a:r>
              <a:rPr lang="en-US" dirty="0"/>
              <a:t>Missing equations</a:t>
            </a:r>
          </a:p>
          <a:p>
            <a:pPr lvl="1"/>
            <a:r>
              <a:rPr lang="en-US" dirty="0"/>
              <a:t>Missing values</a:t>
            </a:r>
          </a:p>
          <a:p>
            <a:pPr lvl="1"/>
            <a:r>
              <a:rPr lang="en-US" dirty="0"/>
              <a:t>Typos</a:t>
            </a:r>
          </a:p>
        </p:txBody>
      </p:sp>
      <p:sp>
        <p:nvSpPr>
          <p:cNvPr id="4" name="Obdélník 3">
            <a:extLst>
              <a:ext uri="{FF2B5EF4-FFF2-40B4-BE49-F238E27FC236}">
                <a16:creationId xmlns:a16="http://schemas.microsoft.com/office/drawing/2014/main" id="{EDD53346-E75C-18A1-C0E5-6F11E04D6324}"/>
              </a:ext>
            </a:extLst>
          </p:cNvPr>
          <p:cNvSpPr/>
          <p:nvPr/>
        </p:nvSpPr>
        <p:spPr>
          <a:xfrm>
            <a:off x="5946710" y="5103674"/>
            <a:ext cx="6096000" cy="1754326"/>
          </a:xfrm>
          <a:prstGeom prst="rect">
            <a:avLst/>
          </a:prstGeom>
        </p:spPr>
        <p:txBody>
          <a:bodyPr>
            <a:spAutoFit/>
          </a:bodyPr>
          <a:lstStyle/>
          <a:p>
            <a:r>
              <a:rPr lang="en-US" b="1" i="1" dirty="0">
                <a:solidFill>
                  <a:srgbClr val="222222"/>
                </a:solidFill>
                <a:latin typeface="Arial" panose="020B0604020202020204" pitchFamily="34" charset="0"/>
              </a:rPr>
              <a:t>“The model enclosed is the earliest I have in my files, so it may not duplicate what is in my paper.”</a:t>
            </a:r>
          </a:p>
          <a:p>
            <a:endParaRPr lang="en-US" b="1" i="1" dirty="0">
              <a:solidFill>
                <a:srgbClr val="222222"/>
              </a:solidFill>
              <a:latin typeface="Arial" panose="020B0604020202020204" pitchFamily="34" charset="0"/>
            </a:endParaRPr>
          </a:p>
          <a:p>
            <a:pPr algn="r"/>
            <a:r>
              <a:rPr lang="en-US" b="1" i="1" dirty="0">
                <a:solidFill>
                  <a:srgbClr val="222222"/>
                </a:solidFill>
                <a:latin typeface="Arial" panose="020B0604020202020204" pitchFamily="34" charset="0"/>
              </a:rPr>
              <a:t>Undisclosed author, </a:t>
            </a:r>
            <a:br>
              <a:rPr lang="en-US" b="1" i="1" dirty="0">
                <a:solidFill>
                  <a:srgbClr val="222222"/>
                </a:solidFill>
                <a:latin typeface="Arial" panose="020B0604020202020204" pitchFamily="34" charset="0"/>
              </a:rPr>
            </a:br>
            <a:r>
              <a:rPr lang="en-US" b="1" i="1" dirty="0">
                <a:solidFill>
                  <a:srgbClr val="222222"/>
                </a:solidFill>
                <a:latin typeface="Arial" panose="020B0604020202020204" pitchFamily="34" charset="0"/>
              </a:rPr>
              <a:t>personal communication, </a:t>
            </a:r>
            <a:br>
              <a:rPr lang="en-US" b="1" i="1" dirty="0">
                <a:solidFill>
                  <a:srgbClr val="222222"/>
                </a:solidFill>
                <a:latin typeface="Arial" panose="020B0604020202020204" pitchFamily="34" charset="0"/>
              </a:rPr>
            </a:br>
            <a:r>
              <a:rPr lang="en-US" b="1" i="1" dirty="0">
                <a:solidFill>
                  <a:srgbClr val="222222"/>
                </a:solidFill>
                <a:latin typeface="Arial" panose="020B0604020202020204" pitchFamily="34" charset="0"/>
              </a:rPr>
              <a:t>01/05/2022</a:t>
            </a:r>
          </a:p>
        </p:txBody>
      </p:sp>
    </p:spTree>
    <p:extLst>
      <p:ext uri="{BB962C8B-B14F-4D97-AF65-F5344CB8AC3E}">
        <p14:creationId xmlns:p14="http://schemas.microsoft.com/office/powerpoint/2010/main" val="1900004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err="1"/>
              <a:t>Version</a:t>
            </a:r>
            <a:r>
              <a:rPr lang="en-US" dirty="0"/>
              <a:t> </a:t>
            </a:r>
            <a:r>
              <a:rPr lang="en-US" dirty="0" err="1"/>
              <a:t>control</a:t>
            </a:r>
            <a:r>
              <a:rPr lang="en-US" dirty="0"/>
              <a:t> </a:t>
            </a:r>
            <a:r>
              <a:rPr lang="en-US" dirty="0" err="1"/>
              <a:t>system</a:t>
            </a:r>
            <a:endParaRPr lang="en-US" dirty="0"/>
          </a:p>
        </p:txBody>
      </p:sp>
      <p:pic>
        <p:nvPicPr>
          <p:cNvPr id="5" name="Picture 4" descr="A comic-book style explosion graphic with the word 'BAM!' in blue letters over a red and yellow starburst.">
            <a:extLst>
              <a:ext uri="{FF2B5EF4-FFF2-40B4-BE49-F238E27FC236}">
                <a16:creationId xmlns:a16="http://schemas.microsoft.com/office/drawing/2014/main" id="{02C9399A-D634-795E-DDFC-4EDDA47652D5}"/>
              </a:ext>
            </a:extLst>
          </p:cNvPr>
          <p:cNvPicPr>
            <a:picLocks noChangeAspect="1"/>
          </p:cNvPicPr>
          <p:nvPr/>
        </p:nvPicPr>
        <p:blipFill>
          <a:blip r:embed="rId2"/>
          <a:srcRect b="11349"/>
          <a:stretch>
            <a:fillRect/>
          </a:stretch>
        </p:blipFill>
        <p:spPr>
          <a:xfrm>
            <a:off x="9158886" y="0"/>
            <a:ext cx="2757504" cy="2411976"/>
          </a:xfrm>
          <a:prstGeom prst="rect">
            <a:avLst/>
          </a:prstGeom>
        </p:spPr>
      </p:pic>
      <p:sp>
        <p:nvSpPr>
          <p:cNvPr id="3" name="Zástupný symbol pro obsah 2"/>
          <p:cNvSpPr>
            <a:spLocks noGrp="1"/>
          </p:cNvSpPr>
          <p:nvPr>
            <p:ph idx="1"/>
          </p:nvPr>
        </p:nvSpPr>
        <p:spPr/>
        <p:txBody>
          <a:bodyPr/>
          <a:lstStyle/>
          <a:p>
            <a:r>
              <a:rPr lang="en-US" dirty="0" err="1"/>
              <a:t>Tracks</a:t>
            </a:r>
            <a:r>
              <a:rPr lang="en-US" dirty="0"/>
              <a:t> </a:t>
            </a:r>
            <a:r>
              <a:rPr lang="en-US" dirty="0" err="1"/>
              <a:t>all</a:t>
            </a:r>
            <a:r>
              <a:rPr lang="en-US" dirty="0"/>
              <a:t> </a:t>
            </a:r>
            <a:r>
              <a:rPr lang="en-US" dirty="0" err="1"/>
              <a:t>the</a:t>
            </a:r>
            <a:r>
              <a:rPr lang="en-US" dirty="0"/>
              <a:t> </a:t>
            </a:r>
            <a:r>
              <a:rPr lang="en-US" dirty="0" err="1"/>
              <a:t>revisions</a:t>
            </a:r>
            <a:r>
              <a:rPr lang="en-US" dirty="0"/>
              <a:t>, </a:t>
            </a:r>
            <a:r>
              <a:rPr lang="en-US" dirty="0" err="1"/>
              <a:t>creates</a:t>
            </a:r>
            <a:r>
              <a:rPr lang="en-US" dirty="0"/>
              <a:t> </a:t>
            </a:r>
            <a:r>
              <a:rPr lang="en-US" dirty="0" err="1"/>
              <a:t>safe</a:t>
            </a:r>
            <a:r>
              <a:rPr lang="en-US" dirty="0"/>
              <a:t> „</a:t>
            </a:r>
            <a:r>
              <a:rPr lang="en-US" dirty="0" err="1"/>
              <a:t>Checkpoints</a:t>
            </a:r>
            <a:r>
              <a:rPr lang="en-US" dirty="0"/>
              <a:t>“</a:t>
            </a:r>
          </a:p>
          <a:p>
            <a:r>
              <a:rPr lang="en-US" dirty="0" err="1"/>
              <a:t>Allows</a:t>
            </a:r>
            <a:r>
              <a:rPr lang="en-US" dirty="0"/>
              <a:t> </a:t>
            </a:r>
            <a:r>
              <a:rPr lang="en-US" dirty="0" err="1"/>
              <a:t>organizing</a:t>
            </a:r>
            <a:r>
              <a:rPr lang="en-US" dirty="0"/>
              <a:t> </a:t>
            </a:r>
            <a:r>
              <a:rPr lang="en-US" dirty="0" err="1"/>
              <a:t>the</a:t>
            </a:r>
            <a:r>
              <a:rPr lang="en-US" dirty="0"/>
              <a:t> </a:t>
            </a:r>
            <a:r>
              <a:rPr lang="en-US" dirty="0" err="1"/>
              <a:t>project</a:t>
            </a:r>
            <a:r>
              <a:rPr lang="en-US" dirty="0"/>
              <a:t> in </a:t>
            </a:r>
            <a:r>
              <a:rPr lang="en-US" dirty="0" err="1"/>
              <a:t>multiple</a:t>
            </a:r>
            <a:r>
              <a:rPr lang="en-US" dirty="0"/>
              <a:t> (</a:t>
            </a:r>
            <a:r>
              <a:rPr lang="en-US" dirty="0" err="1"/>
              <a:t>concurrent</a:t>
            </a:r>
            <a:r>
              <a:rPr lang="en-US" dirty="0"/>
              <a:t>) </a:t>
            </a:r>
            <a:r>
              <a:rPr lang="en-US" dirty="0" err="1"/>
              <a:t>branches</a:t>
            </a:r>
            <a:endParaRPr lang="en-US" dirty="0"/>
          </a:p>
          <a:p>
            <a:r>
              <a:rPr lang="en-US" dirty="0" err="1"/>
              <a:t>Simplifies</a:t>
            </a:r>
            <a:r>
              <a:rPr lang="en-US" dirty="0"/>
              <a:t> </a:t>
            </a:r>
            <a:r>
              <a:rPr lang="en-US" dirty="0" err="1"/>
              <a:t>cooperation</a:t>
            </a:r>
            <a:endParaRPr lang="en-US" dirty="0"/>
          </a:p>
          <a:p>
            <a:r>
              <a:rPr lang="en-US" dirty="0"/>
              <a:t>Tag the release version and back it up!</a:t>
            </a:r>
          </a:p>
          <a:p>
            <a:endParaRPr lang="en-US" dirty="0"/>
          </a:p>
          <a:p>
            <a:endParaRPr lang="en-US" dirty="0"/>
          </a:p>
        </p:txBody>
      </p:sp>
    </p:spTree>
    <p:extLst>
      <p:ext uri="{BB962C8B-B14F-4D97-AF65-F5344CB8AC3E}">
        <p14:creationId xmlns:p14="http://schemas.microsoft.com/office/powerpoint/2010/main" val="38010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F7F258D-2B73-24F2-B9A6-9C63F1EADCA3}"/>
              </a:ext>
            </a:extLst>
          </p:cNvPr>
          <p:cNvSpPr>
            <a:spLocks noGrp="1"/>
          </p:cNvSpPr>
          <p:nvPr>
            <p:ph type="title"/>
          </p:nvPr>
        </p:nvSpPr>
        <p:spPr/>
        <p:txBody>
          <a:bodyPr/>
          <a:lstStyle/>
          <a:p>
            <a:r>
              <a:rPr lang="en-US" dirty="0"/>
              <a:t>A need for v</a:t>
            </a:r>
            <a:r>
              <a:rPr lang="en-US" dirty="0" err="1"/>
              <a:t>ersion</a:t>
            </a:r>
            <a:r>
              <a:rPr lang="en-US" dirty="0"/>
              <a:t> control systems</a:t>
            </a:r>
          </a:p>
        </p:txBody>
      </p:sp>
      <p:sp>
        <p:nvSpPr>
          <p:cNvPr id="3" name="Zástupný obsah 2">
            <a:extLst>
              <a:ext uri="{FF2B5EF4-FFF2-40B4-BE49-F238E27FC236}">
                <a16:creationId xmlns:a16="http://schemas.microsoft.com/office/drawing/2014/main" id="{DDEA0E02-D5C8-08DD-CCD0-BC7FB2F0535B}"/>
              </a:ext>
            </a:extLst>
          </p:cNvPr>
          <p:cNvSpPr>
            <a:spLocks noGrp="1"/>
          </p:cNvSpPr>
          <p:nvPr>
            <p:ph idx="1"/>
          </p:nvPr>
        </p:nvSpPr>
        <p:spPr/>
        <p:txBody>
          <a:bodyPr>
            <a:normAutofit fontScale="92500" lnSpcReduction="20000"/>
          </a:bodyPr>
          <a:lstStyle/>
          <a:p>
            <a:r>
              <a:rPr lang="en-US" dirty="0"/>
              <a:t>Drawer for your punch cards</a:t>
            </a:r>
          </a:p>
          <a:p>
            <a:r>
              <a:rPr lang="en-US" b="1" dirty="0"/>
              <a:t>Bulletin board</a:t>
            </a:r>
          </a:p>
          <a:p>
            <a:r>
              <a:rPr lang="en-US" dirty="0"/>
              <a:t>Source Code Control System (1972)</a:t>
            </a:r>
          </a:p>
          <a:p>
            <a:r>
              <a:rPr lang="en-US" i="1" dirty="0"/>
              <a:t>CVS (1985)</a:t>
            </a:r>
          </a:p>
          <a:p>
            <a:r>
              <a:rPr lang="en-US" i="1" dirty="0"/>
              <a:t>Subversion (SVN)</a:t>
            </a:r>
          </a:p>
          <a:p>
            <a:r>
              <a:rPr lang="en-US" dirty="0"/>
              <a:t>…</a:t>
            </a:r>
          </a:p>
          <a:p>
            <a:r>
              <a:rPr lang="en-US" dirty="0" err="1"/>
              <a:t>BitKeeper</a:t>
            </a:r>
            <a:endParaRPr lang="en-US" dirty="0"/>
          </a:p>
          <a:p>
            <a:r>
              <a:rPr lang="en-US" dirty="0"/>
              <a:t>GNU Bazaar</a:t>
            </a:r>
          </a:p>
          <a:p>
            <a:r>
              <a:rPr lang="en-US" dirty="0"/>
              <a:t>Mercurial (2005)</a:t>
            </a:r>
          </a:p>
          <a:p>
            <a:r>
              <a:rPr lang="en-US" b="1" dirty="0"/>
              <a:t>Git (2005)</a:t>
            </a:r>
          </a:p>
          <a:p>
            <a:endParaRPr lang="en-US" dirty="0"/>
          </a:p>
        </p:txBody>
      </p:sp>
      <p:pic>
        <p:nvPicPr>
          <p:cNvPr id="5" name="Picture 4" descr="A photo of a cork noticeboard covered in hand-written paper strips naming software modules — Trunk Manager, SAC Control, Routine, Data Lib, Parser, Validate, Edit and others — with coloured pins beside some of them: version control done by hand.">
            <a:extLst>
              <a:ext uri="{FF2B5EF4-FFF2-40B4-BE49-F238E27FC236}">
                <a16:creationId xmlns:a16="http://schemas.microsoft.com/office/drawing/2014/main" id="{7AE456D1-9076-C6FF-9CAA-5F5ECCA27525}"/>
              </a:ext>
            </a:extLst>
          </p:cNvPr>
          <p:cNvPicPr>
            <a:picLocks noChangeAspect="1"/>
          </p:cNvPicPr>
          <p:nvPr/>
        </p:nvPicPr>
        <p:blipFill>
          <a:blip r:embed="rId2"/>
          <a:stretch>
            <a:fillRect/>
          </a:stretch>
        </p:blipFill>
        <p:spPr>
          <a:xfrm>
            <a:off x="8549807" y="1690688"/>
            <a:ext cx="3642193" cy="4421623"/>
          </a:xfrm>
          <a:prstGeom prst="rect">
            <a:avLst/>
          </a:prstGeom>
        </p:spPr>
      </p:pic>
    </p:spTree>
    <p:extLst>
      <p:ext uri="{BB962C8B-B14F-4D97-AF65-F5344CB8AC3E}">
        <p14:creationId xmlns:p14="http://schemas.microsoft.com/office/powerpoint/2010/main" val="1034417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Use </a:t>
            </a:r>
            <a:r>
              <a:rPr lang="en-US" dirty="0" err="1"/>
              <a:t>Git</a:t>
            </a:r>
            <a:r>
              <a:rPr lang="en-US" dirty="0"/>
              <a:t>!</a:t>
            </a:r>
          </a:p>
        </p:txBody>
      </p:sp>
      <p:sp>
        <p:nvSpPr>
          <p:cNvPr id="3" name="Zástupný symbol pro obsah 2"/>
          <p:cNvSpPr>
            <a:spLocks noGrp="1"/>
          </p:cNvSpPr>
          <p:nvPr>
            <p:ph idx="1"/>
          </p:nvPr>
        </p:nvSpPr>
        <p:spPr>
          <a:xfrm>
            <a:off x="838200" y="1825624"/>
            <a:ext cx="10515600" cy="4946961"/>
          </a:xfrm>
        </p:spPr>
        <p:txBody>
          <a:bodyPr>
            <a:normAutofit fontScale="85000" lnSpcReduction="20000"/>
          </a:bodyPr>
          <a:lstStyle/>
          <a:p>
            <a:pPr marL="0" indent="0" algn="l">
              <a:buNone/>
            </a:pPr>
            <a:r>
              <a:rPr lang="en-US" b="0" i="1" dirty="0">
                <a:solidFill>
                  <a:srgbClr val="1F1F1F"/>
                </a:solidFill>
                <a:effectLst/>
                <a:highlight>
                  <a:srgbClr val="FFFFFF"/>
                </a:highlight>
                <a:latin typeface="Arial" panose="020B0604020202020204" pitchFamily="34" charset="0"/>
              </a:rPr>
              <a:t>an </a:t>
            </a:r>
            <a:r>
              <a:rPr lang="en-US" b="0" i="1" u="sng" dirty="0">
                <a:solidFill>
                  <a:srgbClr val="1F1F1F"/>
                </a:solidFill>
                <a:effectLst/>
                <a:highlight>
                  <a:srgbClr val="FFFFFF"/>
                </a:highlight>
                <a:latin typeface="Arial" panose="020B0604020202020204" pitchFamily="34" charset="0"/>
              </a:rPr>
              <a:t>unpleasant</a:t>
            </a:r>
            <a:r>
              <a:rPr lang="en-US" b="0" i="1" dirty="0">
                <a:solidFill>
                  <a:srgbClr val="1F1F1F"/>
                </a:solidFill>
                <a:effectLst/>
                <a:highlight>
                  <a:srgbClr val="FFFFFF"/>
                </a:highlight>
                <a:latin typeface="Arial" panose="020B0604020202020204" pitchFamily="34" charset="0"/>
              </a:rPr>
              <a:t> or </a:t>
            </a:r>
            <a:r>
              <a:rPr lang="en-US" b="0" i="1" u="sng" dirty="0">
                <a:solidFill>
                  <a:srgbClr val="1F1F1F"/>
                </a:solidFill>
                <a:effectLst/>
                <a:highlight>
                  <a:srgbClr val="FFFFFF"/>
                </a:highlight>
                <a:latin typeface="Arial" panose="020B0604020202020204" pitchFamily="34" charset="0"/>
              </a:rPr>
              <a:t>contemptible</a:t>
            </a:r>
            <a:r>
              <a:rPr lang="en-US" b="0" i="1" dirty="0">
                <a:solidFill>
                  <a:srgbClr val="1F1F1F"/>
                </a:solidFill>
                <a:effectLst/>
                <a:highlight>
                  <a:srgbClr val="FFFFFF"/>
                </a:highlight>
                <a:latin typeface="Arial" panose="020B0604020202020204" pitchFamily="34" charset="0"/>
              </a:rPr>
              <a:t> person.</a:t>
            </a:r>
          </a:p>
          <a:p>
            <a:pPr marL="0" indent="0" algn="l">
              <a:buNone/>
            </a:pPr>
            <a:r>
              <a:rPr lang="en-US" b="0" i="1" dirty="0">
                <a:solidFill>
                  <a:srgbClr val="1F1F1F"/>
                </a:solidFill>
                <a:effectLst/>
                <a:highlight>
                  <a:srgbClr val="FFFFFF"/>
                </a:highlight>
                <a:latin typeface="Arial" panose="020B0604020202020204" pitchFamily="34" charset="0"/>
              </a:rPr>
              <a:t>"that mean old git"</a:t>
            </a:r>
          </a:p>
          <a:p>
            <a:endParaRPr lang="en-US" i="1" dirty="0"/>
          </a:p>
          <a:p>
            <a:r>
              <a:rPr lang="en-US" i="1" dirty="0"/>
              <a:t>Global information tracker </a:t>
            </a:r>
            <a:r>
              <a:rPr lang="en-US" dirty="0"/>
              <a:t> (or </a:t>
            </a:r>
            <a:r>
              <a:rPr lang="en-US" i="1" dirty="0"/>
              <a:t>goddamn idiotic truckload of ****</a:t>
            </a:r>
            <a:r>
              <a:rPr lang="en-US" dirty="0"/>
              <a:t>)</a:t>
            </a:r>
          </a:p>
          <a:p>
            <a:r>
              <a:rPr lang="en-US" dirty="0"/>
              <a:t>Developed to support Linux core development by Linus Torvalds in 2005</a:t>
            </a:r>
          </a:p>
          <a:p>
            <a:r>
              <a:rPr lang="en-US" dirty="0"/>
              <a:t>Most </a:t>
            </a:r>
            <a:r>
              <a:rPr lang="en-US" dirty="0" err="1"/>
              <a:t>popular</a:t>
            </a:r>
            <a:r>
              <a:rPr lang="en-US" dirty="0"/>
              <a:t> Version </a:t>
            </a:r>
            <a:r>
              <a:rPr lang="en-US" dirty="0" err="1"/>
              <a:t>control</a:t>
            </a:r>
            <a:r>
              <a:rPr lang="en-US" dirty="0"/>
              <a:t> system with collaboration</a:t>
            </a:r>
          </a:p>
          <a:p>
            <a:endParaRPr lang="en-US" dirty="0"/>
          </a:p>
          <a:p>
            <a:r>
              <a:rPr lang="en-US" dirty="0"/>
              <a:t>Don’t get lost in your versions, name them and store them!</a:t>
            </a:r>
          </a:p>
          <a:p>
            <a:r>
              <a:rPr lang="en-US" dirty="0"/>
              <a:t>Backup and recovery</a:t>
            </a:r>
          </a:p>
          <a:p>
            <a:r>
              <a:rPr lang="en-US" dirty="0"/>
              <a:t>Sharing and dissemination</a:t>
            </a:r>
          </a:p>
          <a:p>
            <a:r>
              <a:rPr lang="en-US" dirty="0"/>
              <a:t>It’s easy, it’s open-source, it’s free</a:t>
            </a:r>
          </a:p>
          <a:p>
            <a:endParaRPr lang="en-US" dirty="0"/>
          </a:p>
          <a:p>
            <a:r>
              <a:rPr lang="en-US" dirty="0"/>
              <a:t>It is a necessity!</a:t>
            </a:r>
          </a:p>
          <a:p>
            <a:pPr marL="0" indent="0">
              <a:buNone/>
            </a:pPr>
            <a:endParaRPr lang="en-US" dirty="0"/>
          </a:p>
        </p:txBody>
      </p:sp>
      <p:pic>
        <p:nvPicPr>
          <p:cNvPr id="8" name="Obrázek 7" descr="Two characters from &quot;Back to the Future&quot; look surprised, with the caption: &quot;LOST? GIT-REFLOG TO GO BACK TO THE FUTURE.&quot;"/>
          <p:cNvPicPr>
            <a:picLocks noChangeAspect="1"/>
          </p:cNvPicPr>
          <p:nvPr/>
        </p:nvPicPr>
        <p:blipFill>
          <a:blip r:embed="rId2"/>
          <a:stretch>
            <a:fillRect/>
          </a:stretch>
        </p:blipFill>
        <p:spPr>
          <a:xfrm>
            <a:off x="8699383" y="4264503"/>
            <a:ext cx="3348420" cy="2508083"/>
          </a:xfrm>
          <a:prstGeom prst="rect">
            <a:avLst/>
          </a:prstGeom>
        </p:spPr>
      </p:pic>
    </p:spTree>
    <p:extLst>
      <p:ext uri="{BB962C8B-B14F-4D97-AF65-F5344CB8AC3E}">
        <p14:creationId xmlns:p14="http://schemas.microsoft.com/office/powerpoint/2010/main" val="1679121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2005 was not the end of the story</a:t>
            </a:r>
          </a:p>
        </p:txBody>
      </p:sp>
      <p:sp>
        <p:nvSpPr>
          <p:cNvPr id="3" name="Content Placeholder 2"/>
          <p:cNvSpPr>
            <a:spLocks noGrp="1"/>
          </p:cNvSpPr>
          <p:nvPr>
            <p:ph idx="1"/>
          </p:nvPr>
        </p:nvSpPr>
        <p:spPr/>
        <p:txBody>
          <a:bodyPr wrap="square">
            <a:normAutofit/>
          </a:bodyPr>
          <a:lstStyle/>
          <a:p>
            <a:r>
              <a:rPr sz="1600"/>
              <a:t>Git won — it is the </a:t>
            </a:r>
            <a:r>
              <a:rPr sz="1600" b="1"/>
              <a:t>lingua franca</a:t>
            </a:r>
          </a:p>
          <a:p>
            <a:pPr lvl="1"/>
            <a:r>
              <a:rPr sz="1500"/>
              <a:t>GitHub, GitLab, VS Code, MATLAB, every CI system speaks Git</a:t>
            </a:r>
          </a:p>
          <a:p>
            <a:pPr lvl="1"/>
            <a:r>
              <a:rPr sz="1500"/>
              <a:t>Learning Git is not a bet on a fashion</a:t>
            </a:r>
          </a:p>
          <a:p>
            <a:pPr>
              <a:defRPr sz="700"/>
            </a:pPr>
            <a:endParaRPr sz="1500"/>
          </a:p>
          <a:p>
            <a:r>
              <a:rPr sz="1600"/>
              <a:t>But development did not stop: </a:t>
            </a:r>
            <a:r>
              <a:rPr sz="1600" b="1"/>
              <a:t>Jujutsu</a:t>
            </a:r>
            <a:r>
              <a:rPr sz="1600"/>
              <a:t> (</a:t>
            </a:r>
            <a:r>
              <a:rPr sz="1600">
                <a:latin typeface="Consolas"/>
              </a:rPr>
              <a:t>jj</a:t>
            </a:r>
            <a:r>
              <a:rPr sz="1600"/>
              <a:t>) is the current serious contender</a:t>
            </a:r>
          </a:p>
          <a:p>
            <a:pPr lvl="1"/>
            <a:r>
              <a:rPr sz="1500"/>
              <a:t>Simpler model — no staging area, every change is already a commit, undo anything</a:t>
            </a:r>
          </a:p>
          <a:p>
            <a:pPr lvl="1"/>
            <a:r>
              <a:rPr sz="1500"/>
              <a:t>Uses </a:t>
            </a:r>
            <a:r>
              <a:rPr sz="1500" b="1"/>
              <a:t>a Git repository as its backend</a:t>
            </a:r>
            <a:r>
              <a:rPr sz="1500"/>
              <a:t>: same </a:t>
            </a:r>
            <a:r>
              <a:rPr sz="1500">
                <a:latin typeface="Consolas"/>
              </a:rPr>
              <a:t>.git</a:t>
            </a:r>
            <a:r>
              <a:rPr sz="1500"/>
              <a:t>, same remotes, same GitHub</a:t>
            </a:r>
          </a:p>
          <a:p>
            <a:pPr lvl="1"/>
            <a:r>
              <a:rPr sz="1500"/>
              <a:t>Your collaborators cannot tell which one you used</a:t>
            </a:r>
          </a:p>
          <a:p>
            <a:pPr>
              <a:defRPr sz="700"/>
            </a:pPr>
            <a:endParaRPr sz="1500"/>
          </a:p>
          <a:p>
            <a:r>
              <a:rPr sz="1600" b="1"/>
              <a:t>Takeaway:</a:t>
            </a:r>
            <a:r>
              <a:rPr sz="1600"/>
              <a:t> learn the </a:t>
            </a:r>
            <a:r>
              <a:rPr sz="1600" i="1"/>
              <a:t>data model</a:t>
            </a:r>
            <a:r>
              <a:rPr sz="1600"/>
              <a:t> — commits, branches, remotes</a:t>
            </a:r>
          </a:p>
          <a:p>
            <a:pPr lvl="1"/>
            <a:r>
              <a:rPr sz="1500"/>
              <a:t>It outlives the tool. Not today, though — learn Git first.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B2BF-DADA-6F71-87D2-D7C00B6BF4A9}"/>
              </a:ext>
            </a:extLst>
          </p:cNvPr>
          <p:cNvSpPr>
            <a:spLocks noGrp="1"/>
          </p:cNvSpPr>
          <p:nvPr>
            <p:ph type="title"/>
          </p:nvPr>
        </p:nvSpPr>
        <p:spPr/>
        <p:txBody>
          <a:bodyPr/>
          <a:lstStyle/>
          <a:p>
            <a:r>
              <a:rPr lang="en-US" dirty="0"/>
              <a:t>What is a Git Repository?</a:t>
            </a:r>
          </a:p>
        </p:txBody>
      </p:sp>
      <p:sp>
        <p:nvSpPr>
          <p:cNvPr id="4" name="Text Placeholder 3">
            <a:extLst>
              <a:ext uri="{FF2B5EF4-FFF2-40B4-BE49-F238E27FC236}">
                <a16:creationId xmlns:a16="http://schemas.microsoft.com/office/drawing/2014/main" id="{8EDEBEC8-9089-938F-BE76-A7430F87A713}"/>
              </a:ext>
            </a:extLst>
          </p:cNvPr>
          <p:cNvSpPr>
            <a:spLocks noGrp="1"/>
          </p:cNvSpPr>
          <p:nvPr>
            <p:ph type="body" idx="1"/>
          </p:nvPr>
        </p:nvSpPr>
        <p:spPr/>
        <p:txBody>
          <a:bodyPr/>
          <a:lstStyle/>
          <a:p>
            <a:pPr algn="ctr"/>
            <a:r>
              <a:rPr lang="en-US" dirty="0"/>
              <a:t>Repository: history and branches</a:t>
            </a:r>
          </a:p>
        </p:txBody>
      </p:sp>
      <p:sp>
        <p:nvSpPr>
          <p:cNvPr id="6" name="Text Placeholder 5">
            <a:extLst>
              <a:ext uri="{FF2B5EF4-FFF2-40B4-BE49-F238E27FC236}">
                <a16:creationId xmlns:a16="http://schemas.microsoft.com/office/drawing/2014/main" id="{73FBAC8D-20B0-C27C-8B97-F6D23862F751}"/>
              </a:ext>
            </a:extLst>
          </p:cNvPr>
          <p:cNvSpPr>
            <a:spLocks noGrp="1"/>
          </p:cNvSpPr>
          <p:nvPr>
            <p:ph type="body" sz="quarter" idx="3"/>
          </p:nvPr>
        </p:nvSpPr>
        <p:spPr/>
        <p:txBody>
          <a:bodyPr/>
          <a:lstStyle/>
          <a:p>
            <a:pPr algn="ctr"/>
            <a:r>
              <a:rPr lang="en-US" dirty="0"/>
              <a:t>Working copy: files on the drive</a:t>
            </a:r>
          </a:p>
        </p:txBody>
      </p:sp>
      <p:pic>
        <p:nvPicPr>
          <p:cNvPr id="1028" name="Picture 4" descr="500+ Wine Bottle Pictures [HD] | Download Free Images on Unsplash">
            <a:extLst>
              <a:ext uri="{FF2B5EF4-FFF2-40B4-BE49-F238E27FC236}">
                <a16:creationId xmlns:a16="http://schemas.microsoft.com/office/drawing/2014/main" id="{C1A732BE-81FD-26AC-D43F-4402C6FAE971}"/>
              </a:ext>
            </a:extLst>
          </p:cNvPr>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5997575" y="2712030"/>
            <a:ext cx="2390775" cy="19145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ZJUJ High end Wine Racks 6 Bottle Countertop Wine Rack Wine Rack Repository  Modern Metal Wine">
            <a:extLst>
              <a:ext uri="{FF2B5EF4-FFF2-40B4-BE49-F238E27FC236}">
                <a16:creationId xmlns:a16="http://schemas.microsoft.com/office/drawing/2014/main" id="{F84EC19C-E4B2-04F0-24B4-B2E3375B56D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319027" y="2825750"/>
            <a:ext cx="2295525" cy="1990725"/>
          </a:xfrm>
          <a:prstGeom prst="rect">
            <a:avLst/>
          </a:prstGeom>
          <a:noFill/>
          <a:extLst>
            <a:ext uri="{909E8E84-426E-40DD-AFC4-6F175D3DCCD1}">
              <a14:hiddenFill xmlns:a14="http://schemas.microsoft.com/office/drawing/2010/main">
                <a:solidFill>
                  <a:srgbClr val="FFFFFF"/>
                </a:solidFill>
              </a14:hiddenFill>
            </a:ext>
          </a:extLst>
        </p:spPr>
      </p:pic>
      <p:pic>
        <p:nvPicPr>
          <p:cNvPr id="9" name="Obrázek 7" descr="A diagram comparing centralized and distributed version control systems. On the left, the centralized system shows a single central repository connected to two working copies, represented by two cartoon figures. On the right, the distributed system shows a full repository connected to two full repositories, with the full repositories depicted as larger cylinders, and the central full repository connected to the other full repository with lines.">
            <a:extLst>
              <a:ext uri="{FF2B5EF4-FFF2-40B4-BE49-F238E27FC236}">
                <a16:creationId xmlns:a16="http://schemas.microsoft.com/office/drawing/2014/main" id="{995A484D-ECE5-5486-A602-1D465B17D13A}"/>
              </a:ext>
            </a:extLst>
          </p:cNvPr>
          <p:cNvPicPr>
            <a:picLocks noChangeAspect="1"/>
          </p:cNvPicPr>
          <p:nvPr/>
        </p:nvPicPr>
        <p:blipFill rotWithShape="1">
          <a:blip r:embed="rId4"/>
          <a:srcRect l="14212" t="16069" r="72641" b="52379"/>
          <a:stretch/>
        </p:blipFill>
        <p:spPr>
          <a:xfrm>
            <a:off x="2892669" y="2644247"/>
            <a:ext cx="1547447" cy="2000961"/>
          </a:xfrm>
          <a:prstGeom prst="rect">
            <a:avLst/>
          </a:prstGeom>
        </p:spPr>
      </p:pic>
      <p:pic>
        <p:nvPicPr>
          <p:cNvPr id="11" name="Picture 10" descr="A yellow file folder with a tab on top, slightly open to reveal several sheets of paper inside, with some blue lines and text visible on the papers.">
            <a:extLst>
              <a:ext uri="{FF2B5EF4-FFF2-40B4-BE49-F238E27FC236}">
                <a16:creationId xmlns:a16="http://schemas.microsoft.com/office/drawing/2014/main" id="{852E294A-FCFA-63F0-139F-0729FA7B31A4}"/>
              </a:ext>
            </a:extLst>
          </p:cNvPr>
          <p:cNvPicPr>
            <a:picLocks noChangeAspect="1"/>
          </p:cNvPicPr>
          <p:nvPr/>
        </p:nvPicPr>
        <p:blipFill>
          <a:blip r:embed="rId5"/>
          <a:stretch>
            <a:fillRect/>
          </a:stretch>
        </p:blipFill>
        <p:spPr>
          <a:xfrm>
            <a:off x="8846222" y="2522112"/>
            <a:ext cx="1792471" cy="2294363"/>
          </a:xfrm>
          <a:prstGeom prst="rect">
            <a:avLst/>
          </a:prstGeom>
        </p:spPr>
      </p:pic>
      <p:sp>
        <p:nvSpPr>
          <p:cNvPr id="13" name="TextBox 12">
            <a:extLst>
              <a:ext uri="{FF2B5EF4-FFF2-40B4-BE49-F238E27FC236}">
                <a16:creationId xmlns:a16="http://schemas.microsoft.com/office/drawing/2014/main" id="{73B407EA-43A4-48AC-20F0-ED2A0E6677B4}"/>
              </a:ext>
            </a:extLst>
          </p:cNvPr>
          <p:cNvSpPr txBox="1"/>
          <p:nvPr/>
        </p:nvSpPr>
        <p:spPr>
          <a:xfrm>
            <a:off x="1095498" y="4992171"/>
            <a:ext cx="6097464" cy="461665"/>
          </a:xfrm>
          <a:prstGeom prst="rect">
            <a:avLst/>
          </a:prstGeom>
          <a:noFill/>
        </p:spPr>
        <p:txBody>
          <a:bodyPr wrap="square">
            <a:spAutoFit/>
          </a:bodyPr>
          <a:lstStyle/>
          <a:p>
            <a:r>
              <a:rPr lang="en-US" dirty="0"/>
              <a:t>(usually in hidden subfolder, e.g. </a:t>
            </a:r>
            <a:r>
              <a:rPr lang="en-US" sz="2400" b="1" dirty="0">
                <a:solidFill>
                  <a:schemeClr val="tx1">
                    <a:lumMod val="50000"/>
                    <a:lumOff val="50000"/>
                  </a:schemeClr>
                </a:solidFill>
              </a:rPr>
              <a:t>.git</a:t>
            </a:r>
            <a:r>
              <a:rPr lang="en-US" dirty="0"/>
              <a:t>)</a:t>
            </a:r>
          </a:p>
        </p:txBody>
      </p:sp>
      <p:sp>
        <p:nvSpPr>
          <p:cNvPr id="3" name="Title 1">
            <a:extLst>
              <a:ext uri="{FF2B5EF4-FFF2-40B4-BE49-F238E27FC236}">
                <a16:creationId xmlns:a16="http://schemas.microsoft.com/office/drawing/2014/main" id="{A7125D98-1964-0FE1-2D5B-B5F9E926E47B}"/>
              </a:ext>
            </a:extLst>
          </p:cNvPr>
          <p:cNvSpPr txBox="1">
            <a:spLocks/>
          </p:cNvSpPr>
          <p:nvPr/>
        </p:nvSpPr>
        <p:spPr>
          <a:xfrm>
            <a:off x="1676400" y="580079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t>Just a folder with some extras..</a:t>
            </a:r>
          </a:p>
        </p:txBody>
      </p:sp>
    </p:spTree>
    <p:extLst>
      <p:ext uri="{BB962C8B-B14F-4D97-AF65-F5344CB8AC3E}">
        <p14:creationId xmlns:p14="http://schemas.microsoft.com/office/powerpoint/2010/main" val="1246952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Repository log – take me to the past and back</a:t>
            </a:r>
          </a:p>
        </p:txBody>
      </p:sp>
      <p:sp>
        <p:nvSpPr>
          <p:cNvPr id="3" name="Zástupný symbol pro obsah 2"/>
          <p:cNvSpPr>
            <a:spLocks noGrp="1"/>
          </p:cNvSpPr>
          <p:nvPr>
            <p:ph idx="1"/>
          </p:nvPr>
        </p:nvSpPr>
        <p:spPr/>
        <p:txBody>
          <a:bodyPr/>
          <a:lstStyle/>
          <a:p>
            <a:endParaRPr lang="en-US" dirty="0"/>
          </a:p>
        </p:txBody>
      </p:sp>
      <p:pic>
        <p:nvPicPr>
          <p:cNvPr id="5" name="Picture 4" descr="GitHub Desktop showing a repository's History tab: a list of past commits with messages such as 'Organizing into matlab project' and 'Ignoring stuff', each with its author and date. The selected commit shows the nine files it changed and a side-by-side diff with added lines highlighted green and removed lines red.">
            <a:extLst>
              <a:ext uri="{FF2B5EF4-FFF2-40B4-BE49-F238E27FC236}">
                <a16:creationId xmlns:a16="http://schemas.microsoft.com/office/drawing/2014/main" id="{AA59CD16-06CB-40BE-A755-C26E7127657A}"/>
              </a:ext>
            </a:extLst>
          </p:cNvPr>
          <p:cNvPicPr>
            <a:picLocks noChangeAspect="1"/>
          </p:cNvPicPr>
          <p:nvPr/>
        </p:nvPicPr>
        <p:blipFill>
          <a:blip r:embed="rId2"/>
          <a:stretch>
            <a:fillRect/>
          </a:stretch>
        </p:blipFill>
        <p:spPr>
          <a:xfrm>
            <a:off x="2173045" y="1825625"/>
            <a:ext cx="7439372" cy="4780406"/>
          </a:xfrm>
          <a:prstGeom prst="rect">
            <a:avLst/>
          </a:prstGeom>
        </p:spPr>
      </p:pic>
    </p:spTree>
    <p:extLst>
      <p:ext uri="{BB962C8B-B14F-4D97-AF65-F5344CB8AC3E}">
        <p14:creationId xmlns:p14="http://schemas.microsoft.com/office/powerpoint/2010/main" val="1502009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Centralized and distributed repositories and GitHub</a:t>
            </a:r>
            <a:r>
              <a:t> (1 of 2)</a:t>
            </a:r>
            <a:endParaRPr lang="en-US" dirty="0"/>
          </a:p>
        </p:txBody>
      </p:sp>
      <p:pic>
        <p:nvPicPr>
          <p:cNvPr id="8" name="Obrázek 7" descr="A diagram comparing centralized and distributed version control systems. On the left, the centralized system shows a single central repository connected to two working copies, represented by two cartoon figures. On the right, the distributed system shows a full repository connected to two full repositories, with the full repositories depicted as larger cylinders, and the central full repository connected to the other full repository with lines."/>
          <p:cNvPicPr>
            <a:picLocks noChangeAspect="1"/>
          </p:cNvPicPr>
          <p:nvPr/>
        </p:nvPicPr>
        <p:blipFill>
          <a:blip r:embed="rId2"/>
          <a:stretch>
            <a:fillRect/>
          </a:stretch>
        </p:blipFill>
        <p:spPr>
          <a:xfrm>
            <a:off x="873452" y="3650810"/>
            <a:ext cx="5952103" cy="3206974"/>
          </a:xfrm>
          <a:prstGeom prst="rect">
            <a:avLst/>
          </a:prstGeom>
        </p:spPr>
      </p:pic>
      <p:sp>
        <p:nvSpPr>
          <p:cNvPr id="3" name="Zástupný symbol pro obsah 2"/>
          <p:cNvSpPr>
            <a:spLocks noGrp="1"/>
          </p:cNvSpPr>
          <p:nvPr>
            <p:ph sz="half" idx="1"/>
          </p:nvPr>
        </p:nvSpPr>
        <p:spPr>
          <a:xfrm>
            <a:off x="84885" y="1721068"/>
            <a:ext cx="4100809" cy="2188202"/>
          </a:xfrm>
        </p:spPr>
        <p:txBody>
          <a:bodyPr>
            <a:normAutofit/>
          </a:bodyPr>
          <a:lstStyle/>
          <a:p>
            <a:r>
              <a:rPr lang="en-US" dirty="0"/>
              <a:t>Centralized repositories:</a:t>
            </a:r>
            <a:br>
              <a:rPr lang="en-US" dirty="0"/>
            </a:br>
            <a:r>
              <a:rPr lang="en-US" dirty="0"/>
              <a:t>All history on </a:t>
            </a:r>
            <a:r>
              <a:rPr lang="en-US" b="1" dirty="0"/>
              <a:t>ONE</a:t>
            </a:r>
            <a:r>
              <a:rPr lang="en-US" dirty="0"/>
              <a:t> place</a:t>
            </a:r>
            <a:br>
              <a:rPr lang="en-US" dirty="0"/>
            </a:br>
            <a:r>
              <a:rPr lang="en-US" dirty="0"/>
              <a:t>(CVS, SVN…)</a:t>
            </a:r>
          </a:p>
          <a:p>
            <a:r>
              <a:rPr lang="en-US" dirty="0"/>
              <a:t>Users pull </a:t>
            </a:r>
            <a:r>
              <a:rPr lang="en-US" i="1" dirty="0"/>
              <a:t>working copies</a:t>
            </a:r>
          </a:p>
        </p:txBody>
      </p:sp>
      <p:sp>
        <p:nvSpPr>
          <p:cNvPr id="10" name="Zástupný symbol pro obsah 9"/>
          <p:cNvSpPr>
            <a:spLocks noGrp="1"/>
          </p:cNvSpPr>
          <p:nvPr>
            <p:ph sz="half" idx="2"/>
          </p:nvPr>
        </p:nvSpPr>
        <p:spPr>
          <a:xfrm>
            <a:off x="8842738" y="1733601"/>
            <a:ext cx="2812409" cy="4351338"/>
          </a:xfrm>
        </p:spPr>
        <p:txBody>
          <a:bodyPr>
            <a:normAutofit/>
          </a:bodyPr>
          <a:lstStyle/>
          <a:p>
            <a:r>
              <a:rPr lang="en-US" b="1" dirty="0"/>
              <a:t>GitHub</a:t>
            </a:r>
            <a:r>
              <a:rPr lang="en-US" dirty="0"/>
              <a:t> (GitLab) adds WebUI to the server</a:t>
            </a:r>
          </a:p>
          <a:p>
            <a:endParaRPr lang="en-US" dirty="0"/>
          </a:p>
        </p:txBody>
      </p:sp>
      <p:sp>
        <p:nvSpPr>
          <p:cNvPr id="4" name="Obdélník 3"/>
          <p:cNvSpPr/>
          <p:nvPr/>
        </p:nvSpPr>
        <p:spPr>
          <a:xfrm>
            <a:off x="7370832" y="6597725"/>
            <a:ext cx="3168240" cy="276999"/>
          </a:xfrm>
          <a:prstGeom prst="rect">
            <a:avLst/>
          </a:prstGeom>
        </p:spPr>
        <p:txBody>
          <a:bodyPr wrap="none">
            <a:spAutoFit/>
          </a:bodyPr>
          <a:lstStyle/>
          <a:p>
            <a:r>
              <a:rPr lang="en-US" sz="1400" dirty="0"/>
              <a:t>https://doi.org/10.7287/peerj.preprints.3159v2</a:t>
            </a:r>
          </a:p>
        </p:txBody>
      </p:sp>
      <p:sp>
        <p:nvSpPr>
          <p:cNvPr id="5" name="Obdélník 4"/>
          <p:cNvSpPr/>
          <p:nvPr/>
        </p:nvSpPr>
        <p:spPr>
          <a:xfrm>
            <a:off x="0" y="6616709"/>
            <a:ext cx="3194785" cy="276999"/>
          </a:xfrm>
          <a:prstGeom prst="rect">
            <a:avLst/>
          </a:prstGeom>
        </p:spPr>
        <p:txBody>
          <a:bodyPr wrap="none">
            <a:spAutoFit/>
          </a:bodyPr>
          <a:lstStyle/>
          <a:p>
            <a:r>
              <a:rPr lang="en-US" sz="1400" dirty="0"/>
              <a:t>https://www.atlassian.com/git/tutorials/why-git</a:t>
            </a:r>
          </a:p>
        </p:txBody>
      </p:sp>
      <p:pic>
        <p:nvPicPr>
          <p:cNvPr id="9" name="Obrázek 8" descr="A diagram showing a central remote repository connected to three components: a yellow user icon labeled 'Your repo,' a red user icon labeled 'Their repo,' and a blue cat icon representing a web UI. The central repository is linked to the web UI and both user repositories, indicating data flow between them."/>
          <p:cNvPicPr>
            <a:picLocks noChangeAspect="1"/>
          </p:cNvPicPr>
          <p:nvPr/>
        </p:nvPicPr>
        <p:blipFill>
          <a:blip r:embed="rId3"/>
          <a:stretch>
            <a:fillRect/>
          </a:stretch>
        </p:blipFill>
        <p:spPr>
          <a:xfrm>
            <a:off x="7700962" y="3604724"/>
            <a:ext cx="3652838" cy="2762250"/>
          </a:xfrm>
          <a:prstGeom prst="rect">
            <a:avLst/>
          </a:prstGeom>
        </p:spPr>
      </p:pic>
      <p:sp>
        <p:nvSpPr>
          <p:cNvPr id="6" name="Zástupný symbol pro obsah 2">
            <a:extLst>
              <a:ext uri="{FF2B5EF4-FFF2-40B4-BE49-F238E27FC236}">
                <a16:creationId xmlns:a16="http://schemas.microsoft.com/office/drawing/2014/main" id="{49E54CCB-3D12-0E9A-3AC2-9BD780702733}"/>
              </a:ext>
            </a:extLst>
          </p:cNvPr>
          <p:cNvSpPr txBox="1">
            <a:spLocks/>
          </p:cNvSpPr>
          <p:nvPr/>
        </p:nvSpPr>
        <p:spPr>
          <a:xfrm>
            <a:off x="4185695" y="1690688"/>
            <a:ext cx="417398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Distributed repositories: Full history local</a:t>
            </a:r>
            <a:r>
              <a:rPr lang="en-US" dirty="0" err="1"/>
              <a:t>ly</a:t>
            </a:r>
            <a:r>
              <a:rPr lang="en-US" dirty="0"/>
              <a:t> </a:t>
            </a:r>
            <a:br>
              <a:rPr lang="en-US" dirty="0"/>
            </a:br>
            <a:r>
              <a:rPr lang="en-US" dirty="0"/>
              <a:t>(local repositor</a:t>
            </a:r>
            <a:r>
              <a:rPr lang="en-US" dirty="0" err="1"/>
              <a:t>ies</a:t>
            </a:r>
            <a:r>
              <a:rPr lang="en-US" dirty="0"/>
              <a:t>)</a:t>
            </a:r>
          </a:p>
          <a:p>
            <a:r>
              <a:rPr lang="en-US" dirty="0"/>
              <a:t>Users synchronize their versions using pull / push</a:t>
            </a:r>
          </a:p>
          <a:p>
            <a:pPr lvl="4"/>
            <a:r>
              <a:rPr lang="en-US" dirty="0"/>
              <a:t>(Git, Mercurial…)</a:t>
            </a:r>
          </a:p>
        </p:txBody>
      </p:sp>
    </p:spTree>
    <p:extLst>
      <p:ext uri="{BB962C8B-B14F-4D97-AF65-F5344CB8AC3E}">
        <p14:creationId xmlns:p14="http://schemas.microsoft.com/office/powerpoint/2010/main" val="4012878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Centralized and distributed repositories and GitHub</a:t>
            </a:r>
            <a:r>
              <a:t> (2 of 2)</a:t>
            </a:r>
            <a:endParaRPr lang="en-US" dirty="0"/>
          </a:p>
        </p:txBody>
      </p:sp>
      <p:pic>
        <p:nvPicPr>
          <p:cNvPr id="8" name="Obrázek 7" descr="A diagram comparing centralized and distributed version control systems. On the left, the centralized system shows a single central repository connected to two working copies, represented by two cartoon figures. On the right, the distributed system shows a full repository connected to two full repositories, with the full repositories depicted as larger cylinders, and the central full repository connected to the other full repository with lines."/>
          <p:cNvPicPr>
            <a:picLocks noChangeAspect="1"/>
          </p:cNvPicPr>
          <p:nvPr/>
        </p:nvPicPr>
        <p:blipFill>
          <a:blip r:embed="rId2"/>
          <a:stretch>
            <a:fillRect/>
          </a:stretch>
        </p:blipFill>
        <p:spPr>
          <a:xfrm>
            <a:off x="873452" y="3650810"/>
            <a:ext cx="5952103" cy="3206974"/>
          </a:xfrm>
          <a:prstGeom prst="rect">
            <a:avLst/>
          </a:prstGeom>
        </p:spPr>
      </p:pic>
      <p:sp>
        <p:nvSpPr>
          <p:cNvPr id="3" name="Zástupný symbol pro obsah 2"/>
          <p:cNvSpPr>
            <a:spLocks noGrp="1"/>
          </p:cNvSpPr>
          <p:nvPr>
            <p:ph sz="half" idx="1"/>
          </p:nvPr>
        </p:nvSpPr>
        <p:spPr>
          <a:xfrm>
            <a:off x="84885" y="1721068"/>
            <a:ext cx="4100809" cy="2188202"/>
          </a:xfrm>
        </p:spPr>
        <p:txBody>
          <a:bodyPr>
            <a:normAutofit/>
          </a:bodyPr>
          <a:lstStyle/>
          <a:p>
            <a:r>
              <a:rPr lang="en-US" dirty="0"/>
              <a:t>Centralized repositories:</a:t>
            </a:r>
            <a:br>
              <a:rPr lang="en-US" dirty="0"/>
            </a:br>
            <a:r>
              <a:rPr lang="en-US" dirty="0"/>
              <a:t>All history on </a:t>
            </a:r>
            <a:r>
              <a:rPr lang="en-US" b="1" dirty="0"/>
              <a:t>ONE</a:t>
            </a:r>
            <a:r>
              <a:rPr lang="en-US" dirty="0"/>
              <a:t> place</a:t>
            </a:r>
            <a:br>
              <a:rPr lang="en-US" dirty="0"/>
            </a:br>
            <a:r>
              <a:rPr lang="en-US" dirty="0"/>
              <a:t>(CVS, SVN…)</a:t>
            </a:r>
          </a:p>
          <a:p>
            <a:r>
              <a:rPr lang="en-US" dirty="0"/>
              <a:t>Users pull </a:t>
            </a:r>
            <a:r>
              <a:rPr lang="en-US" i="1" dirty="0"/>
              <a:t>working copies</a:t>
            </a:r>
          </a:p>
        </p:txBody>
      </p:sp>
      <p:sp>
        <p:nvSpPr>
          <p:cNvPr id="10" name="Zástupný symbol pro obsah 9"/>
          <p:cNvSpPr>
            <a:spLocks noGrp="1"/>
          </p:cNvSpPr>
          <p:nvPr>
            <p:ph sz="half" idx="2"/>
          </p:nvPr>
        </p:nvSpPr>
        <p:spPr>
          <a:xfrm>
            <a:off x="8842738" y="1733601"/>
            <a:ext cx="2812409" cy="4351338"/>
          </a:xfrm>
        </p:spPr>
        <p:txBody>
          <a:bodyPr>
            <a:normAutofit/>
          </a:bodyPr>
          <a:lstStyle/>
          <a:p>
            <a:r>
              <a:rPr lang="en-US" dirty="0"/>
              <a:t>GitHub (GitLab) adds WebUI to the server</a:t>
            </a:r>
          </a:p>
          <a:p>
            <a:endParaRPr lang="en-US" dirty="0"/>
          </a:p>
        </p:txBody>
      </p:sp>
      <p:sp>
        <p:nvSpPr>
          <p:cNvPr id="4" name="Obdélník 3"/>
          <p:cNvSpPr/>
          <p:nvPr/>
        </p:nvSpPr>
        <p:spPr>
          <a:xfrm>
            <a:off x="7370832" y="6597725"/>
            <a:ext cx="3168240" cy="276999"/>
          </a:xfrm>
          <a:prstGeom prst="rect">
            <a:avLst/>
          </a:prstGeom>
        </p:spPr>
        <p:txBody>
          <a:bodyPr wrap="none">
            <a:spAutoFit/>
          </a:bodyPr>
          <a:lstStyle/>
          <a:p>
            <a:r>
              <a:rPr lang="en-US" sz="1400" dirty="0"/>
              <a:t>https://doi.org/10.7287/peerj.preprints.3159v2</a:t>
            </a:r>
          </a:p>
        </p:txBody>
      </p:sp>
      <p:sp>
        <p:nvSpPr>
          <p:cNvPr id="5" name="Obdélník 4"/>
          <p:cNvSpPr/>
          <p:nvPr/>
        </p:nvSpPr>
        <p:spPr>
          <a:xfrm>
            <a:off x="0" y="6616709"/>
            <a:ext cx="3194785" cy="276999"/>
          </a:xfrm>
          <a:prstGeom prst="rect">
            <a:avLst/>
          </a:prstGeom>
        </p:spPr>
        <p:txBody>
          <a:bodyPr wrap="none">
            <a:spAutoFit/>
          </a:bodyPr>
          <a:lstStyle/>
          <a:p>
            <a:r>
              <a:rPr lang="en-US" sz="1400" dirty="0"/>
              <a:t>https://www.atlassian.com/git/tutorials/why-git</a:t>
            </a:r>
          </a:p>
        </p:txBody>
      </p:sp>
      <p:pic>
        <p:nvPicPr>
          <p:cNvPr id="9" name="Obrázek 8" descr="A diagram showing a central remote repository connected to three components: a yellow user icon labeled 'Your repo,' a red user icon labeled 'Their repo,' and a blue cat icon representing a web UI. The central repository is linked to the web UI and both user repositories, indicating data flow between them."/>
          <p:cNvPicPr>
            <a:picLocks noChangeAspect="1"/>
          </p:cNvPicPr>
          <p:nvPr/>
        </p:nvPicPr>
        <p:blipFill>
          <a:blip r:embed="rId3"/>
          <a:stretch>
            <a:fillRect/>
          </a:stretch>
        </p:blipFill>
        <p:spPr>
          <a:xfrm>
            <a:off x="7700962" y="3604724"/>
            <a:ext cx="3652838" cy="2762250"/>
          </a:xfrm>
          <a:prstGeom prst="rect">
            <a:avLst/>
          </a:prstGeom>
        </p:spPr>
      </p:pic>
      <p:sp>
        <p:nvSpPr>
          <p:cNvPr id="6" name="Zástupný symbol pro obsah 2">
            <a:extLst>
              <a:ext uri="{FF2B5EF4-FFF2-40B4-BE49-F238E27FC236}">
                <a16:creationId xmlns:a16="http://schemas.microsoft.com/office/drawing/2014/main" id="{49E54CCB-3D12-0E9A-3AC2-9BD780702733}"/>
              </a:ext>
            </a:extLst>
          </p:cNvPr>
          <p:cNvSpPr txBox="1">
            <a:spLocks/>
          </p:cNvSpPr>
          <p:nvPr/>
        </p:nvSpPr>
        <p:spPr>
          <a:xfrm>
            <a:off x="4185695" y="1690688"/>
            <a:ext cx="417398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Distributed repositories: Full history local</a:t>
            </a:r>
            <a:r>
              <a:rPr lang="en-US" dirty="0" err="1"/>
              <a:t>ly</a:t>
            </a:r>
            <a:r>
              <a:rPr lang="en-US" dirty="0"/>
              <a:t> </a:t>
            </a:r>
            <a:br>
              <a:rPr lang="en-US" dirty="0"/>
            </a:br>
            <a:r>
              <a:rPr lang="en-US" dirty="0"/>
              <a:t>(local repositor</a:t>
            </a:r>
            <a:r>
              <a:rPr lang="en-US" dirty="0" err="1"/>
              <a:t>ies</a:t>
            </a:r>
            <a:r>
              <a:rPr lang="en-US" dirty="0"/>
              <a:t>)</a:t>
            </a:r>
          </a:p>
          <a:p>
            <a:r>
              <a:rPr lang="en-US" dirty="0"/>
              <a:t>Users synchronize their versions using pull / push</a:t>
            </a:r>
          </a:p>
          <a:p>
            <a:pPr lvl="4"/>
            <a:r>
              <a:rPr lang="en-US" dirty="0"/>
              <a:t>(Git, Mercurial…)</a:t>
            </a:r>
          </a:p>
        </p:txBody>
      </p:sp>
      <p:pic>
        <p:nvPicPr>
          <p:cNvPr id="2050" name="Picture 2" descr="A red circular warning icon with a white exclamation mark.">
            <a:extLst>
              <a:ext uri="{FF2B5EF4-FFF2-40B4-BE49-F238E27FC236}">
                <a16:creationId xmlns:a16="http://schemas.microsoft.com/office/drawing/2014/main" id="{C04DFBEF-F3EA-F941-964E-2B1E340D646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14834" y="4492185"/>
            <a:ext cx="594228" cy="5942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A red circular warning icon with a white exclamation mark.">
            <a:extLst>
              <a:ext uri="{FF2B5EF4-FFF2-40B4-BE49-F238E27FC236}">
                <a16:creationId xmlns:a16="http://schemas.microsoft.com/office/drawing/2014/main" id="{C2FB5D5F-923C-B8B5-7606-43FDE70FC14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18418" y="5899204"/>
            <a:ext cx="594228" cy="594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4622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20F94-7055-A6C3-9349-CBE22E4E1552}"/>
              </a:ext>
            </a:extLst>
          </p:cNvPr>
          <p:cNvSpPr>
            <a:spLocks noGrp="1"/>
          </p:cNvSpPr>
          <p:nvPr>
            <p:ph type="title"/>
          </p:nvPr>
        </p:nvSpPr>
        <p:spPr/>
        <p:txBody>
          <a:bodyPr/>
          <a:lstStyle/>
          <a:p>
            <a:r>
              <a:rPr lang="en-US" dirty="0"/>
              <a:t>Distributed repositories</a:t>
            </a:r>
          </a:p>
        </p:txBody>
      </p:sp>
      <p:sp>
        <p:nvSpPr>
          <p:cNvPr id="3" name="Content Placeholder 2">
            <a:extLst>
              <a:ext uri="{FF2B5EF4-FFF2-40B4-BE49-F238E27FC236}">
                <a16:creationId xmlns:a16="http://schemas.microsoft.com/office/drawing/2014/main" id="{E2908A99-6477-8CF7-618A-77DFF7305929}"/>
              </a:ext>
            </a:extLst>
          </p:cNvPr>
          <p:cNvSpPr>
            <a:spLocks noGrp="1"/>
          </p:cNvSpPr>
          <p:nvPr>
            <p:ph idx="1"/>
          </p:nvPr>
        </p:nvSpPr>
        <p:spPr/>
        <p:txBody>
          <a:bodyPr>
            <a:normAutofit/>
          </a:bodyPr>
          <a:lstStyle/>
          <a:p>
            <a:r>
              <a:rPr lang="en-US" dirty="0"/>
              <a:t>Everyone retains a copy of </a:t>
            </a:r>
            <a:r>
              <a:rPr lang="en-US" b="1" dirty="0"/>
              <a:t>ALL </a:t>
            </a:r>
            <a:r>
              <a:rPr lang="en-US" dirty="0"/>
              <a:t>history</a:t>
            </a:r>
          </a:p>
          <a:p>
            <a:pPr lvl="1"/>
            <a:r>
              <a:rPr lang="en-US" dirty="0"/>
              <a:t>What has been done, can’t be undone* </a:t>
            </a:r>
          </a:p>
          <a:p>
            <a:pPr lvl="1"/>
            <a:r>
              <a:rPr lang="en-US" dirty="0"/>
              <a:t>Careful with </a:t>
            </a:r>
            <a:r>
              <a:rPr lang="en-US" b="1" dirty="0"/>
              <a:t>passwords</a:t>
            </a:r>
            <a:r>
              <a:rPr lang="en-US" dirty="0"/>
              <a:t> etc. – Internet never forgets!</a:t>
            </a:r>
          </a:p>
          <a:p>
            <a:pPr marL="0" indent="0">
              <a:buNone/>
            </a:pPr>
            <a:br>
              <a:rPr lang="en-US" dirty="0"/>
            </a:br>
            <a:endParaRPr lang="en-US" dirty="0"/>
          </a:p>
          <a:p>
            <a:r>
              <a:rPr lang="en-US" dirty="0"/>
              <a:t>Synchronization</a:t>
            </a:r>
          </a:p>
          <a:p>
            <a:pPr lvl="1"/>
            <a:r>
              <a:rPr lang="en-US" dirty="0"/>
              <a:t>1) Pull – update local repo</a:t>
            </a:r>
          </a:p>
          <a:p>
            <a:pPr lvl="1"/>
            <a:r>
              <a:rPr lang="en-US" dirty="0"/>
              <a:t>2) Merge </a:t>
            </a:r>
            <a:r>
              <a:rPr lang="en-US" b="1" dirty="0"/>
              <a:t>local</a:t>
            </a:r>
            <a:r>
              <a:rPr lang="en-US" dirty="0"/>
              <a:t> – sort out the </a:t>
            </a:r>
            <a:r>
              <a:rPr lang="en-US" b="1" dirty="0"/>
              <a:t>conflicts</a:t>
            </a:r>
          </a:p>
          <a:p>
            <a:pPr lvl="1"/>
            <a:r>
              <a:rPr lang="en-US" dirty="0"/>
              <a:t>3) Push – update server, conflict-free</a:t>
            </a:r>
          </a:p>
        </p:txBody>
      </p:sp>
      <p:sp>
        <p:nvSpPr>
          <p:cNvPr id="6" name="TextBox 5">
            <a:extLst>
              <a:ext uri="{FF2B5EF4-FFF2-40B4-BE49-F238E27FC236}">
                <a16:creationId xmlns:a16="http://schemas.microsoft.com/office/drawing/2014/main" id="{A709209F-5CAF-4F91-FF71-14A987248F63}"/>
              </a:ext>
            </a:extLst>
          </p:cNvPr>
          <p:cNvSpPr txBox="1"/>
          <p:nvPr/>
        </p:nvSpPr>
        <p:spPr>
          <a:xfrm>
            <a:off x="5240215" y="6400486"/>
            <a:ext cx="6953249" cy="461665"/>
          </a:xfrm>
          <a:prstGeom prst="rect">
            <a:avLst/>
          </a:prstGeom>
          <a:noFill/>
        </p:spPr>
        <p:txBody>
          <a:bodyPr wrap="square">
            <a:spAutoFit/>
          </a:bodyPr>
          <a:lstStyle/>
          <a:p>
            <a:pPr algn="r"/>
            <a:r>
              <a:rPr lang="en-US" sz="2400" dirty="0"/>
              <a:t>* Terms and conditions apply – e.g. force push </a:t>
            </a:r>
            <a:r>
              <a:rPr lang="en-US" sz="2400" dirty="0" err="1"/>
              <a:t>etc</a:t>
            </a:r>
            <a:endParaRPr lang="en-US" sz="2400" dirty="0"/>
          </a:p>
        </p:txBody>
      </p:sp>
      <p:pic>
        <p:nvPicPr>
          <p:cNvPr id="3074" name="Picture 2" descr="A widely-shared unflattering action photo of a singer performing on stage, used as the example of an image someone tried, and failed, to erase from the internet.">
            <a:extLst>
              <a:ext uri="{FF2B5EF4-FFF2-40B4-BE49-F238E27FC236}">
                <a16:creationId xmlns:a16="http://schemas.microsoft.com/office/drawing/2014/main" id="{156676EE-C13D-45F4-22FD-B954CD3A089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03493" y="1825625"/>
            <a:ext cx="2950307" cy="221004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DB659CA-A8B1-DFFF-1FF5-E97C9DCAF6C2}"/>
              </a:ext>
            </a:extLst>
          </p:cNvPr>
          <p:cNvSpPr txBox="1"/>
          <p:nvPr/>
        </p:nvSpPr>
        <p:spPr>
          <a:xfrm>
            <a:off x="8524143" y="4136819"/>
            <a:ext cx="2950307" cy="646331"/>
          </a:xfrm>
          <a:prstGeom prst="rect">
            <a:avLst/>
          </a:prstGeom>
          <a:noFill/>
        </p:spPr>
        <p:txBody>
          <a:bodyPr wrap="square">
            <a:spAutoFit/>
          </a:bodyPr>
          <a:lstStyle/>
          <a:p>
            <a:r>
              <a:rPr lang="en-US" dirty="0"/>
              <a:t>Pic of Beyonce, legally removed from the internet</a:t>
            </a:r>
          </a:p>
        </p:txBody>
      </p:sp>
    </p:spTree>
    <p:extLst>
      <p:ext uri="{BB962C8B-B14F-4D97-AF65-F5344CB8AC3E}">
        <p14:creationId xmlns:p14="http://schemas.microsoft.com/office/powerpoint/2010/main" val="1863412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GitHub</a:t>
            </a:r>
          </a:p>
        </p:txBody>
      </p:sp>
      <p:sp>
        <p:nvSpPr>
          <p:cNvPr id="3" name="Zástupný symbol pro obsah 2"/>
          <p:cNvSpPr>
            <a:spLocks noGrp="1"/>
          </p:cNvSpPr>
          <p:nvPr>
            <p:ph idx="1"/>
          </p:nvPr>
        </p:nvSpPr>
        <p:spPr>
          <a:xfrm>
            <a:off x="838200" y="1825625"/>
            <a:ext cx="4999373" cy="4351338"/>
          </a:xfrm>
        </p:spPr>
        <p:txBody>
          <a:bodyPr>
            <a:normAutofit fontScale="70000" lnSpcReduction="20000"/>
          </a:bodyPr>
          <a:lstStyle/>
          <a:p>
            <a:r>
              <a:rPr lang="en-US" dirty="0"/>
              <a:t>A public, free </a:t>
            </a:r>
            <a:r>
              <a:rPr lang="en-US" dirty="0" err="1"/>
              <a:t>git</a:t>
            </a:r>
            <a:r>
              <a:rPr lang="en-US" dirty="0"/>
              <a:t> repository </a:t>
            </a:r>
            <a:r>
              <a:rPr lang="en-US" b="1" dirty="0"/>
              <a:t>hosting</a:t>
            </a:r>
            <a:r>
              <a:rPr lang="en-US" dirty="0"/>
              <a:t> (one of many)</a:t>
            </a:r>
          </a:p>
          <a:p>
            <a:r>
              <a:rPr lang="en-US" dirty="0"/>
              <a:t>Reliable, trusted, owned by Microsoft</a:t>
            </a:r>
          </a:p>
          <a:p>
            <a:endParaRPr lang="en-US" dirty="0"/>
          </a:p>
          <a:p>
            <a:r>
              <a:rPr lang="en-US" dirty="0"/>
              <a:t>Public repositories with unlimited collaborators</a:t>
            </a:r>
          </a:p>
          <a:p>
            <a:r>
              <a:rPr lang="en-US" dirty="0"/>
              <a:t>Unlimited private repositories, free, with unlimited collaborators (since 2020)</a:t>
            </a:r>
          </a:p>
          <a:p>
            <a:endParaRPr lang="en-US" dirty="0"/>
          </a:p>
          <a:p>
            <a:r>
              <a:rPr lang="en-US" dirty="0"/>
              <a:t>We already have </a:t>
            </a:r>
            <a:r>
              <a:rPr lang="en-US" dirty="0">
                <a:hlinkClick r:id="rId2"/>
              </a:rPr>
              <a:t>the Beard lab on GitHub</a:t>
            </a:r>
            <a:r>
              <a:rPr lang="en-US" dirty="0"/>
              <a:t> </a:t>
            </a:r>
          </a:p>
          <a:p>
            <a:r>
              <a:rPr lang="en-US" dirty="0"/>
              <a:t>UMICH has enterprise license </a:t>
            </a:r>
            <a:r>
              <a:rPr lang="en-US" dirty="0">
                <a:hlinkClick r:id="rId3"/>
              </a:rPr>
              <a:t>U-M ITS GitHub service page</a:t>
            </a:r>
            <a:r>
              <a:rPr lang="en-US" dirty="0"/>
              <a:t> </a:t>
            </a:r>
          </a:p>
          <a:p>
            <a:endParaRPr lang="en-US" dirty="0"/>
          </a:p>
          <a:p>
            <a:endParaRPr lang="en-US" dirty="0"/>
          </a:p>
        </p:txBody>
      </p:sp>
      <p:pic>
        <p:nvPicPr>
          <p:cNvPr id="5" name="Obrázek 4" descr="A screenshot of the Daniel Beard Research Group organisation page on GitHub, listing 9 repositories, 6 people, and the repository 'Whole-body-cardiovascular' with MATLAB, Modelica and Jupyter Notebook among its top languages."/>
          <p:cNvPicPr>
            <a:picLocks noChangeAspect="1"/>
          </p:cNvPicPr>
          <p:nvPr/>
        </p:nvPicPr>
        <p:blipFill>
          <a:blip r:embed="rId4"/>
          <a:stretch>
            <a:fillRect/>
          </a:stretch>
        </p:blipFill>
        <p:spPr>
          <a:xfrm>
            <a:off x="5837573" y="2386366"/>
            <a:ext cx="6354427" cy="4471634"/>
          </a:xfrm>
          <a:prstGeom prst="rect">
            <a:avLst/>
          </a:prstGeom>
        </p:spPr>
      </p:pic>
      <p:pic>
        <p:nvPicPr>
          <p:cNvPr id="6" name="Obrázek 5" descr="The image features the GitHub logo, which is a black circle with a white silhouette of an octocat, a cat with octopus-like tentacles, inside it. Below the logo, the word &quot;GitHub&quot; is written in bold black letters."/>
          <p:cNvPicPr>
            <a:picLocks noChangeAspect="1"/>
          </p:cNvPicPr>
          <p:nvPr/>
        </p:nvPicPr>
        <p:blipFill>
          <a:blip r:embed="rId5"/>
          <a:stretch>
            <a:fillRect/>
          </a:stretch>
        </p:blipFill>
        <p:spPr>
          <a:xfrm>
            <a:off x="10802748" y="0"/>
            <a:ext cx="1328606" cy="1272346"/>
          </a:xfrm>
          <a:prstGeom prst="rect">
            <a:avLst/>
          </a:prstGeom>
        </p:spPr>
      </p:pic>
    </p:spTree>
    <p:extLst>
      <p:ext uri="{BB962C8B-B14F-4D97-AF65-F5344CB8AC3E}">
        <p14:creationId xmlns:p14="http://schemas.microsoft.com/office/powerpoint/2010/main" val="3259857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err="1"/>
              <a:t>GitLab</a:t>
            </a:r>
            <a:endParaRPr lang="en-US" dirty="0"/>
          </a:p>
        </p:txBody>
      </p:sp>
      <p:sp>
        <p:nvSpPr>
          <p:cNvPr id="3" name="Zástupný symbol pro obsah 2"/>
          <p:cNvSpPr>
            <a:spLocks noGrp="1"/>
          </p:cNvSpPr>
          <p:nvPr>
            <p:ph idx="1"/>
          </p:nvPr>
        </p:nvSpPr>
        <p:spPr/>
        <p:txBody>
          <a:bodyPr/>
          <a:lstStyle/>
          <a:p>
            <a:r>
              <a:rPr lang="en-US" dirty="0"/>
              <a:t>Open source repository hosting, Hosted by many free and paid services</a:t>
            </a:r>
          </a:p>
          <a:p>
            <a:r>
              <a:rPr lang="en-US" dirty="0"/>
              <a:t>Unlimited private repositories, collaborators, etc..</a:t>
            </a:r>
          </a:p>
          <a:p>
            <a:endParaRPr lang="en-US" dirty="0"/>
          </a:p>
          <a:p>
            <a:r>
              <a:rPr lang="en-US" dirty="0"/>
              <a:t>UMICH ran a GitLab pilot — retired July 2023, everything moved to GitHub</a:t>
            </a:r>
          </a:p>
        </p:txBody>
      </p:sp>
      <p:pic>
        <p:nvPicPr>
          <p:cNvPr id="2050" name="Picture 2" descr="The GitLab logo: a stylised orange and red fox-head mark beside the word GitLab in gre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03096" y="0"/>
            <a:ext cx="4106007" cy="1813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9692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Process</a:t>
            </a:r>
          </a:p>
        </p:txBody>
      </p:sp>
      <p:sp>
        <p:nvSpPr>
          <p:cNvPr id="3" name="Zástupný symbol pro obsah 2"/>
          <p:cNvSpPr>
            <a:spLocks noGrp="1"/>
          </p:cNvSpPr>
          <p:nvPr>
            <p:ph idx="1"/>
          </p:nvPr>
        </p:nvSpPr>
        <p:spPr>
          <a:xfrm>
            <a:off x="838200" y="1825625"/>
            <a:ext cx="10515600" cy="707850"/>
          </a:xfrm>
        </p:spPr>
        <p:txBody>
          <a:bodyPr/>
          <a:lstStyle/>
          <a:p>
            <a:r>
              <a:rPr lang="en-US" dirty="0"/>
              <a:t>DO THIS AS OFTEN AS POSSIBLE</a:t>
            </a:r>
          </a:p>
        </p:txBody>
      </p:sp>
      <p:sp>
        <p:nvSpPr>
          <p:cNvPr id="4" name="Vývojový diagram: alternativní postup 3"/>
          <p:cNvSpPr/>
          <p:nvPr/>
        </p:nvSpPr>
        <p:spPr>
          <a:xfrm>
            <a:off x="381414" y="3925539"/>
            <a:ext cx="1451296" cy="763398"/>
          </a:xfrm>
          <a:prstGeom prst="flowChartAlternateProcess">
            <a:avLst/>
          </a:prstGeom>
          <a:solidFill>
            <a:srgbClr val="1F4E79"/>
          </a:solidFill>
          <a:ln>
            <a:solidFill>
              <a:srgbClr val="14385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FF"/>
                </a:solidFill>
              </a:rPr>
              <a:t>File system</a:t>
            </a:r>
            <a:endParaRPr lang="en-US" dirty="0"/>
          </a:p>
        </p:txBody>
      </p:sp>
      <p:sp>
        <p:nvSpPr>
          <p:cNvPr id="5" name="Vývojový diagram: alternativní postup 4"/>
          <p:cNvSpPr/>
          <p:nvPr/>
        </p:nvSpPr>
        <p:spPr>
          <a:xfrm>
            <a:off x="5412298" y="3929988"/>
            <a:ext cx="1451296" cy="763398"/>
          </a:xfrm>
          <a:prstGeom prst="flowChartAlternateProcess">
            <a:avLst/>
          </a:prstGeom>
          <a:solidFill>
            <a:srgbClr val="1F4E79"/>
          </a:solidFill>
          <a:ln>
            <a:solidFill>
              <a:srgbClr val="14385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FF"/>
                </a:solidFill>
              </a:rPr>
              <a:t>Local</a:t>
            </a:r>
          </a:p>
          <a:p>
            <a:pPr algn="ctr"/>
            <a:r>
              <a:rPr lang="en-US" dirty="0">
                <a:solidFill>
                  <a:srgbClr val="FFFFFF"/>
                </a:solidFill>
              </a:rPr>
              <a:t>Repository</a:t>
            </a:r>
          </a:p>
        </p:txBody>
      </p:sp>
      <p:sp>
        <p:nvSpPr>
          <p:cNvPr id="6" name="Vývojový diagram: alternativní postup 5"/>
          <p:cNvSpPr/>
          <p:nvPr/>
        </p:nvSpPr>
        <p:spPr>
          <a:xfrm>
            <a:off x="9902504" y="3925539"/>
            <a:ext cx="1451296" cy="763398"/>
          </a:xfrm>
          <a:prstGeom prst="flowChartAlternateProcess">
            <a:avLst/>
          </a:prstGeom>
          <a:solidFill>
            <a:srgbClr val="1F4E79"/>
          </a:solidFill>
          <a:ln>
            <a:solidFill>
              <a:srgbClr val="14385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FF"/>
                </a:solidFill>
              </a:rPr>
              <a:t>Remote</a:t>
            </a:r>
          </a:p>
          <a:p>
            <a:pPr algn="ctr"/>
            <a:r>
              <a:rPr lang="en-US" dirty="0">
                <a:solidFill>
                  <a:srgbClr val="FFFFFF"/>
                </a:solidFill>
              </a:rPr>
              <a:t>Repository</a:t>
            </a:r>
          </a:p>
        </p:txBody>
      </p:sp>
      <p:pic>
        <p:nvPicPr>
          <p:cNvPr id="7" name="Obrázek 6" descr="An icon of a document with three horizontal lines representing text."/>
          <p:cNvPicPr>
            <a:picLocks noChangeAspect="1"/>
          </p:cNvPicPr>
          <p:nvPr/>
        </p:nvPicPr>
        <p:blipFill>
          <a:blip r:embed="rId2"/>
          <a:stretch>
            <a:fillRect/>
          </a:stretch>
        </p:blipFill>
        <p:spPr>
          <a:xfrm>
            <a:off x="704107" y="2933256"/>
            <a:ext cx="805911" cy="805911"/>
          </a:xfrm>
          <a:prstGeom prst="rect">
            <a:avLst/>
          </a:prstGeom>
        </p:spPr>
      </p:pic>
      <p:pic>
        <p:nvPicPr>
          <p:cNvPr id="8" name="Obrázek 7" descr="A DeLorean car with a glowing license plate &quot;OUTATIME&quot; leaves fiery tire tracks as it speeds away, beneath the title &quot;Back to the Future&quot; in bold, colorful letters."/>
          <p:cNvPicPr>
            <a:picLocks noChangeAspect="1"/>
          </p:cNvPicPr>
          <p:nvPr/>
        </p:nvPicPr>
        <p:blipFill rotWithShape="1">
          <a:blip r:embed="rId3"/>
          <a:srcRect l="-7766" t="19009" r="-1"/>
          <a:stretch/>
        </p:blipFill>
        <p:spPr>
          <a:xfrm>
            <a:off x="5369370" y="2295152"/>
            <a:ext cx="1537150" cy="1592860"/>
          </a:xfrm>
          <a:prstGeom prst="rect">
            <a:avLst/>
          </a:prstGeom>
        </p:spPr>
      </p:pic>
      <p:pic>
        <p:nvPicPr>
          <p:cNvPr id="9" name="Obrázek 8" descr="The image features the GitHub logo, which is a black circle with a white silhouette of an octocat, a cat with octopus-like tentacles, inside it. Below the logo, the word &quot;GitHub&quot; is written in bold black letters."/>
          <p:cNvPicPr>
            <a:picLocks noChangeAspect="1"/>
          </p:cNvPicPr>
          <p:nvPr/>
        </p:nvPicPr>
        <p:blipFill>
          <a:blip r:embed="rId4"/>
          <a:stretch>
            <a:fillRect/>
          </a:stretch>
        </p:blipFill>
        <p:spPr>
          <a:xfrm>
            <a:off x="10980391" y="2969988"/>
            <a:ext cx="958617" cy="918024"/>
          </a:xfrm>
          <a:prstGeom prst="rect">
            <a:avLst/>
          </a:prstGeom>
        </p:spPr>
      </p:pic>
      <p:cxnSp>
        <p:nvCxnSpPr>
          <p:cNvPr id="22" name="Zakřivená spojnice 21" descr="Arrow from Local Repository to Remote Repository, labelled Push"/>
          <p:cNvCxnSpPr>
            <a:stCxn id="5" idx="2"/>
            <a:endCxn id="6" idx="2"/>
          </p:cNvCxnSpPr>
          <p:nvPr/>
        </p:nvCxnSpPr>
        <p:spPr>
          <a:xfrm rot="5400000" flipH="1" flipV="1">
            <a:off x="8380824" y="2446059"/>
            <a:ext cx="4449" cy="4490206"/>
          </a:xfrm>
          <a:prstGeom prst="curvedConnector3">
            <a:avLst>
              <a:gd name="adj1" fmla="val -1268067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Přímá spojnice se šipkou 30" descr="Arrow from Remote Repository to Local Repository, labelled Pull"/>
          <p:cNvCxnSpPr>
            <a:stCxn id="6" idx="1"/>
            <a:endCxn id="5" idx="3"/>
          </p:cNvCxnSpPr>
          <p:nvPr/>
        </p:nvCxnSpPr>
        <p:spPr>
          <a:xfrm flipH="1">
            <a:off x="6863594" y="4307238"/>
            <a:ext cx="3038910" cy="44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Obdélník 37" descr="The staging area"/>
          <p:cNvSpPr/>
          <p:nvPr/>
        </p:nvSpPr>
        <p:spPr>
          <a:xfrm>
            <a:off x="3036354" y="3925539"/>
            <a:ext cx="75961" cy="7633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Přímá spojnice se šipkou 39" descr="Arrow from the staging area to Local Repository, labelled Commit"/>
          <p:cNvCxnSpPr>
            <a:stCxn id="38" idx="3"/>
            <a:endCxn id="5" idx="1"/>
          </p:cNvCxnSpPr>
          <p:nvPr/>
        </p:nvCxnSpPr>
        <p:spPr>
          <a:xfrm>
            <a:off x="3112315" y="4307238"/>
            <a:ext cx="2299983" cy="4449"/>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42" name="Přímá spojnice se šipkou 41" descr="Arrow from File system to the staging area, labelled Stage"/>
          <p:cNvCxnSpPr>
            <a:stCxn id="4" idx="3"/>
            <a:endCxn id="38" idx="1"/>
          </p:cNvCxnSpPr>
          <p:nvPr/>
        </p:nvCxnSpPr>
        <p:spPr>
          <a:xfrm>
            <a:off x="1832710" y="4307238"/>
            <a:ext cx="12036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ovéPole 43"/>
          <p:cNvSpPr txBox="1"/>
          <p:nvPr/>
        </p:nvSpPr>
        <p:spPr>
          <a:xfrm>
            <a:off x="2094454" y="4307238"/>
            <a:ext cx="697692" cy="369332"/>
          </a:xfrm>
          <a:prstGeom prst="rect">
            <a:avLst/>
          </a:prstGeom>
          <a:noFill/>
        </p:spPr>
        <p:txBody>
          <a:bodyPr wrap="none" rtlCol="0">
            <a:spAutoFit/>
          </a:bodyPr>
          <a:lstStyle/>
          <a:p>
            <a:r>
              <a:rPr lang="en-US" dirty="0"/>
              <a:t>Stage</a:t>
            </a:r>
          </a:p>
        </p:txBody>
      </p:sp>
      <p:sp>
        <p:nvSpPr>
          <p:cNvPr id="45" name="TextovéPole 44"/>
          <p:cNvSpPr txBox="1"/>
          <p:nvPr/>
        </p:nvSpPr>
        <p:spPr>
          <a:xfrm>
            <a:off x="3507131" y="4307238"/>
            <a:ext cx="1534394" cy="584775"/>
          </a:xfrm>
          <a:prstGeom prst="rect">
            <a:avLst/>
          </a:prstGeom>
          <a:noFill/>
        </p:spPr>
        <p:txBody>
          <a:bodyPr wrap="none" rtlCol="0">
            <a:spAutoFit/>
          </a:bodyPr>
          <a:lstStyle/>
          <a:p>
            <a:r>
              <a:rPr lang="en-US" sz="3200" b="1" dirty="0"/>
              <a:t>Commit</a:t>
            </a:r>
          </a:p>
        </p:txBody>
      </p:sp>
      <p:sp>
        <p:nvSpPr>
          <p:cNvPr id="46" name="TextovéPole 45"/>
          <p:cNvSpPr txBox="1"/>
          <p:nvPr/>
        </p:nvSpPr>
        <p:spPr>
          <a:xfrm>
            <a:off x="7977226" y="4319605"/>
            <a:ext cx="530915" cy="369332"/>
          </a:xfrm>
          <a:prstGeom prst="rect">
            <a:avLst/>
          </a:prstGeom>
          <a:noFill/>
        </p:spPr>
        <p:txBody>
          <a:bodyPr wrap="none" rtlCol="0">
            <a:spAutoFit/>
          </a:bodyPr>
          <a:lstStyle/>
          <a:p>
            <a:r>
              <a:rPr lang="en-US" dirty="0"/>
              <a:t>Pull</a:t>
            </a:r>
          </a:p>
        </p:txBody>
      </p:sp>
      <p:sp>
        <p:nvSpPr>
          <p:cNvPr id="50" name="TextovéPole 49"/>
          <p:cNvSpPr txBox="1"/>
          <p:nvPr/>
        </p:nvSpPr>
        <p:spPr>
          <a:xfrm>
            <a:off x="8019867" y="5267670"/>
            <a:ext cx="636713" cy="369332"/>
          </a:xfrm>
          <a:prstGeom prst="rect">
            <a:avLst/>
          </a:prstGeom>
          <a:noFill/>
        </p:spPr>
        <p:txBody>
          <a:bodyPr wrap="none" rtlCol="0">
            <a:spAutoFit/>
          </a:bodyPr>
          <a:lstStyle/>
          <a:p>
            <a:r>
              <a:rPr lang="en-US" dirty="0"/>
              <a:t>Push</a:t>
            </a:r>
          </a:p>
        </p:txBody>
      </p:sp>
      <p:sp>
        <p:nvSpPr>
          <p:cNvPr id="51" name="Vývojový diagram: alternativní postup 50">
            <a:extLst>
              <a:ext uri="{C183D7F6-B498-43B3-948B-1728B52AA6E4}">
                <adec:decorative xmlns:adec="http://schemas.microsoft.com/office/drawing/2017/decorative" val="1"/>
              </a:ext>
            </a:extLst>
          </p:cNvPr>
          <p:cNvSpPr/>
          <p:nvPr/>
        </p:nvSpPr>
        <p:spPr>
          <a:xfrm>
            <a:off x="243281" y="2248250"/>
            <a:ext cx="7038363" cy="2793533"/>
          </a:xfrm>
          <a:prstGeom prst="flowChartAlternateProcess">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Zástupný symbol pro obsah 2"/>
          <p:cNvSpPr txBox="1">
            <a:spLocks/>
          </p:cNvSpPr>
          <p:nvPr/>
        </p:nvSpPr>
        <p:spPr>
          <a:xfrm>
            <a:off x="6830037" y="5637001"/>
            <a:ext cx="5229691" cy="10406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Do this for collaboration and backup</a:t>
            </a:r>
          </a:p>
        </p:txBody>
      </p:sp>
      <p:pic>
        <p:nvPicPr>
          <p:cNvPr id="53" name="Obrázek 52" descr="&quot;Text on a plain background reads: DECIDE. COMMIT. SUCCEED.&quot;"/>
          <p:cNvPicPr>
            <a:picLocks noChangeAspect="1"/>
          </p:cNvPicPr>
          <p:nvPr/>
        </p:nvPicPr>
        <p:blipFill>
          <a:blip r:embed="rId5"/>
          <a:stretch>
            <a:fillRect/>
          </a:stretch>
        </p:blipFill>
        <p:spPr>
          <a:xfrm>
            <a:off x="9592753" y="99218"/>
            <a:ext cx="2466975" cy="1857375"/>
          </a:xfrm>
          <a:prstGeom prst="rect">
            <a:avLst/>
          </a:prstGeom>
        </p:spPr>
      </p:pic>
      <p:pic>
        <p:nvPicPr>
          <p:cNvPr id="3074" name="Picture 2" descr="A simple grey outline icon of a cloud, representing a remote serv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928267" y="3070532"/>
            <a:ext cx="1837606" cy="103365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 small icon of a tower server connected to a network cable, representing a remote serv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117022" y="2907728"/>
            <a:ext cx="1022260" cy="1022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5634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err="1"/>
              <a:t>Process</a:t>
            </a:r>
            <a:r>
              <a:rPr lang="en-US" dirty="0"/>
              <a:t> - </a:t>
            </a:r>
            <a:r>
              <a:rPr lang="en-US" dirty="0" err="1"/>
              <a:t>stage</a:t>
            </a:r>
            <a:endParaRPr lang="en-US" dirty="0"/>
          </a:p>
        </p:txBody>
      </p:sp>
      <p:sp>
        <p:nvSpPr>
          <p:cNvPr id="3" name="Zástupný symbol pro obsah 2"/>
          <p:cNvSpPr>
            <a:spLocks noGrp="1"/>
          </p:cNvSpPr>
          <p:nvPr>
            <p:ph idx="1"/>
          </p:nvPr>
        </p:nvSpPr>
        <p:spPr/>
        <p:txBody>
          <a:bodyPr/>
          <a:lstStyle/>
          <a:p>
            <a:r>
              <a:rPr lang="en-US" dirty="0" err="1"/>
              <a:t>Selecting</a:t>
            </a:r>
            <a:r>
              <a:rPr lang="en-US" dirty="0"/>
              <a:t> </a:t>
            </a:r>
            <a:r>
              <a:rPr lang="en-US" dirty="0" err="1"/>
              <a:t>changes</a:t>
            </a:r>
            <a:endParaRPr lang="en-US" dirty="0"/>
          </a:p>
          <a:p>
            <a:pPr lvl="1"/>
            <a:r>
              <a:rPr lang="en-US" dirty="0" err="1"/>
              <a:t>Adding</a:t>
            </a:r>
            <a:r>
              <a:rPr lang="en-US" dirty="0"/>
              <a:t> </a:t>
            </a:r>
            <a:r>
              <a:rPr lang="en-US" dirty="0" err="1"/>
              <a:t>new</a:t>
            </a:r>
            <a:r>
              <a:rPr lang="en-US" dirty="0"/>
              <a:t> </a:t>
            </a:r>
            <a:r>
              <a:rPr lang="en-US" dirty="0" err="1"/>
              <a:t>files</a:t>
            </a:r>
            <a:endParaRPr lang="en-US" dirty="0"/>
          </a:p>
          <a:p>
            <a:pPr lvl="1"/>
            <a:r>
              <a:rPr lang="en-US" dirty="0" err="1"/>
              <a:t>Selecting</a:t>
            </a:r>
            <a:r>
              <a:rPr lang="en-US" dirty="0"/>
              <a:t> </a:t>
            </a:r>
            <a:r>
              <a:rPr lang="en-US" dirty="0" err="1"/>
              <a:t>changed</a:t>
            </a:r>
            <a:r>
              <a:rPr lang="en-US" dirty="0"/>
              <a:t> </a:t>
            </a:r>
            <a:r>
              <a:rPr lang="en-US" dirty="0" err="1"/>
              <a:t>files</a:t>
            </a:r>
            <a:r>
              <a:rPr lang="en-US" dirty="0"/>
              <a:t> (</a:t>
            </a:r>
            <a:r>
              <a:rPr lang="en-US" dirty="0" err="1"/>
              <a:t>or</a:t>
            </a:r>
            <a:r>
              <a:rPr lang="en-US" dirty="0"/>
              <a:t> </a:t>
            </a:r>
            <a:r>
              <a:rPr lang="en-US" dirty="0" err="1"/>
              <a:t>parts</a:t>
            </a:r>
            <a:r>
              <a:rPr lang="en-US" dirty="0"/>
              <a:t>)</a:t>
            </a:r>
          </a:p>
        </p:txBody>
      </p:sp>
      <p:pic>
        <p:nvPicPr>
          <p:cNvPr id="4" name="Obrázek 3" descr="GitHub Desktop open on the Valsalva repository: the Changes tab lists 235 changed files with tick boxes, three of them selected, and the right pane shows the diff of plotHFVol_draw.m with removed lines in red and added lines in green. The commit Summary and Description boxes are at the bottom left."/>
          <p:cNvPicPr>
            <a:picLocks noChangeAspect="1"/>
          </p:cNvPicPr>
          <p:nvPr/>
        </p:nvPicPr>
        <p:blipFill>
          <a:blip r:embed="rId2"/>
          <a:stretch>
            <a:fillRect/>
          </a:stretch>
        </p:blipFill>
        <p:spPr>
          <a:xfrm>
            <a:off x="6096000" y="0"/>
            <a:ext cx="6096000" cy="4191000"/>
          </a:xfrm>
          <a:prstGeom prst="rect">
            <a:avLst/>
          </a:prstGeom>
        </p:spPr>
      </p:pic>
    </p:spTree>
    <p:extLst>
      <p:ext uri="{BB962C8B-B14F-4D97-AF65-F5344CB8AC3E}">
        <p14:creationId xmlns:p14="http://schemas.microsoft.com/office/powerpoint/2010/main" val="4067689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Process – COMMIT</a:t>
            </a:r>
          </a:p>
        </p:txBody>
      </p:sp>
      <p:sp>
        <p:nvSpPr>
          <p:cNvPr id="3" name="Zástupný symbol pro obsah 2"/>
          <p:cNvSpPr>
            <a:spLocks noGrp="1"/>
          </p:cNvSpPr>
          <p:nvPr>
            <p:ph idx="1"/>
          </p:nvPr>
        </p:nvSpPr>
        <p:spPr>
          <a:xfrm>
            <a:off x="838200" y="1825625"/>
            <a:ext cx="5257800" cy="4351338"/>
          </a:xfrm>
        </p:spPr>
        <p:txBody>
          <a:bodyPr/>
          <a:lstStyle/>
          <a:p>
            <a:r>
              <a:rPr lang="en-US" dirty="0"/>
              <a:t>Add a commit summary*</a:t>
            </a:r>
          </a:p>
          <a:p>
            <a:r>
              <a:rPr lang="en-US" dirty="0" err="1"/>
              <a:t>Commiting</a:t>
            </a:r>
            <a:r>
              <a:rPr lang="en-US" dirty="0"/>
              <a:t> </a:t>
            </a:r>
            <a:r>
              <a:rPr lang="en-US" dirty="0" err="1"/>
              <a:t>the</a:t>
            </a:r>
            <a:r>
              <a:rPr lang="en-US" dirty="0"/>
              <a:t> </a:t>
            </a:r>
            <a:r>
              <a:rPr lang="en-US" dirty="0" err="1"/>
              <a:t>changes</a:t>
            </a:r>
            <a:r>
              <a:rPr lang="en-US" dirty="0"/>
              <a:t> </a:t>
            </a:r>
            <a:r>
              <a:rPr lang="en-US" dirty="0" err="1"/>
              <a:t>into</a:t>
            </a:r>
            <a:r>
              <a:rPr lang="en-US" dirty="0"/>
              <a:t> LOCAL </a:t>
            </a:r>
            <a:r>
              <a:rPr lang="en-US" dirty="0" err="1"/>
              <a:t>repository</a:t>
            </a:r>
            <a:endParaRPr lang="en-US" dirty="0"/>
          </a:p>
          <a:p>
            <a:pPr lvl="1"/>
            <a:r>
              <a:rPr lang="en-US" dirty="0"/>
              <a:t>Safe checkpoint</a:t>
            </a:r>
          </a:p>
          <a:p>
            <a:pPr lvl="1"/>
            <a:r>
              <a:rPr lang="en-US" dirty="0"/>
              <a:t>On top </a:t>
            </a:r>
            <a:r>
              <a:rPr lang="en-US" dirty="0" err="1"/>
              <a:t>of</a:t>
            </a:r>
            <a:r>
              <a:rPr lang="en-US" dirty="0"/>
              <a:t> </a:t>
            </a:r>
            <a:r>
              <a:rPr lang="en-US" dirty="0" err="1"/>
              <a:t>current</a:t>
            </a:r>
            <a:r>
              <a:rPr lang="en-US" dirty="0"/>
              <a:t> BRANCH</a:t>
            </a:r>
          </a:p>
          <a:p>
            <a:pPr lvl="1"/>
            <a:r>
              <a:rPr lang="en-US" dirty="0" err="1"/>
              <a:t>Or</a:t>
            </a:r>
            <a:r>
              <a:rPr lang="en-US" dirty="0"/>
              <a:t> to a NEW </a:t>
            </a:r>
            <a:r>
              <a:rPr lang="en-US" dirty="0" err="1"/>
              <a:t>branch</a:t>
            </a:r>
            <a:endParaRPr lang="en-US" dirty="0"/>
          </a:p>
          <a:p>
            <a:r>
              <a:rPr lang="en-US" dirty="0"/>
              <a:t>Roll back to any previous commit</a:t>
            </a:r>
          </a:p>
          <a:p>
            <a:r>
              <a:rPr lang="en-US" dirty="0"/>
              <a:t>Compare with any previous commit</a:t>
            </a:r>
          </a:p>
        </p:txBody>
      </p:sp>
      <p:pic>
        <p:nvPicPr>
          <p:cNvPr id="2050" name="Picture 2" descr="A git-flow hotfix diagram with three lanes labelled develop, hotfixes and master. A hotfix branch splits from the master commit tagged 1.2, takes two commits, then merges into master as tag 1.2.1 and back into develop. A note reads 'Severe bug fixed for production: hotfix 1.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6044" y="1631916"/>
            <a:ext cx="3876624" cy="5226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412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03623-3F1B-962D-4193-7EB6223B61B0}"/>
              </a:ext>
            </a:extLst>
          </p:cNvPr>
          <p:cNvSpPr>
            <a:spLocks noGrp="1"/>
          </p:cNvSpPr>
          <p:nvPr>
            <p:ph type="title"/>
          </p:nvPr>
        </p:nvSpPr>
        <p:spPr/>
        <p:txBody>
          <a:bodyPr/>
          <a:lstStyle/>
          <a:p>
            <a:r>
              <a:rPr lang="en-US" dirty="0"/>
              <a:t>Process – COMMIT = safe checkpoint</a:t>
            </a:r>
          </a:p>
        </p:txBody>
      </p:sp>
      <p:sp>
        <p:nvSpPr>
          <p:cNvPr id="3" name="Content Placeholder 2">
            <a:extLst>
              <a:ext uri="{FF2B5EF4-FFF2-40B4-BE49-F238E27FC236}">
                <a16:creationId xmlns:a16="http://schemas.microsoft.com/office/drawing/2014/main" id="{D61E8207-0A70-E4C4-6970-0FAC0415C574}"/>
              </a:ext>
            </a:extLst>
          </p:cNvPr>
          <p:cNvSpPr>
            <a:spLocks noGrp="1"/>
          </p:cNvSpPr>
          <p:nvPr>
            <p:ph sz="half" idx="1"/>
          </p:nvPr>
        </p:nvSpPr>
        <p:spPr/>
        <p:txBody>
          <a:bodyPr>
            <a:normAutofit lnSpcReduction="10000"/>
          </a:bodyPr>
          <a:lstStyle/>
          <a:p>
            <a:r>
              <a:rPr lang="en-US" dirty="0"/>
              <a:t>DO NOT be afraid of dumb commits</a:t>
            </a:r>
          </a:p>
          <a:p>
            <a:endParaRPr lang="en-US" dirty="0"/>
          </a:p>
          <a:p>
            <a:r>
              <a:rPr lang="en-US" dirty="0"/>
              <a:t>All of them might be useful checkpoints</a:t>
            </a:r>
          </a:p>
          <a:p>
            <a:r>
              <a:rPr lang="en-US" dirty="0"/>
              <a:t>All opensource projects do that – </a:t>
            </a:r>
            <a:r>
              <a:rPr lang="en-US" b="1" dirty="0"/>
              <a:t>it is no shame</a:t>
            </a:r>
          </a:p>
          <a:p>
            <a:endParaRPr lang="en-US" dirty="0"/>
          </a:p>
          <a:p>
            <a:r>
              <a:rPr lang="en-US" dirty="0"/>
              <a:t>You can use </a:t>
            </a:r>
            <a:r>
              <a:rPr lang="en-US" i="1" dirty="0"/>
              <a:t>squash</a:t>
            </a:r>
            <a:r>
              <a:rPr lang="en-US" dirty="0"/>
              <a:t> before pushing</a:t>
            </a:r>
          </a:p>
        </p:txBody>
      </p:sp>
      <p:pic>
        <p:nvPicPr>
          <p:cNvPr id="6" name="Content Placeholder 5">
            <a:extLst>
              <a:ext uri="{FF2B5EF4-FFF2-40B4-BE49-F238E27FC236}">
                <a16:creationId xmlns:a16="http://schemas.microsoft.com/office/drawing/2014/main" id="{0F382A3B-2E13-2B16-EE1E-BCAE1C8B2C79}"/>
              </a:ext>
            </a:extLst>
          </p:cNvPr>
          <p:cNvPicPr>
            <a:picLocks noGrp="1" noChangeAspect="1"/>
          </p:cNvPicPr>
          <p:nvPr>
            <p:ph sz="half" idx="2"/>
          </p:nvPr>
        </p:nvPicPr>
        <p:blipFill>
          <a:blip r:embed="rId2"/>
          <a:stretch>
            <a:fillRect/>
          </a:stretch>
        </p:blipFill>
        <p:spPr>
          <a:xfrm>
            <a:off x="7876588" y="2320575"/>
            <a:ext cx="3853293" cy="4351338"/>
          </a:xfrm>
        </p:spPr>
      </p:pic>
      <p:pic>
        <p:nvPicPr>
          <p:cNvPr id="5" name="Picture 4" descr="Mario standing next to a red flag with an &quot;M&quot; emblem at the end of an icy level in a side-scrolling video game.">
            <a:extLst>
              <a:ext uri="{FF2B5EF4-FFF2-40B4-BE49-F238E27FC236}">
                <a16:creationId xmlns:a16="http://schemas.microsoft.com/office/drawing/2014/main" id="{E3924D49-9BAB-7470-6D1B-9088FFBC4E30}"/>
              </a:ext>
            </a:extLst>
          </p:cNvPr>
          <p:cNvPicPr>
            <a:picLocks noChangeAspect="1"/>
          </p:cNvPicPr>
          <p:nvPr/>
        </p:nvPicPr>
        <p:blipFill>
          <a:blip r:embed="rId3"/>
          <a:stretch>
            <a:fillRect/>
          </a:stretch>
        </p:blipFill>
        <p:spPr>
          <a:xfrm>
            <a:off x="9546672" y="127082"/>
            <a:ext cx="2334936" cy="1698543"/>
          </a:xfrm>
          <a:prstGeom prst="rect">
            <a:avLst/>
          </a:prstGeom>
        </p:spPr>
      </p:pic>
    </p:spTree>
    <p:extLst>
      <p:ext uri="{BB962C8B-B14F-4D97-AF65-F5344CB8AC3E}">
        <p14:creationId xmlns:p14="http://schemas.microsoft.com/office/powerpoint/2010/main" val="26720799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A079D-6988-592D-E6EA-3D39AD12CFD0}"/>
              </a:ext>
            </a:extLst>
          </p:cNvPr>
          <p:cNvSpPr>
            <a:spLocks noGrp="1"/>
          </p:cNvSpPr>
          <p:nvPr>
            <p:ph type="title"/>
          </p:nvPr>
        </p:nvSpPr>
        <p:spPr/>
        <p:txBody>
          <a:bodyPr/>
          <a:lstStyle/>
          <a:p>
            <a:r>
              <a:rPr lang="en-US" dirty="0"/>
              <a:t>Process – COMMIT: </a:t>
            </a:r>
            <a:r>
              <a:rPr lang="en-US" b="1" dirty="0"/>
              <a:t>Summary</a:t>
            </a:r>
          </a:p>
        </p:txBody>
      </p:sp>
      <p:sp>
        <p:nvSpPr>
          <p:cNvPr id="3" name="Content Placeholder 2">
            <a:extLst>
              <a:ext uri="{FF2B5EF4-FFF2-40B4-BE49-F238E27FC236}">
                <a16:creationId xmlns:a16="http://schemas.microsoft.com/office/drawing/2014/main" id="{1458EC40-7FE8-2E08-047C-0C353210886A}"/>
              </a:ext>
            </a:extLst>
          </p:cNvPr>
          <p:cNvSpPr>
            <a:spLocks noGrp="1"/>
          </p:cNvSpPr>
          <p:nvPr>
            <p:ph idx="1"/>
          </p:nvPr>
        </p:nvSpPr>
        <p:spPr/>
        <p:txBody>
          <a:bodyPr>
            <a:normAutofit fontScale="92500" lnSpcReduction="10000"/>
          </a:bodyPr>
          <a:lstStyle/>
          <a:p>
            <a:r>
              <a:rPr lang="en-US" dirty="0"/>
              <a:t>Commit message (Summary) required</a:t>
            </a:r>
          </a:p>
          <a:p>
            <a:r>
              <a:rPr lang="en-US" dirty="0"/>
              <a:t>Try to be specific and concise,</a:t>
            </a:r>
            <a:br>
              <a:rPr lang="en-US" dirty="0"/>
            </a:br>
            <a:r>
              <a:rPr lang="en-US" dirty="0"/>
              <a:t>your future self will thank you</a:t>
            </a:r>
          </a:p>
          <a:p>
            <a:endParaRPr lang="en-US" dirty="0"/>
          </a:p>
          <a:p>
            <a:r>
              <a:rPr lang="en-US" dirty="0"/>
              <a:t>E.g. </a:t>
            </a:r>
            <a:br>
              <a:rPr lang="en-US" dirty="0"/>
            </a:br>
            <a:r>
              <a:rPr lang="en-US" i="1" dirty="0"/>
              <a:t>Fix typo in ReadMe</a:t>
            </a:r>
            <a:br>
              <a:rPr lang="en-US" i="1" dirty="0"/>
            </a:br>
            <a:r>
              <a:rPr lang="en-US" i="1" dirty="0"/>
              <a:t>Adding project1 data files</a:t>
            </a:r>
            <a:br>
              <a:rPr lang="en-US" i="1" dirty="0"/>
            </a:br>
            <a:r>
              <a:rPr lang="en-US" i="1" dirty="0"/>
              <a:t>Fix crashing during simulation</a:t>
            </a:r>
          </a:p>
          <a:p>
            <a:endParaRPr lang="en-US" dirty="0"/>
          </a:p>
          <a:p>
            <a:r>
              <a:rPr lang="en-US" dirty="0"/>
              <a:t>Use Description to provide further context, e.g.</a:t>
            </a:r>
            <a:br>
              <a:rPr lang="en-US" dirty="0"/>
            </a:br>
            <a:r>
              <a:rPr lang="en-US" i="1" dirty="0"/>
              <a:t>Setting step size &gt; 0.2 results in a crash</a:t>
            </a:r>
          </a:p>
          <a:p>
            <a:pPr lvl="1"/>
            <a:endParaRPr lang="en-US" dirty="0"/>
          </a:p>
        </p:txBody>
      </p:sp>
      <p:pic>
        <p:nvPicPr>
          <p:cNvPr id="3076" name="Picture 4" descr="A Futurama meme: Dr Zoidberg in a theatre box, captioned 'Your commit message is bad and you should feel bad'.">
            <a:extLst>
              <a:ext uri="{FF2B5EF4-FFF2-40B4-BE49-F238E27FC236}">
                <a16:creationId xmlns:a16="http://schemas.microsoft.com/office/drawing/2014/main" id="{F672D007-8D33-3518-A833-C06586909E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7152" y="167054"/>
            <a:ext cx="3470031" cy="2602523"/>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A SpongeBob SquarePants meme: Patrick Star looking unimpressed, captioned 'No Patrick, &quot;fix&quot; is no appropriate commit message'.">
            <a:extLst>
              <a:ext uri="{FF2B5EF4-FFF2-40B4-BE49-F238E27FC236}">
                <a16:creationId xmlns:a16="http://schemas.microsoft.com/office/drawing/2014/main" id="{F61A05C3-F938-1885-072C-EDA7FAC2E1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67041" y="3518188"/>
            <a:ext cx="2699239" cy="2793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3758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err="1"/>
              <a:t>Process</a:t>
            </a:r>
            <a:r>
              <a:rPr lang="en-US" dirty="0"/>
              <a:t> - PUSH</a:t>
            </a:r>
          </a:p>
        </p:txBody>
      </p:sp>
      <p:sp>
        <p:nvSpPr>
          <p:cNvPr id="3" name="Zástupný symbol pro obsah 2"/>
          <p:cNvSpPr>
            <a:spLocks noGrp="1"/>
          </p:cNvSpPr>
          <p:nvPr>
            <p:ph idx="1"/>
          </p:nvPr>
        </p:nvSpPr>
        <p:spPr/>
        <p:txBody>
          <a:bodyPr/>
          <a:lstStyle/>
          <a:p>
            <a:r>
              <a:rPr lang="en-US" dirty="0" err="1"/>
              <a:t>Pushing</a:t>
            </a:r>
            <a:r>
              <a:rPr lang="en-US" dirty="0"/>
              <a:t> </a:t>
            </a:r>
            <a:r>
              <a:rPr lang="en-US" dirty="0" err="1"/>
              <a:t>our</a:t>
            </a:r>
            <a:r>
              <a:rPr lang="en-US" dirty="0"/>
              <a:t> LOCAL </a:t>
            </a:r>
            <a:r>
              <a:rPr lang="en-US" dirty="0" err="1"/>
              <a:t>repository</a:t>
            </a:r>
            <a:r>
              <a:rPr lang="en-US" dirty="0"/>
              <a:t> to </a:t>
            </a:r>
            <a:r>
              <a:rPr lang="en-US" dirty="0" err="1"/>
              <a:t>the</a:t>
            </a:r>
            <a:r>
              <a:rPr lang="en-US" dirty="0"/>
              <a:t> REMOTE </a:t>
            </a:r>
            <a:r>
              <a:rPr lang="en-US" dirty="0" err="1"/>
              <a:t>repository</a:t>
            </a:r>
            <a:endParaRPr lang="en-US" dirty="0"/>
          </a:p>
          <a:p>
            <a:pPr lvl="1"/>
            <a:r>
              <a:rPr lang="en-US" dirty="0"/>
              <a:t>Could have more remotes</a:t>
            </a:r>
          </a:p>
          <a:p>
            <a:pPr lvl="1"/>
            <a:endParaRPr lang="en-US" dirty="0"/>
          </a:p>
          <a:p>
            <a:pPr lvl="1"/>
            <a:r>
              <a:rPr lang="en-US" dirty="0"/>
              <a:t>What if the REMOTE version is newer?</a:t>
            </a:r>
          </a:p>
          <a:p>
            <a:pPr lvl="2"/>
            <a:r>
              <a:rPr lang="en-US" dirty="0"/>
              <a:t>Need to </a:t>
            </a:r>
            <a:r>
              <a:rPr lang="en-US" b="1" dirty="0"/>
              <a:t>pull</a:t>
            </a:r>
            <a:r>
              <a:rPr lang="en-US" dirty="0"/>
              <a:t> (aka fetch) first</a:t>
            </a:r>
          </a:p>
          <a:p>
            <a:pPr lvl="2"/>
            <a:r>
              <a:rPr lang="en-US" dirty="0"/>
              <a:t>Merge and sort the conflicts on OUR side</a:t>
            </a:r>
          </a:p>
        </p:txBody>
      </p:sp>
      <p:sp>
        <p:nvSpPr>
          <p:cNvPr id="4" name="Vývojový diagram: alternativní postup 4">
            <a:extLst>
              <a:ext uri="{FF2B5EF4-FFF2-40B4-BE49-F238E27FC236}">
                <a16:creationId xmlns:a16="http://schemas.microsoft.com/office/drawing/2014/main" id="{0BB90BA3-7D6B-42C9-4E23-667BE66B6947}"/>
              </a:ext>
            </a:extLst>
          </p:cNvPr>
          <p:cNvSpPr/>
          <p:nvPr/>
        </p:nvSpPr>
        <p:spPr>
          <a:xfrm>
            <a:off x="6096000" y="4966853"/>
            <a:ext cx="1451296" cy="763398"/>
          </a:xfrm>
          <a:prstGeom prst="flowChartAlternateProcess">
            <a:avLst/>
          </a:prstGeom>
          <a:solidFill>
            <a:srgbClr val="1F4E79"/>
          </a:solidFill>
          <a:ln>
            <a:solidFill>
              <a:srgbClr val="14385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FF"/>
                </a:solidFill>
              </a:rPr>
              <a:t>Local</a:t>
            </a:r>
          </a:p>
          <a:p>
            <a:pPr algn="ctr"/>
            <a:r>
              <a:rPr lang="en-US" dirty="0">
                <a:solidFill>
                  <a:srgbClr val="FFFFFF"/>
                </a:solidFill>
              </a:rPr>
              <a:t>Repository</a:t>
            </a:r>
          </a:p>
        </p:txBody>
      </p:sp>
      <p:sp>
        <p:nvSpPr>
          <p:cNvPr id="5" name="Vývojový diagram: alternativní postup 5">
            <a:extLst>
              <a:ext uri="{FF2B5EF4-FFF2-40B4-BE49-F238E27FC236}">
                <a16:creationId xmlns:a16="http://schemas.microsoft.com/office/drawing/2014/main" id="{DA973434-C140-7398-FE1E-1CBE68B8758E}"/>
              </a:ext>
            </a:extLst>
          </p:cNvPr>
          <p:cNvSpPr/>
          <p:nvPr/>
        </p:nvSpPr>
        <p:spPr>
          <a:xfrm>
            <a:off x="10235143" y="4962404"/>
            <a:ext cx="1451296" cy="763398"/>
          </a:xfrm>
          <a:prstGeom prst="flowChartAlternateProcess">
            <a:avLst/>
          </a:prstGeom>
          <a:solidFill>
            <a:srgbClr val="1F4E79"/>
          </a:solidFill>
          <a:ln>
            <a:solidFill>
              <a:srgbClr val="14385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FF"/>
                </a:solidFill>
              </a:rPr>
              <a:t>Remote</a:t>
            </a:r>
          </a:p>
          <a:p>
            <a:pPr algn="ctr"/>
            <a:r>
              <a:rPr lang="en-US" dirty="0">
                <a:solidFill>
                  <a:srgbClr val="FFFFFF"/>
                </a:solidFill>
              </a:rPr>
              <a:t>Repository</a:t>
            </a:r>
          </a:p>
        </p:txBody>
      </p:sp>
      <p:cxnSp>
        <p:nvCxnSpPr>
          <p:cNvPr id="6" name="Zakřivená spojnice 21" descr="Arrow from Local Repository to Remote Repository, labelled Push">
            <a:extLst>
              <a:ext uri="{FF2B5EF4-FFF2-40B4-BE49-F238E27FC236}">
                <a16:creationId xmlns:a16="http://schemas.microsoft.com/office/drawing/2014/main" id="{8E20B045-CC97-0B5F-5D8C-1C4BB8F877F4}"/>
              </a:ext>
            </a:extLst>
          </p:cNvPr>
          <p:cNvCxnSpPr>
            <a:stCxn id="4" idx="2"/>
            <a:endCxn id="5" idx="2"/>
          </p:cNvCxnSpPr>
          <p:nvPr/>
        </p:nvCxnSpPr>
        <p:spPr>
          <a:xfrm rot="5400000" flipH="1" flipV="1">
            <a:off x="8888994" y="3658455"/>
            <a:ext cx="4449" cy="4139143"/>
          </a:xfrm>
          <a:prstGeom prst="curvedConnector3">
            <a:avLst>
              <a:gd name="adj1" fmla="val -1266208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7" name="Přímá spojnice se šipkou 30" descr="Arrow from Remote Repository to Local Repository, labelled Pull">
            <a:extLst>
              <a:ext uri="{FF2B5EF4-FFF2-40B4-BE49-F238E27FC236}">
                <a16:creationId xmlns:a16="http://schemas.microsoft.com/office/drawing/2014/main" id="{21E332CA-65D9-7D08-7626-155A13334A4D}"/>
              </a:ext>
            </a:extLst>
          </p:cNvPr>
          <p:cNvCxnSpPr>
            <a:stCxn id="5" idx="1"/>
            <a:endCxn id="4" idx="3"/>
          </p:cNvCxnSpPr>
          <p:nvPr/>
        </p:nvCxnSpPr>
        <p:spPr>
          <a:xfrm flipH="1">
            <a:off x="7547296" y="5344103"/>
            <a:ext cx="2687847" cy="44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ovéPole 45">
            <a:extLst>
              <a:ext uri="{FF2B5EF4-FFF2-40B4-BE49-F238E27FC236}">
                <a16:creationId xmlns:a16="http://schemas.microsoft.com/office/drawing/2014/main" id="{BEFC8A9B-8A0F-BA5C-47FF-150D716AD45C}"/>
              </a:ext>
            </a:extLst>
          </p:cNvPr>
          <p:cNvSpPr txBox="1"/>
          <p:nvPr/>
        </p:nvSpPr>
        <p:spPr>
          <a:xfrm>
            <a:off x="8660928" y="5356470"/>
            <a:ext cx="530915" cy="369332"/>
          </a:xfrm>
          <a:prstGeom prst="rect">
            <a:avLst/>
          </a:prstGeom>
          <a:noFill/>
        </p:spPr>
        <p:txBody>
          <a:bodyPr wrap="none" rtlCol="0">
            <a:spAutoFit/>
          </a:bodyPr>
          <a:lstStyle/>
          <a:p>
            <a:r>
              <a:rPr lang="en-US" dirty="0"/>
              <a:t>Pull</a:t>
            </a:r>
          </a:p>
        </p:txBody>
      </p:sp>
      <p:sp>
        <p:nvSpPr>
          <p:cNvPr id="9" name="TextovéPole 49">
            <a:extLst>
              <a:ext uri="{FF2B5EF4-FFF2-40B4-BE49-F238E27FC236}">
                <a16:creationId xmlns:a16="http://schemas.microsoft.com/office/drawing/2014/main" id="{38A02B94-C3D3-D1DA-CAAE-96D0A79ED3F0}"/>
              </a:ext>
            </a:extLst>
          </p:cNvPr>
          <p:cNvSpPr txBox="1"/>
          <p:nvPr/>
        </p:nvSpPr>
        <p:spPr>
          <a:xfrm>
            <a:off x="8703569" y="6304535"/>
            <a:ext cx="636713" cy="369332"/>
          </a:xfrm>
          <a:prstGeom prst="rect">
            <a:avLst/>
          </a:prstGeom>
          <a:noFill/>
        </p:spPr>
        <p:txBody>
          <a:bodyPr wrap="none" rtlCol="0">
            <a:spAutoFit/>
          </a:bodyPr>
          <a:lstStyle/>
          <a:p>
            <a:r>
              <a:rPr lang="en-US" dirty="0"/>
              <a:t>Push</a:t>
            </a:r>
          </a:p>
        </p:txBody>
      </p:sp>
      <p:pic>
        <p:nvPicPr>
          <p:cNvPr id="10" name="Obrázek 8" descr="The image features the GitHub logo, which is a black circle with a white silhouette of an octocat, a cat with octopus-like tentacles, inside it. Below the logo, the word &quot;GitHub&quot; is written in bold black letters.">
            <a:extLst>
              <a:ext uri="{FF2B5EF4-FFF2-40B4-BE49-F238E27FC236}">
                <a16:creationId xmlns:a16="http://schemas.microsoft.com/office/drawing/2014/main" id="{62DECA78-88DF-8106-196B-0DCCAB1A0715}"/>
              </a:ext>
            </a:extLst>
          </p:cNvPr>
          <p:cNvPicPr>
            <a:picLocks noChangeAspect="1"/>
          </p:cNvPicPr>
          <p:nvPr/>
        </p:nvPicPr>
        <p:blipFill>
          <a:blip r:embed="rId2"/>
          <a:stretch>
            <a:fillRect/>
          </a:stretch>
        </p:blipFill>
        <p:spPr>
          <a:xfrm>
            <a:off x="11243967" y="3881932"/>
            <a:ext cx="958617" cy="918024"/>
          </a:xfrm>
          <a:prstGeom prst="rect">
            <a:avLst/>
          </a:prstGeom>
        </p:spPr>
      </p:pic>
      <p:pic>
        <p:nvPicPr>
          <p:cNvPr id="11" name="Picture 2" descr="A simple grey outline icon of a cloud, representing a remote server.">
            <a:extLst>
              <a:ext uri="{FF2B5EF4-FFF2-40B4-BE49-F238E27FC236}">
                <a16:creationId xmlns:a16="http://schemas.microsoft.com/office/drawing/2014/main" id="{C440FCAE-6A03-B832-2259-9850D04398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1843" y="3982476"/>
            <a:ext cx="1837606" cy="103365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A small icon of a tower server connected to a network cable, representing a remote server.">
            <a:extLst>
              <a:ext uri="{FF2B5EF4-FFF2-40B4-BE49-F238E27FC236}">
                <a16:creationId xmlns:a16="http://schemas.microsoft.com/office/drawing/2014/main" id="{3D4AE15F-B40B-9FF5-D5E1-DCE92EF2B4D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80598" y="3819672"/>
            <a:ext cx="1022260" cy="1022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635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40013-1593-0E19-5985-7D628A9A434A}"/>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4BA2BF86-860D-5AD8-A6FC-26A74D042713}"/>
              </a:ext>
            </a:extLst>
          </p:cNvPr>
          <p:cNvSpPr>
            <a:spLocks noGrp="1"/>
          </p:cNvSpPr>
          <p:nvPr>
            <p:ph type="title"/>
          </p:nvPr>
        </p:nvSpPr>
        <p:spPr/>
        <p:txBody>
          <a:bodyPr/>
          <a:lstStyle/>
          <a:p>
            <a:r>
              <a:rPr lang="en-US" dirty="0"/>
              <a:t>Process - PULL</a:t>
            </a:r>
          </a:p>
        </p:txBody>
      </p:sp>
      <p:sp>
        <p:nvSpPr>
          <p:cNvPr id="3" name="Zástupný symbol pro obsah 2">
            <a:extLst>
              <a:ext uri="{FF2B5EF4-FFF2-40B4-BE49-F238E27FC236}">
                <a16:creationId xmlns:a16="http://schemas.microsoft.com/office/drawing/2014/main" id="{334DAFDC-1568-48BB-EECB-EA4D4B8847B7}"/>
              </a:ext>
            </a:extLst>
          </p:cNvPr>
          <p:cNvSpPr>
            <a:spLocks noGrp="1"/>
          </p:cNvSpPr>
          <p:nvPr>
            <p:ph idx="1"/>
          </p:nvPr>
        </p:nvSpPr>
        <p:spPr/>
        <p:txBody>
          <a:bodyPr/>
          <a:lstStyle/>
          <a:p>
            <a:r>
              <a:rPr lang="en-US" dirty="0"/>
              <a:t>Pulling from the REMOTE server into LOCAL repository, updating the files</a:t>
            </a:r>
          </a:p>
          <a:p>
            <a:pPr lvl="1"/>
            <a:r>
              <a:rPr lang="en-US" dirty="0"/>
              <a:t>Can have more remotes</a:t>
            </a:r>
          </a:p>
          <a:p>
            <a:pPr lvl="1"/>
            <a:r>
              <a:rPr lang="en-US" dirty="0"/>
              <a:t>What if we made some changes?</a:t>
            </a:r>
          </a:p>
          <a:p>
            <a:r>
              <a:rPr lang="en-US" dirty="0"/>
              <a:t>Resolve conflicts, if present</a:t>
            </a:r>
          </a:p>
          <a:p>
            <a:pPr lvl="1"/>
            <a:endParaRPr lang="en-US" dirty="0"/>
          </a:p>
          <a:p>
            <a:r>
              <a:rPr lang="en-US" i="1" dirty="0"/>
              <a:t>(Fetch</a:t>
            </a:r>
            <a:r>
              <a:rPr lang="en-US" dirty="0"/>
              <a:t> - just sync’s the repo, no merge)</a:t>
            </a:r>
            <a:endParaRPr lang="en-US" i="1" dirty="0"/>
          </a:p>
        </p:txBody>
      </p:sp>
      <p:sp>
        <p:nvSpPr>
          <p:cNvPr id="4" name="Vývojový diagram: alternativní postup 4">
            <a:extLst>
              <a:ext uri="{FF2B5EF4-FFF2-40B4-BE49-F238E27FC236}">
                <a16:creationId xmlns:a16="http://schemas.microsoft.com/office/drawing/2014/main" id="{9281D8F0-5F50-74B3-AE37-E9FE850AD0B3}"/>
              </a:ext>
            </a:extLst>
          </p:cNvPr>
          <p:cNvSpPr/>
          <p:nvPr/>
        </p:nvSpPr>
        <p:spPr>
          <a:xfrm>
            <a:off x="6096000" y="4966853"/>
            <a:ext cx="1451296" cy="763398"/>
          </a:xfrm>
          <a:prstGeom prst="flowChartAlternateProcess">
            <a:avLst/>
          </a:prstGeom>
          <a:solidFill>
            <a:srgbClr val="1F4E79"/>
          </a:solidFill>
          <a:ln>
            <a:solidFill>
              <a:srgbClr val="14385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FF"/>
                </a:solidFill>
              </a:rPr>
              <a:t>Local</a:t>
            </a:r>
          </a:p>
          <a:p>
            <a:pPr algn="ctr"/>
            <a:r>
              <a:rPr lang="en-US" dirty="0">
                <a:solidFill>
                  <a:srgbClr val="FFFFFF"/>
                </a:solidFill>
              </a:rPr>
              <a:t>Repository</a:t>
            </a:r>
          </a:p>
        </p:txBody>
      </p:sp>
      <p:sp>
        <p:nvSpPr>
          <p:cNvPr id="5" name="Vývojový diagram: alternativní postup 5">
            <a:extLst>
              <a:ext uri="{FF2B5EF4-FFF2-40B4-BE49-F238E27FC236}">
                <a16:creationId xmlns:a16="http://schemas.microsoft.com/office/drawing/2014/main" id="{7FB31893-40EB-B395-97E6-67E00FF22954}"/>
              </a:ext>
            </a:extLst>
          </p:cNvPr>
          <p:cNvSpPr/>
          <p:nvPr/>
        </p:nvSpPr>
        <p:spPr>
          <a:xfrm>
            <a:off x="10235143" y="4962404"/>
            <a:ext cx="1451296" cy="763398"/>
          </a:xfrm>
          <a:prstGeom prst="flowChartAlternateProcess">
            <a:avLst/>
          </a:prstGeom>
          <a:solidFill>
            <a:srgbClr val="1F4E79"/>
          </a:solidFill>
          <a:ln>
            <a:solidFill>
              <a:srgbClr val="14385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FF"/>
                </a:solidFill>
              </a:rPr>
              <a:t>Remote</a:t>
            </a:r>
          </a:p>
          <a:p>
            <a:pPr algn="ctr"/>
            <a:r>
              <a:rPr lang="en-US" dirty="0">
                <a:solidFill>
                  <a:srgbClr val="FFFFFF"/>
                </a:solidFill>
              </a:rPr>
              <a:t>Repository</a:t>
            </a:r>
          </a:p>
        </p:txBody>
      </p:sp>
      <p:cxnSp>
        <p:nvCxnSpPr>
          <p:cNvPr id="6" name="Zakřivená spojnice 21" descr="Arrow from Local Repository to Remote Repository, labelled Push">
            <a:extLst>
              <a:ext uri="{FF2B5EF4-FFF2-40B4-BE49-F238E27FC236}">
                <a16:creationId xmlns:a16="http://schemas.microsoft.com/office/drawing/2014/main" id="{A15F7C55-CF9A-AB67-336E-2E9CEB675692}"/>
              </a:ext>
            </a:extLst>
          </p:cNvPr>
          <p:cNvCxnSpPr>
            <a:stCxn id="4" idx="2"/>
            <a:endCxn id="5" idx="2"/>
          </p:cNvCxnSpPr>
          <p:nvPr/>
        </p:nvCxnSpPr>
        <p:spPr>
          <a:xfrm rot="5400000" flipH="1" flipV="1">
            <a:off x="8888994" y="3658455"/>
            <a:ext cx="4449" cy="4139143"/>
          </a:xfrm>
          <a:prstGeom prst="curvedConnector3">
            <a:avLst>
              <a:gd name="adj1" fmla="val -1266208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Přímá spojnice se šipkou 30" descr="Arrow from Remote Repository to Local Repository, labelled Pull">
            <a:extLst>
              <a:ext uri="{FF2B5EF4-FFF2-40B4-BE49-F238E27FC236}">
                <a16:creationId xmlns:a16="http://schemas.microsoft.com/office/drawing/2014/main" id="{135A8ABE-3F5E-EABA-2F01-EAB9A797D770}"/>
              </a:ext>
            </a:extLst>
          </p:cNvPr>
          <p:cNvCxnSpPr>
            <a:stCxn id="5" idx="1"/>
            <a:endCxn id="4" idx="3"/>
          </p:cNvCxnSpPr>
          <p:nvPr/>
        </p:nvCxnSpPr>
        <p:spPr>
          <a:xfrm flipH="1">
            <a:off x="7547296" y="5344103"/>
            <a:ext cx="2687847" cy="444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8" name="TextovéPole 45">
            <a:extLst>
              <a:ext uri="{FF2B5EF4-FFF2-40B4-BE49-F238E27FC236}">
                <a16:creationId xmlns:a16="http://schemas.microsoft.com/office/drawing/2014/main" id="{6823D2D3-6374-2C40-C017-9BBC1719E99C}"/>
              </a:ext>
            </a:extLst>
          </p:cNvPr>
          <p:cNvSpPr txBox="1"/>
          <p:nvPr/>
        </p:nvSpPr>
        <p:spPr>
          <a:xfrm>
            <a:off x="8660928" y="5356470"/>
            <a:ext cx="530915" cy="369332"/>
          </a:xfrm>
          <a:prstGeom prst="rect">
            <a:avLst/>
          </a:prstGeom>
          <a:noFill/>
        </p:spPr>
        <p:txBody>
          <a:bodyPr wrap="none" rtlCol="0">
            <a:spAutoFit/>
          </a:bodyPr>
          <a:lstStyle/>
          <a:p>
            <a:r>
              <a:rPr lang="en-US" dirty="0"/>
              <a:t>Pull</a:t>
            </a:r>
          </a:p>
        </p:txBody>
      </p:sp>
      <p:sp>
        <p:nvSpPr>
          <p:cNvPr id="9" name="TextovéPole 49">
            <a:extLst>
              <a:ext uri="{FF2B5EF4-FFF2-40B4-BE49-F238E27FC236}">
                <a16:creationId xmlns:a16="http://schemas.microsoft.com/office/drawing/2014/main" id="{1859458E-9523-773C-82BD-A9029382D651}"/>
              </a:ext>
            </a:extLst>
          </p:cNvPr>
          <p:cNvSpPr txBox="1"/>
          <p:nvPr/>
        </p:nvSpPr>
        <p:spPr>
          <a:xfrm>
            <a:off x="8703569" y="6304535"/>
            <a:ext cx="636713" cy="369332"/>
          </a:xfrm>
          <a:prstGeom prst="rect">
            <a:avLst/>
          </a:prstGeom>
          <a:noFill/>
        </p:spPr>
        <p:txBody>
          <a:bodyPr wrap="none" rtlCol="0">
            <a:spAutoFit/>
          </a:bodyPr>
          <a:lstStyle/>
          <a:p>
            <a:r>
              <a:rPr lang="en-US" dirty="0"/>
              <a:t>Push</a:t>
            </a:r>
          </a:p>
        </p:txBody>
      </p:sp>
      <p:pic>
        <p:nvPicPr>
          <p:cNvPr id="10" name="Obrázek 8" descr="The image features the GitHub logo, which is a black circle with a white silhouette of an octocat, a cat with octopus-like tentacles, inside it. Below the logo, the word &quot;GitHub&quot; is written in bold black letters.">
            <a:extLst>
              <a:ext uri="{FF2B5EF4-FFF2-40B4-BE49-F238E27FC236}">
                <a16:creationId xmlns:a16="http://schemas.microsoft.com/office/drawing/2014/main" id="{CFD2B930-CC2A-26BE-BF5A-4DA0813A919F}"/>
              </a:ext>
            </a:extLst>
          </p:cNvPr>
          <p:cNvPicPr>
            <a:picLocks noChangeAspect="1"/>
          </p:cNvPicPr>
          <p:nvPr/>
        </p:nvPicPr>
        <p:blipFill>
          <a:blip r:embed="rId2"/>
          <a:stretch>
            <a:fillRect/>
          </a:stretch>
        </p:blipFill>
        <p:spPr>
          <a:xfrm>
            <a:off x="11243967" y="3881932"/>
            <a:ext cx="958617" cy="918024"/>
          </a:xfrm>
          <a:prstGeom prst="rect">
            <a:avLst/>
          </a:prstGeom>
        </p:spPr>
      </p:pic>
      <p:pic>
        <p:nvPicPr>
          <p:cNvPr id="11" name="Picture 2" descr="A simple grey outline icon of a cloud, representing a remote server.">
            <a:extLst>
              <a:ext uri="{FF2B5EF4-FFF2-40B4-BE49-F238E27FC236}">
                <a16:creationId xmlns:a16="http://schemas.microsoft.com/office/drawing/2014/main" id="{0654B0C0-BA49-433A-D0E5-BC9B801F2AF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1843" y="3982476"/>
            <a:ext cx="1837606" cy="103365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A small icon of a tower server connected to a network cable, representing a remote server.">
            <a:extLst>
              <a:ext uri="{FF2B5EF4-FFF2-40B4-BE49-F238E27FC236}">
                <a16:creationId xmlns:a16="http://schemas.microsoft.com/office/drawing/2014/main" id="{862706D6-6E9A-ABFF-0B47-AC8DE995C22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80598" y="3819672"/>
            <a:ext cx="1022260" cy="1022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55733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Branching</a:t>
            </a:r>
          </a:p>
        </p:txBody>
      </p:sp>
      <p:sp>
        <p:nvSpPr>
          <p:cNvPr id="3" name="Zástupný symbol pro obsah 2"/>
          <p:cNvSpPr>
            <a:spLocks noGrp="1"/>
          </p:cNvSpPr>
          <p:nvPr>
            <p:ph idx="1"/>
          </p:nvPr>
        </p:nvSpPr>
        <p:spPr/>
        <p:txBody>
          <a:bodyPr>
            <a:normAutofit fontScale="92500" lnSpcReduction="10000"/>
          </a:bodyPr>
          <a:lstStyle/>
          <a:p>
            <a:r>
              <a:rPr lang="en-US" dirty="0"/>
              <a:t>Each commit is a snapshot in time</a:t>
            </a:r>
          </a:p>
          <a:p>
            <a:pPr lvl="1"/>
            <a:r>
              <a:rPr lang="en-US" dirty="0"/>
              <a:t>Everything is </a:t>
            </a:r>
            <a:r>
              <a:rPr lang="en-US" dirty="0" err="1"/>
              <a:t>checksummed</a:t>
            </a:r>
            <a:r>
              <a:rPr lang="en-US" dirty="0"/>
              <a:t> with a SHA hash, with a custom label </a:t>
            </a:r>
            <a:br>
              <a:rPr lang="en-US" dirty="0"/>
            </a:br>
            <a:r>
              <a:rPr lang="en-US" dirty="0"/>
              <a:t>(commit name)</a:t>
            </a:r>
          </a:p>
          <a:p>
            <a:pPr lvl="1"/>
            <a:r>
              <a:rPr lang="en-US" dirty="0"/>
              <a:t>Has one or two parents</a:t>
            </a:r>
          </a:p>
          <a:p>
            <a:r>
              <a:rPr lang="en-US" dirty="0"/>
              <a:t>Branch is a </a:t>
            </a:r>
            <a:r>
              <a:rPr lang="en-US" b="1" dirty="0"/>
              <a:t>pointer to </a:t>
            </a:r>
            <a:r>
              <a:rPr lang="en-US" dirty="0"/>
              <a:t>a commit</a:t>
            </a:r>
          </a:p>
          <a:p>
            <a:pPr lvl="1"/>
            <a:r>
              <a:rPr lang="en-US" dirty="0"/>
              <a:t>Most recent commit in a branch</a:t>
            </a:r>
          </a:p>
          <a:p>
            <a:pPr lvl="1"/>
            <a:r>
              <a:rPr lang="en-US" dirty="0"/>
              <a:t>Default name: </a:t>
            </a:r>
            <a:br>
              <a:rPr lang="en-US" dirty="0"/>
            </a:br>
            <a:r>
              <a:rPr lang="en-US" dirty="0"/>
              <a:t>“master”, “main” or </a:t>
            </a:r>
            <a:br>
              <a:rPr lang="en-US" dirty="0"/>
            </a:br>
            <a:r>
              <a:rPr lang="en-US" dirty="0"/>
              <a:t>“</a:t>
            </a:r>
            <a:r>
              <a:rPr lang="en-US" dirty="0" err="1"/>
              <a:t>CommitMcCommitFace”</a:t>
            </a:r>
          </a:p>
          <a:p>
            <a:r>
              <a:rPr lang="en-US" dirty="0"/>
              <a:t>Branches are meant to merge</a:t>
            </a:r>
          </a:p>
          <a:p>
            <a:r>
              <a:rPr lang="en-US" dirty="0"/>
              <a:t>Do not have to overuse with </a:t>
            </a:r>
            <a:br>
              <a:rPr lang="en-US" dirty="0"/>
            </a:br>
            <a:r>
              <a:rPr lang="en-US" dirty="0"/>
              <a:t>GitHub</a:t>
            </a:r>
          </a:p>
          <a:p>
            <a:endParaRPr lang="en-US" dirty="0"/>
          </a:p>
          <a:p>
            <a:endParaRPr lang="en-US" dirty="0"/>
          </a:p>
          <a:p>
            <a:endParaRPr lang="en-US" dirty="0"/>
          </a:p>
          <a:p>
            <a:pPr marL="0" indent="0">
              <a:buNone/>
            </a:pPr>
            <a:endParaRPr lang="en-US" dirty="0"/>
          </a:p>
        </p:txBody>
      </p:sp>
      <p:pic>
        <p:nvPicPr>
          <p:cNvPr id="6146" name="Picture 2" descr="The git-flow branching diagram: horizontal lanes labelled master, hotfixes, release branches, develop and feature branches. Commits are coloured dots; arrows show branches splitting off develop and merging back, along a left-to-right time ax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8855" y="2719624"/>
            <a:ext cx="5760294" cy="4061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55651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Collaboration</a:t>
            </a:r>
          </a:p>
        </p:txBody>
      </p:sp>
      <p:sp>
        <p:nvSpPr>
          <p:cNvPr id="3" name="Zástupný symbol pro obsah 2"/>
          <p:cNvSpPr>
            <a:spLocks noGrp="1"/>
          </p:cNvSpPr>
          <p:nvPr>
            <p:ph idx="1"/>
          </p:nvPr>
        </p:nvSpPr>
        <p:spPr/>
        <p:txBody>
          <a:bodyPr>
            <a:normAutofit lnSpcReduction="10000"/>
          </a:bodyPr>
          <a:lstStyle/>
          <a:p>
            <a:r>
              <a:rPr lang="en-US" dirty="0"/>
              <a:t>Collaborators in your group share the same remote</a:t>
            </a:r>
          </a:p>
          <a:p>
            <a:pPr lvl="1"/>
            <a:r>
              <a:rPr lang="en-US" dirty="0"/>
              <a:t>Write access?</a:t>
            </a:r>
          </a:p>
          <a:p>
            <a:endParaRPr lang="en-US" dirty="0"/>
          </a:p>
          <a:p>
            <a:r>
              <a:rPr lang="en-US" dirty="0"/>
              <a:t>Outside collaborators for open-source project</a:t>
            </a:r>
          </a:p>
          <a:p>
            <a:pPr lvl="1"/>
            <a:r>
              <a:rPr lang="en-US" dirty="0"/>
              <a:t>Use GitHub’s pull request features:</a:t>
            </a:r>
          </a:p>
          <a:p>
            <a:pPr lvl="1"/>
            <a:r>
              <a:rPr lang="en-US" dirty="0"/>
              <a:t>Collaborator:</a:t>
            </a:r>
          </a:p>
          <a:p>
            <a:pPr lvl="2"/>
            <a:r>
              <a:rPr lang="en-US" dirty="0"/>
              <a:t>Makes a copy (Fork) of the repo</a:t>
            </a:r>
          </a:p>
          <a:p>
            <a:pPr lvl="2"/>
            <a:r>
              <a:rPr lang="en-US" dirty="0"/>
              <a:t>Commits his changes</a:t>
            </a:r>
          </a:p>
          <a:p>
            <a:pPr lvl="2"/>
            <a:r>
              <a:rPr lang="en-US" dirty="0"/>
              <a:t>Issues pull request</a:t>
            </a:r>
          </a:p>
          <a:p>
            <a:pPr lvl="1"/>
            <a:r>
              <a:rPr lang="en-US" dirty="0"/>
              <a:t>Maintainer:</a:t>
            </a:r>
          </a:p>
          <a:p>
            <a:pPr lvl="2"/>
            <a:r>
              <a:rPr lang="en-US" dirty="0"/>
              <a:t>Reviews and merges the changes</a:t>
            </a:r>
          </a:p>
        </p:txBody>
      </p:sp>
      <p:pic>
        <p:nvPicPr>
          <p:cNvPr id="3074" name="Picture 2" descr="A diagram titled 'Git and GitHub' showing the fork workflow in four numbered steps: 1, clone or pull from the original repository; 2, fork the original repo into your GitHub account; 3, push from your development machine to your fork; 4, open a pull request from your fork back to the original reposito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619499"/>
            <a:ext cx="6096000" cy="3238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70769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Pull requests</a:t>
            </a:r>
          </a:p>
        </p:txBody>
      </p:sp>
      <p:sp>
        <p:nvSpPr>
          <p:cNvPr id="3" name="Zástupný symbol pro obsah 2"/>
          <p:cNvSpPr>
            <a:spLocks noGrp="1"/>
          </p:cNvSpPr>
          <p:nvPr>
            <p:ph idx="1"/>
          </p:nvPr>
        </p:nvSpPr>
        <p:spPr/>
        <p:txBody>
          <a:bodyPr>
            <a:normAutofit fontScale="85000" lnSpcReduction="20000"/>
          </a:bodyPr>
          <a:lstStyle/>
          <a:p>
            <a:r>
              <a:rPr lang="en-US" dirty="0"/>
              <a:t>Open the code to wide public, incl. non-collaborators</a:t>
            </a:r>
          </a:p>
          <a:p>
            <a:pPr lvl="1"/>
            <a:r>
              <a:rPr lang="en-US" dirty="0"/>
              <a:t>Still prevent them from messing your code</a:t>
            </a:r>
          </a:p>
          <a:p>
            <a:r>
              <a:rPr lang="en-US" dirty="0"/>
              <a:t>“Hey, I fixed your code, </a:t>
            </a:r>
            <a:r>
              <a:rPr lang="en-US" dirty="0" err="1"/>
              <a:t>wanna</a:t>
            </a:r>
            <a:r>
              <a:rPr lang="en-US" dirty="0"/>
              <a:t> merge?”</a:t>
            </a:r>
          </a:p>
          <a:p>
            <a:endParaRPr lang="en-US" dirty="0"/>
          </a:p>
          <a:p>
            <a:r>
              <a:rPr lang="en-US" dirty="0"/>
              <a:t>You are sharing your code, Bob checks it out (forks).</a:t>
            </a:r>
          </a:p>
          <a:p>
            <a:r>
              <a:rPr lang="en-US" dirty="0"/>
              <a:t>Fork is Bobs version (= Bob’s branch)</a:t>
            </a:r>
          </a:p>
          <a:p>
            <a:r>
              <a:rPr lang="en-US" dirty="0"/>
              <a:t>Bob makes some changes and commits to his repository (which is a branch of your repository). </a:t>
            </a:r>
            <a:br>
              <a:rPr lang="en-US" dirty="0"/>
            </a:br>
            <a:r>
              <a:rPr lang="en-US" dirty="0"/>
              <a:t>Bob finalizes his codes.</a:t>
            </a:r>
          </a:p>
          <a:p>
            <a:r>
              <a:rPr lang="en-US" dirty="0"/>
              <a:t>Bob can’t rewrite your code, </a:t>
            </a:r>
            <a:br>
              <a:rPr lang="en-US" dirty="0"/>
            </a:br>
            <a:r>
              <a:rPr lang="en-US" dirty="0"/>
              <a:t>issues a pull request</a:t>
            </a:r>
          </a:p>
          <a:p>
            <a:r>
              <a:rPr lang="en-US" dirty="0"/>
              <a:t>You check his changes and merge</a:t>
            </a:r>
          </a:p>
          <a:p>
            <a:endParaRPr lang="en-US" dirty="0"/>
          </a:p>
        </p:txBody>
      </p:sp>
      <p:pic>
        <p:nvPicPr>
          <p:cNvPr id="8194" name="Picture 2" descr="A stylised pull-request timeline: a branch leaves the main line at a branch icon, collects several commits and review-comment bubbles, passes a merge marker, and rejoins the main l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750" y="4524637"/>
            <a:ext cx="6191250" cy="219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580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Client tools</a:t>
            </a:r>
          </a:p>
        </p:txBody>
      </p:sp>
      <p:pic>
        <p:nvPicPr>
          <p:cNvPr id="5122" name="Picture 2" descr="A one-page Git cheat sheet with sections Create a Repository, Observe your Repository, Working with Branches, Make a change and Synchronize. A diagram along the bottom links Working Directory, Staging (index), Local Repository and Remote Repository with arrows labelled add, commit, push, fetch, pull and res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8378" y="1392573"/>
            <a:ext cx="7107178" cy="5026848"/>
          </a:xfrm>
          <a:prstGeom prst="rect">
            <a:avLst/>
          </a:prstGeom>
          <a:noFill/>
          <a:extLst>
            <a:ext uri="{909E8E84-426E-40DD-AFC4-6F175D3DCCD1}">
              <a14:hiddenFill xmlns:a14="http://schemas.microsoft.com/office/drawing/2010/main">
                <a:solidFill>
                  <a:srgbClr val="FFFFFF"/>
                </a:solidFill>
              </a14:hiddenFill>
            </a:ext>
          </a:extLst>
        </p:spPr>
      </p:pic>
      <p:sp>
        <p:nvSpPr>
          <p:cNvPr id="3" name="Zástupný symbol pro obsah 2"/>
          <p:cNvSpPr>
            <a:spLocks noGrp="1"/>
          </p:cNvSpPr>
          <p:nvPr>
            <p:ph idx="1"/>
          </p:nvPr>
        </p:nvSpPr>
        <p:spPr>
          <a:xfrm>
            <a:off x="838200" y="1825625"/>
            <a:ext cx="5257800" cy="4351338"/>
          </a:xfrm>
        </p:spPr>
        <p:txBody>
          <a:bodyPr>
            <a:normAutofit fontScale="85000" lnSpcReduction="20000"/>
          </a:bodyPr>
          <a:lstStyle/>
          <a:p>
            <a:r>
              <a:rPr lang="en-US" dirty="0">
                <a:hlinkClick r:id="rId3"/>
              </a:rPr>
              <a:t>Git GUI clients (git-scm.com)</a:t>
            </a:r>
            <a:br>
              <a:rPr lang="en-US" dirty="0">
                <a:hlinkClick r:id="rId3"/>
              </a:rPr>
            </a:br>
            <a:r>
              <a:rPr lang="en-US" dirty="0"/>
              <a:t> </a:t>
            </a:r>
          </a:p>
          <a:p>
            <a:r>
              <a:rPr lang="en-US" dirty="0"/>
              <a:t>Command line?</a:t>
            </a:r>
          </a:p>
          <a:p>
            <a:pPr lvl="1"/>
            <a:r>
              <a:rPr lang="en-US" dirty="0">
                <a:hlinkClick r:id="rId4"/>
              </a:rPr>
              <a:t>git-scm.com</a:t>
            </a:r>
            <a:r>
              <a:rPr lang="en-US" dirty="0"/>
              <a:t> </a:t>
            </a:r>
          </a:p>
          <a:p>
            <a:r>
              <a:rPr lang="en-US" dirty="0"/>
              <a:t>Windows</a:t>
            </a:r>
          </a:p>
          <a:p>
            <a:pPr lvl="1"/>
            <a:r>
              <a:rPr lang="en-US" dirty="0" err="1">
                <a:hlinkClick r:id="rId5"/>
              </a:rPr>
              <a:t>TortoiseGit</a:t>
            </a:r>
            <a:r>
              <a:rPr lang="en-US" dirty="0"/>
              <a:t> + </a:t>
            </a:r>
            <a:r>
              <a:rPr lang="en-US" dirty="0" err="1"/>
              <a:t>Git</a:t>
            </a:r>
            <a:r>
              <a:rPr lang="en-US" dirty="0"/>
              <a:t> for Windows  </a:t>
            </a:r>
          </a:p>
          <a:p>
            <a:pPr lvl="1"/>
            <a:r>
              <a:rPr lang="en-US" b="1" dirty="0">
                <a:hlinkClick r:id="rId6"/>
              </a:rPr>
              <a:t>GitHub Desktop </a:t>
            </a:r>
            <a:r>
              <a:rPr lang="en-US" b="1" dirty="0"/>
              <a:t> </a:t>
            </a:r>
          </a:p>
          <a:p>
            <a:r>
              <a:rPr lang="en-US" dirty="0" err="1"/>
              <a:t>MacOs</a:t>
            </a:r>
            <a:endParaRPr lang="en-US" dirty="0"/>
          </a:p>
          <a:p>
            <a:pPr lvl="1"/>
            <a:r>
              <a:rPr lang="en-US" b="1" dirty="0">
                <a:hlinkClick r:id="rId6"/>
              </a:rPr>
              <a:t>GitHub Desktop </a:t>
            </a:r>
            <a:r>
              <a:rPr lang="en-US" b="1" dirty="0"/>
              <a:t> </a:t>
            </a:r>
          </a:p>
          <a:p>
            <a:pPr lvl="1"/>
            <a:r>
              <a:rPr lang="en-US" dirty="0"/>
              <a:t>…</a:t>
            </a:r>
          </a:p>
          <a:p>
            <a:r>
              <a:rPr lang="en-US" i="1" dirty="0"/>
              <a:t>Integrated into </a:t>
            </a:r>
            <a:r>
              <a:rPr lang="en-US" i="1" dirty="0" err="1"/>
              <a:t>Matlab</a:t>
            </a:r>
            <a:r>
              <a:rPr lang="en-US" i="1" dirty="0"/>
              <a:t>, VS Code…</a:t>
            </a:r>
          </a:p>
          <a:p>
            <a:pPr lvl="1"/>
            <a:endParaRPr lang="en-US" dirty="0"/>
          </a:p>
        </p:txBody>
      </p:sp>
    </p:spTree>
    <p:extLst>
      <p:ext uri="{BB962C8B-B14F-4D97-AF65-F5344CB8AC3E}">
        <p14:creationId xmlns:p14="http://schemas.microsoft.com/office/powerpoint/2010/main" val="20609060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GUI or command line? It is the same Git</a:t>
            </a:r>
          </a:p>
        </p:txBody>
      </p:sp>
      <p:sp>
        <p:nvSpPr>
          <p:cNvPr id="3" name="Content Placeholder 2"/>
          <p:cNvSpPr>
            <a:spLocks noGrp="1"/>
          </p:cNvSpPr>
          <p:nvPr>
            <p:ph idx="1"/>
          </p:nvPr>
        </p:nvSpPr>
        <p:spPr/>
        <p:txBody>
          <a:bodyPr wrap="square">
            <a:normAutofit/>
          </a:bodyPr>
          <a:lstStyle/>
          <a:p>
            <a:r>
              <a:rPr sz="2000" dirty="0"/>
              <a:t>Git is </a:t>
            </a:r>
            <a:r>
              <a:rPr sz="2000" b="1" dirty="0"/>
              <a:t>one program</a:t>
            </a:r>
            <a:r>
              <a:rPr sz="2000" dirty="0"/>
              <a:t>. Every GUI is a </a:t>
            </a:r>
            <a:r>
              <a:rPr sz="2000" i="1" dirty="0"/>
              <a:t>layer on top of it</a:t>
            </a:r>
            <a:r>
              <a:rPr sz="2000" dirty="0"/>
              <a:t> — it types the commands for you</a:t>
            </a:r>
          </a:p>
          <a:p>
            <a:pPr lvl="1"/>
            <a:r>
              <a:rPr sz="1800" dirty="0"/>
              <a:t>GitHub Desktop ships its own copy of Git inside</a:t>
            </a:r>
          </a:p>
          <a:p>
            <a:pPr lvl="1"/>
            <a:r>
              <a:rPr sz="1800" dirty="0"/>
              <a:t>Install </a:t>
            </a:r>
            <a:r>
              <a:rPr sz="1800" b="1" dirty="0"/>
              <a:t>Git for Windows</a:t>
            </a:r>
            <a:r>
              <a:rPr sz="1800" dirty="0"/>
              <a:t> and VS Code, MATLAB, RStudio, </a:t>
            </a:r>
            <a:r>
              <a:rPr sz="1800" dirty="0" err="1"/>
              <a:t>TortoiseGit</a:t>
            </a:r>
            <a:r>
              <a:rPr sz="1800" dirty="0"/>
              <a:t> all share that one</a:t>
            </a:r>
          </a:p>
          <a:p>
            <a:pPr lvl="1"/>
            <a:r>
              <a:rPr sz="1800" dirty="0"/>
              <a:t>So it is never GUI </a:t>
            </a:r>
            <a:r>
              <a:rPr sz="1800" i="1" dirty="0"/>
              <a:t>versus</a:t>
            </a:r>
            <a:r>
              <a:rPr sz="1800" dirty="0"/>
              <a:t> CLI — you always have both installed</a:t>
            </a:r>
          </a:p>
          <a:p>
            <a:pPr>
              <a:defRPr sz="700"/>
            </a:pPr>
            <a:endParaRPr sz="1800" dirty="0"/>
          </a:p>
          <a:p>
            <a:r>
              <a:rPr sz="2000" b="1" dirty="0"/>
              <a:t>The GUI wins at:</a:t>
            </a:r>
            <a:r>
              <a:rPr sz="2000" dirty="0"/>
              <a:t> staging individual lines, reading a diff, browsing history, resolving conflicts</a:t>
            </a:r>
          </a:p>
          <a:p>
            <a:r>
              <a:rPr sz="2000" b="1" dirty="0"/>
              <a:t>The command line wins at:</a:t>
            </a:r>
            <a:r>
              <a:rPr sz="2000" dirty="0"/>
              <a:t> the cluster (Great Lakes has no GUI), scripting</a:t>
            </a:r>
            <a:r>
              <a:rPr lang="en-US" sz="2000" dirty="0"/>
              <a:t>, AI, </a:t>
            </a:r>
          </a:p>
          <a:p>
            <a:pPr lvl="1"/>
            <a:r>
              <a:rPr sz="1600" dirty="0"/>
              <a:t>and </a:t>
            </a:r>
            <a:r>
              <a:rPr sz="1600" b="1" dirty="0"/>
              <a:t>every answer you will ever find online</a:t>
            </a:r>
          </a:p>
          <a:p>
            <a:pPr>
              <a:defRPr sz="700"/>
            </a:pPr>
            <a:endParaRPr sz="2000" b="1" dirty="0"/>
          </a:p>
          <a:p>
            <a:r>
              <a:rPr sz="2000" dirty="0"/>
              <a:t>Recommendation: click in the GUI — but know which command each button is running.</a:t>
            </a:r>
          </a:p>
          <a:p>
            <a:pPr lvl="1"/>
            <a:r>
              <a:rPr sz="1800" dirty="0"/>
              <a:t>That is what lets you ask a useful question when it breaks.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command card</a:t>
            </a:r>
          </a:p>
        </p:txBody>
      </p:sp>
      <p:graphicFrame>
        <p:nvGraphicFramePr>
          <p:cNvPr id="3" name="Table 2" descr="Table of common Git commands: the command, what it does, and the equivalent action in GitHub Desktop."/>
          <p:cNvGraphicFramePr>
            <a:graphicFrameLocks noGrp="1"/>
          </p:cNvGraphicFramePr>
          <p:nvPr/>
        </p:nvGraphicFramePr>
        <p:xfrm>
          <a:off x="838200" y="1828800"/>
          <a:ext cx="10515600" cy="3511296"/>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292608">
                <a:tc>
                  <a:txBody>
                    <a:bodyPr/>
                    <a:lstStyle/>
                    <a:p>
                      <a:r>
                        <a:rPr sz="1300" b="1">
                          <a:solidFill>
                            <a:srgbClr val="FFFFFF"/>
                          </a:solidFill>
                        </a:rPr>
                        <a:t>Command</a:t>
                      </a:r>
                    </a:p>
                  </a:txBody>
                  <a:tcPr marT="18000" marB="18000" anchor="ctr">
                    <a:solidFill>
                      <a:srgbClr val="1F4E79"/>
                    </a:solidFill>
                  </a:tcPr>
                </a:tc>
                <a:tc>
                  <a:txBody>
                    <a:bodyPr/>
                    <a:lstStyle/>
                    <a:p>
                      <a:r>
                        <a:rPr sz="1300" b="1">
                          <a:solidFill>
                            <a:srgbClr val="FFFFFF"/>
                          </a:solidFill>
                        </a:rPr>
                        <a:t>What it does</a:t>
                      </a:r>
                    </a:p>
                  </a:txBody>
                  <a:tcPr marT="18000" marB="18000" anchor="ctr">
                    <a:solidFill>
                      <a:srgbClr val="1F4E79"/>
                    </a:solidFill>
                  </a:tcPr>
                </a:tc>
                <a:tc>
                  <a:txBody>
                    <a:bodyPr/>
                    <a:lstStyle/>
                    <a:p>
                      <a:r>
                        <a:rPr sz="1300" b="1">
                          <a:solidFill>
                            <a:srgbClr val="FFFFFF"/>
                          </a:solidFill>
                        </a:rPr>
                        <a:t>In GitHub Desktop</a:t>
                      </a:r>
                    </a:p>
                  </a:txBody>
                  <a:tcPr marT="18000" marB="18000" anchor="ctr">
                    <a:solidFill>
                      <a:srgbClr val="1F4E79"/>
                    </a:solidFill>
                  </a:tcPr>
                </a:tc>
                <a:extLst>
                  <a:ext uri="{0D108BD9-81ED-4DB2-BD59-A6C34878D82A}">
                    <a16:rowId xmlns:a16="http://schemas.microsoft.com/office/drawing/2014/main" val="10000"/>
                  </a:ext>
                </a:extLst>
              </a:tr>
              <a:tr h="292608">
                <a:tc>
                  <a:txBody>
                    <a:bodyPr/>
                    <a:lstStyle/>
                    <a:p>
                      <a:r>
                        <a:rPr sz="1200">
                          <a:solidFill>
                            <a:srgbClr val="000000"/>
                          </a:solidFill>
                          <a:latin typeface="Consolas"/>
                        </a:rPr>
                        <a:t>git clone &lt;url&gt;</a:t>
                      </a:r>
                    </a:p>
                  </a:txBody>
                  <a:tcPr marT="9000" marB="9000" anchor="ctr"/>
                </a:tc>
                <a:tc>
                  <a:txBody>
                    <a:bodyPr/>
                    <a:lstStyle/>
                    <a:p>
                      <a:r>
                        <a:rPr sz="1200">
                          <a:solidFill>
                            <a:srgbClr val="000000"/>
                          </a:solidFill>
                        </a:rPr>
                        <a:t>Copy a remote repo to your machine (once)</a:t>
                      </a:r>
                    </a:p>
                  </a:txBody>
                  <a:tcPr marT="9000" marB="9000" anchor="ctr"/>
                </a:tc>
                <a:tc>
                  <a:txBody>
                    <a:bodyPr/>
                    <a:lstStyle/>
                    <a:p>
                      <a:r>
                        <a:rPr sz="1200">
                          <a:solidFill>
                            <a:srgbClr val="000000"/>
                          </a:solidFill>
                        </a:rPr>
                        <a:t>File ▸ Clone repository</a:t>
                      </a:r>
                    </a:p>
                  </a:txBody>
                  <a:tcPr marT="9000" marB="9000" anchor="ctr"/>
                </a:tc>
                <a:extLst>
                  <a:ext uri="{0D108BD9-81ED-4DB2-BD59-A6C34878D82A}">
                    <a16:rowId xmlns:a16="http://schemas.microsoft.com/office/drawing/2014/main" val="10001"/>
                  </a:ext>
                </a:extLst>
              </a:tr>
              <a:tr h="292608">
                <a:tc>
                  <a:txBody>
                    <a:bodyPr/>
                    <a:lstStyle/>
                    <a:p>
                      <a:r>
                        <a:rPr sz="1200">
                          <a:solidFill>
                            <a:srgbClr val="000000"/>
                          </a:solidFill>
                          <a:latin typeface="Consolas"/>
                        </a:rPr>
                        <a:t>git status</a:t>
                      </a:r>
                    </a:p>
                  </a:txBody>
                  <a:tcPr marT="9000" marB="9000" anchor="ctr"/>
                </a:tc>
                <a:tc>
                  <a:txBody>
                    <a:bodyPr/>
                    <a:lstStyle/>
                    <a:p>
                      <a:r>
                        <a:rPr sz="1200" b="1">
                          <a:solidFill>
                            <a:srgbClr val="000000"/>
                          </a:solidFill>
                        </a:rPr>
                        <a:t>What changed, what is staged, what to do next</a:t>
                      </a:r>
                    </a:p>
                  </a:txBody>
                  <a:tcPr marT="9000" marB="9000" anchor="ctr"/>
                </a:tc>
                <a:tc>
                  <a:txBody>
                    <a:bodyPr/>
                    <a:lstStyle/>
                    <a:p>
                      <a:r>
                        <a:rPr sz="1200">
                          <a:solidFill>
                            <a:srgbClr val="000000"/>
                          </a:solidFill>
                        </a:rPr>
                        <a:t>…is the whole left panel</a:t>
                      </a:r>
                    </a:p>
                  </a:txBody>
                  <a:tcPr marT="9000" marB="9000" anchor="ctr"/>
                </a:tc>
                <a:extLst>
                  <a:ext uri="{0D108BD9-81ED-4DB2-BD59-A6C34878D82A}">
                    <a16:rowId xmlns:a16="http://schemas.microsoft.com/office/drawing/2014/main" val="10002"/>
                  </a:ext>
                </a:extLst>
              </a:tr>
              <a:tr h="292608">
                <a:tc>
                  <a:txBody>
                    <a:bodyPr/>
                    <a:lstStyle/>
                    <a:p>
                      <a:r>
                        <a:rPr sz="1200">
                          <a:solidFill>
                            <a:srgbClr val="000000"/>
                          </a:solidFill>
                          <a:latin typeface="Consolas"/>
                        </a:rPr>
                        <a:t>git add &lt;file&gt;</a:t>
                      </a:r>
                      <a:r>
                        <a:rPr sz="1200">
                          <a:solidFill>
                            <a:srgbClr val="000000"/>
                          </a:solidFill>
                        </a:rPr>
                        <a:t> / </a:t>
                      </a:r>
                      <a:r>
                        <a:rPr sz="1200">
                          <a:solidFill>
                            <a:srgbClr val="000000"/>
                          </a:solidFill>
                          <a:latin typeface="Consolas"/>
                        </a:rPr>
                        <a:t>-p</a:t>
                      </a:r>
                    </a:p>
                  </a:txBody>
                  <a:tcPr marT="9000" marB="9000" anchor="ctr"/>
                </a:tc>
                <a:tc>
                  <a:txBody>
                    <a:bodyPr/>
                    <a:lstStyle/>
                    <a:p>
                      <a:r>
                        <a:rPr sz="1200">
                          <a:solidFill>
                            <a:srgbClr val="000000"/>
                          </a:solidFill>
                        </a:rPr>
                        <a:t>Stage a file / selected lines</a:t>
                      </a:r>
                    </a:p>
                  </a:txBody>
                  <a:tcPr marT="9000" marB="9000" anchor="ctr"/>
                </a:tc>
                <a:tc>
                  <a:txBody>
                    <a:bodyPr/>
                    <a:lstStyle/>
                    <a:p>
                      <a:r>
                        <a:rPr sz="1200">
                          <a:solidFill>
                            <a:srgbClr val="000000"/>
                          </a:solidFill>
                        </a:rPr>
                        <a:t>Tick the checkbox / select lines</a:t>
                      </a:r>
                    </a:p>
                  </a:txBody>
                  <a:tcPr marT="9000" marB="9000" anchor="ctr"/>
                </a:tc>
                <a:extLst>
                  <a:ext uri="{0D108BD9-81ED-4DB2-BD59-A6C34878D82A}">
                    <a16:rowId xmlns:a16="http://schemas.microsoft.com/office/drawing/2014/main" val="10003"/>
                  </a:ext>
                </a:extLst>
              </a:tr>
              <a:tr h="292608">
                <a:tc>
                  <a:txBody>
                    <a:bodyPr/>
                    <a:lstStyle/>
                    <a:p>
                      <a:r>
                        <a:rPr sz="1200">
                          <a:solidFill>
                            <a:srgbClr val="000000"/>
                          </a:solidFill>
                          <a:latin typeface="Consolas"/>
                        </a:rPr>
                        <a:t>git commit -m "…"</a:t>
                      </a:r>
                    </a:p>
                  </a:txBody>
                  <a:tcPr marT="9000" marB="9000" anchor="ctr"/>
                </a:tc>
                <a:tc>
                  <a:txBody>
                    <a:bodyPr/>
                    <a:lstStyle/>
                    <a:p>
                      <a:r>
                        <a:rPr sz="1200">
                          <a:solidFill>
                            <a:srgbClr val="000000"/>
                          </a:solidFill>
                        </a:rPr>
                        <a:t>Checkpoint — </a:t>
                      </a:r>
                      <a:r>
                        <a:rPr sz="1200" b="1">
                          <a:solidFill>
                            <a:srgbClr val="000000"/>
                          </a:solidFill>
                        </a:rPr>
                        <a:t>local only</a:t>
                      </a:r>
                    </a:p>
                  </a:txBody>
                  <a:tcPr marT="9000" marB="9000" anchor="ctr"/>
                </a:tc>
                <a:tc>
                  <a:txBody>
                    <a:bodyPr/>
                    <a:lstStyle/>
                    <a:p>
                      <a:r>
                        <a:rPr sz="1200">
                          <a:solidFill>
                            <a:srgbClr val="000000"/>
                          </a:solidFill>
                        </a:rPr>
                        <a:t>Commit to main</a:t>
                      </a:r>
                    </a:p>
                  </a:txBody>
                  <a:tcPr marT="9000" marB="9000" anchor="ctr"/>
                </a:tc>
                <a:extLst>
                  <a:ext uri="{0D108BD9-81ED-4DB2-BD59-A6C34878D82A}">
                    <a16:rowId xmlns:a16="http://schemas.microsoft.com/office/drawing/2014/main" val="10004"/>
                  </a:ext>
                </a:extLst>
              </a:tr>
              <a:tr h="292608">
                <a:tc>
                  <a:txBody>
                    <a:bodyPr/>
                    <a:lstStyle/>
                    <a:p>
                      <a:r>
                        <a:rPr sz="1200">
                          <a:solidFill>
                            <a:srgbClr val="000000"/>
                          </a:solidFill>
                          <a:latin typeface="Consolas"/>
                        </a:rPr>
                        <a:t>git log --oneline --graph --all</a:t>
                      </a:r>
                    </a:p>
                  </a:txBody>
                  <a:tcPr marT="9000" marB="9000" anchor="ctr"/>
                </a:tc>
                <a:tc>
                  <a:txBody>
                    <a:bodyPr/>
                    <a:lstStyle/>
                    <a:p>
                      <a:r>
                        <a:rPr sz="1200">
                          <a:solidFill>
                            <a:srgbClr val="000000"/>
                          </a:solidFill>
                        </a:rPr>
                        <a:t>See the history as a graph</a:t>
                      </a:r>
                    </a:p>
                  </a:txBody>
                  <a:tcPr marT="9000" marB="9000" anchor="ctr"/>
                </a:tc>
                <a:tc>
                  <a:txBody>
                    <a:bodyPr/>
                    <a:lstStyle/>
                    <a:p>
                      <a:r>
                        <a:rPr sz="1200">
                          <a:solidFill>
                            <a:srgbClr val="000000"/>
                          </a:solidFill>
                        </a:rPr>
                        <a:t>History tab</a:t>
                      </a:r>
                    </a:p>
                  </a:txBody>
                  <a:tcPr marT="9000" marB="9000" anchor="ctr"/>
                </a:tc>
                <a:extLst>
                  <a:ext uri="{0D108BD9-81ED-4DB2-BD59-A6C34878D82A}">
                    <a16:rowId xmlns:a16="http://schemas.microsoft.com/office/drawing/2014/main" val="10005"/>
                  </a:ext>
                </a:extLst>
              </a:tr>
              <a:tr h="292608">
                <a:tc>
                  <a:txBody>
                    <a:bodyPr/>
                    <a:lstStyle/>
                    <a:p>
                      <a:r>
                        <a:rPr sz="1200">
                          <a:solidFill>
                            <a:srgbClr val="000000"/>
                          </a:solidFill>
                          <a:latin typeface="Consolas"/>
                        </a:rPr>
                        <a:t>git diff</a:t>
                      </a:r>
                      <a:r>
                        <a:rPr sz="1200">
                          <a:solidFill>
                            <a:srgbClr val="000000"/>
                          </a:solidFill>
                        </a:rPr>
                        <a:t> / </a:t>
                      </a:r>
                      <a:r>
                        <a:rPr sz="1200">
                          <a:solidFill>
                            <a:srgbClr val="000000"/>
                          </a:solidFill>
                          <a:latin typeface="Consolas"/>
                        </a:rPr>
                        <a:t>--staged</a:t>
                      </a:r>
                    </a:p>
                  </a:txBody>
                  <a:tcPr marT="9000" marB="9000" anchor="ctr"/>
                </a:tc>
                <a:tc>
                  <a:txBody>
                    <a:bodyPr/>
                    <a:lstStyle/>
                    <a:p>
                      <a:r>
                        <a:rPr sz="1200">
                          <a:solidFill>
                            <a:srgbClr val="000000"/>
                          </a:solidFill>
                        </a:rPr>
                        <a:t>What exactly changed</a:t>
                      </a:r>
                    </a:p>
                  </a:txBody>
                  <a:tcPr marT="9000" marB="9000" anchor="ctr"/>
                </a:tc>
                <a:tc>
                  <a:txBody>
                    <a:bodyPr/>
                    <a:lstStyle/>
                    <a:p>
                      <a:r>
                        <a:rPr sz="1200">
                          <a:solidFill>
                            <a:srgbClr val="000000"/>
                          </a:solidFill>
                        </a:rPr>
                        <a:t>The diff pane</a:t>
                      </a:r>
                    </a:p>
                  </a:txBody>
                  <a:tcPr marT="9000" marB="9000" anchor="ctr"/>
                </a:tc>
                <a:extLst>
                  <a:ext uri="{0D108BD9-81ED-4DB2-BD59-A6C34878D82A}">
                    <a16:rowId xmlns:a16="http://schemas.microsoft.com/office/drawing/2014/main" val="10006"/>
                  </a:ext>
                </a:extLst>
              </a:tr>
              <a:tr h="292608">
                <a:tc>
                  <a:txBody>
                    <a:bodyPr/>
                    <a:lstStyle/>
                    <a:p>
                      <a:r>
                        <a:rPr sz="1200">
                          <a:solidFill>
                            <a:srgbClr val="000000"/>
                          </a:solidFill>
                          <a:latin typeface="Consolas"/>
                        </a:rPr>
                        <a:t>git pull</a:t>
                      </a:r>
                    </a:p>
                  </a:txBody>
                  <a:tcPr marT="9000" marB="9000" anchor="ctr"/>
                </a:tc>
                <a:tc>
                  <a:txBody>
                    <a:bodyPr/>
                    <a:lstStyle/>
                    <a:p>
                      <a:r>
                        <a:rPr sz="1200">
                          <a:solidFill>
                            <a:srgbClr val="000000"/>
                          </a:solidFill>
                        </a:rPr>
                        <a:t>Fetch the remote and merge it into your branch</a:t>
                      </a:r>
                    </a:p>
                  </a:txBody>
                  <a:tcPr marT="9000" marB="9000" anchor="ctr"/>
                </a:tc>
                <a:tc>
                  <a:txBody>
                    <a:bodyPr/>
                    <a:lstStyle/>
                    <a:p>
                      <a:r>
                        <a:rPr sz="1200">
                          <a:solidFill>
                            <a:srgbClr val="000000"/>
                          </a:solidFill>
                        </a:rPr>
                        <a:t>Pull origin</a:t>
                      </a:r>
                    </a:p>
                  </a:txBody>
                  <a:tcPr marT="9000" marB="9000" anchor="ctr"/>
                </a:tc>
                <a:extLst>
                  <a:ext uri="{0D108BD9-81ED-4DB2-BD59-A6C34878D82A}">
                    <a16:rowId xmlns:a16="http://schemas.microsoft.com/office/drawing/2014/main" val="10007"/>
                  </a:ext>
                </a:extLst>
              </a:tr>
              <a:tr h="292608">
                <a:tc>
                  <a:txBody>
                    <a:bodyPr/>
                    <a:lstStyle/>
                    <a:p>
                      <a:r>
                        <a:rPr sz="1200">
                          <a:solidFill>
                            <a:srgbClr val="000000"/>
                          </a:solidFill>
                          <a:latin typeface="Consolas"/>
                        </a:rPr>
                        <a:t>git push</a:t>
                      </a:r>
                    </a:p>
                  </a:txBody>
                  <a:tcPr marT="9000" marB="9000" anchor="ctr"/>
                </a:tc>
                <a:tc>
                  <a:txBody>
                    <a:bodyPr/>
                    <a:lstStyle/>
                    <a:p>
                      <a:r>
                        <a:rPr sz="1200">
                          <a:solidFill>
                            <a:srgbClr val="000000"/>
                          </a:solidFill>
                        </a:rPr>
                        <a:t>Publish your commits</a:t>
                      </a:r>
                    </a:p>
                  </a:txBody>
                  <a:tcPr marT="9000" marB="9000" anchor="ctr"/>
                </a:tc>
                <a:tc>
                  <a:txBody>
                    <a:bodyPr/>
                    <a:lstStyle/>
                    <a:p>
                      <a:r>
                        <a:rPr sz="1200">
                          <a:solidFill>
                            <a:srgbClr val="000000"/>
                          </a:solidFill>
                        </a:rPr>
                        <a:t>Push origin</a:t>
                      </a:r>
                    </a:p>
                  </a:txBody>
                  <a:tcPr marT="9000" marB="9000" anchor="ctr"/>
                </a:tc>
                <a:extLst>
                  <a:ext uri="{0D108BD9-81ED-4DB2-BD59-A6C34878D82A}">
                    <a16:rowId xmlns:a16="http://schemas.microsoft.com/office/drawing/2014/main" val="10008"/>
                  </a:ext>
                </a:extLst>
              </a:tr>
              <a:tr h="292608">
                <a:tc>
                  <a:txBody>
                    <a:bodyPr/>
                    <a:lstStyle/>
                    <a:p>
                      <a:r>
                        <a:rPr sz="1200">
                          <a:solidFill>
                            <a:srgbClr val="000000"/>
                          </a:solidFill>
                          <a:latin typeface="Consolas"/>
                        </a:rPr>
                        <a:t>git switch &lt;br&gt;</a:t>
                      </a:r>
                      <a:r>
                        <a:rPr sz="1200">
                          <a:solidFill>
                            <a:srgbClr val="000000"/>
                          </a:solidFill>
                        </a:rPr>
                        <a:t> / </a:t>
                      </a:r>
                      <a:r>
                        <a:rPr sz="1200">
                          <a:solidFill>
                            <a:srgbClr val="000000"/>
                          </a:solidFill>
                          <a:latin typeface="Consolas"/>
                        </a:rPr>
                        <a:t>-c &lt;new&gt;</a:t>
                      </a:r>
                    </a:p>
                  </a:txBody>
                  <a:tcPr marT="9000" marB="9000" anchor="ctr"/>
                </a:tc>
                <a:tc>
                  <a:txBody>
                    <a:bodyPr/>
                    <a:lstStyle/>
                    <a:p>
                      <a:r>
                        <a:rPr sz="1200">
                          <a:solidFill>
                            <a:srgbClr val="000000"/>
                          </a:solidFill>
                        </a:rPr>
                        <a:t>Change branch / create one</a:t>
                      </a:r>
                    </a:p>
                  </a:txBody>
                  <a:tcPr marT="9000" marB="9000" anchor="ctr"/>
                </a:tc>
                <a:tc>
                  <a:txBody>
                    <a:bodyPr/>
                    <a:lstStyle/>
                    <a:p>
                      <a:r>
                        <a:rPr sz="1200">
                          <a:solidFill>
                            <a:srgbClr val="000000"/>
                          </a:solidFill>
                        </a:rPr>
                        <a:t>Current branch menu</a:t>
                      </a:r>
                    </a:p>
                  </a:txBody>
                  <a:tcPr marT="9000" marB="9000" anchor="ctr"/>
                </a:tc>
                <a:extLst>
                  <a:ext uri="{0D108BD9-81ED-4DB2-BD59-A6C34878D82A}">
                    <a16:rowId xmlns:a16="http://schemas.microsoft.com/office/drawing/2014/main" val="10009"/>
                  </a:ext>
                </a:extLst>
              </a:tr>
              <a:tr h="292608">
                <a:tc>
                  <a:txBody>
                    <a:bodyPr/>
                    <a:lstStyle/>
                    <a:p>
                      <a:r>
                        <a:rPr sz="1200">
                          <a:solidFill>
                            <a:srgbClr val="000000"/>
                          </a:solidFill>
                          <a:latin typeface="Consolas"/>
                        </a:rPr>
                        <a:t>git restore &lt;file&gt;</a:t>
                      </a:r>
                    </a:p>
                  </a:txBody>
                  <a:tcPr marT="9000" marB="9000" anchor="ctr"/>
                </a:tc>
                <a:tc>
                  <a:txBody>
                    <a:bodyPr/>
                    <a:lstStyle/>
                    <a:p>
                      <a:r>
                        <a:rPr sz="1200">
                          <a:solidFill>
                            <a:srgbClr val="000000"/>
                          </a:solidFill>
                        </a:rPr>
                        <a:t>Throw away your changes to a file</a:t>
                      </a:r>
                    </a:p>
                  </a:txBody>
                  <a:tcPr marT="9000" marB="9000" anchor="ctr"/>
                </a:tc>
                <a:tc>
                  <a:txBody>
                    <a:bodyPr/>
                    <a:lstStyle/>
                    <a:p>
                      <a:r>
                        <a:rPr sz="1200">
                          <a:solidFill>
                            <a:srgbClr val="000000"/>
                          </a:solidFill>
                        </a:rPr>
                        <a:t>Discard changes</a:t>
                      </a:r>
                    </a:p>
                  </a:txBody>
                  <a:tcPr marT="9000" marB="9000" anchor="ctr"/>
                </a:tc>
                <a:extLst>
                  <a:ext uri="{0D108BD9-81ED-4DB2-BD59-A6C34878D82A}">
                    <a16:rowId xmlns:a16="http://schemas.microsoft.com/office/drawing/2014/main" val="10010"/>
                  </a:ext>
                </a:extLst>
              </a:tr>
              <a:tr h="292608">
                <a:tc>
                  <a:txBody>
                    <a:bodyPr/>
                    <a:lstStyle/>
                    <a:p>
                      <a:r>
                        <a:rPr sz="1200">
                          <a:solidFill>
                            <a:srgbClr val="000000"/>
                          </a:solidFill>
                          <a:latin typeface="Consolas"/>
                        </a:rPr>
                        <a:t>git reflog</a:t>
                      </a:r>
                    </a:p>
                  </a:txBody>
                  <a:tcPr marT="9000" marB="9000" anchor="ctr"/>
                </a:tc>
                <a:tc>
                  <a:txBody>
                    <a:bodyPr/>
                    <a:lstStyle/>
                    <a:p>
                      <a:r>
                        <a:rPr sz="1200">
                          <a:solidFill>
                            <a:srgbClr val="000000"/>
                          </a:solidFill>
                        </a:rPr>
                        <a:t>Everywhere HEAD has been — </a:t>
                      </a:r>
                      <a:r>
                        <a:rPr sz="1200" b="1">
                          <a:solidFill>
                            <a:srgbClr val="000000"/>
                          </a:solidFill>
                        </a:rPr>
                        <a:t>your safety net</a:t>
                      </a:r>
                    </a:p>
                  </a:txBody>
                  <a:tcPr marT="9000" marB="9000" anchor="ctr"/>
                </a:tc>
                <a:tc>
                  <a:txBody>
                    <a:bodyPr/>
                    <a:lstStyle/>
                    <a:p>
                      <a:r>
                        <a:rPr sz="1200">
                          <a:solidFill>
                            <a:srgbClr val="000000"/>
                          </a:solidFill>
                        </a:rPr>
                        <a:t>(no equivalent)</a:t>
                      </a:r>
                    </a:p>
                  </a:txBody>
                  <a:tcPr marT="9000" marB="9000" anchor="ctr"/>
                </a:tc>
                <a:extLst>
                  <a:ext uri="{0D108BD9-81ED-4DB2-BD59-A6C34878D82A}">
                    <a16:rowId xmlns:a16="http://schemas.microsoft.com/office/drawing/2014/main" val="10011"/>
                  </a:ext>
                </a:extLst>
              </a:tr>
            </a:tbl>
          </a:graphicData>
        </a:graphic>
      </p:graphicFrame>
      <p:sp>
        <p:nvSpPr>
          <p:cNvPr id="4" name="TextBox 3"/>
          <p:cNvSpPr txBox="1"/>
          <p:nvPr/>
        </p:nvSpPr>
        <p:spPr>
          <a:xfrm>
            <a:off x="822960" y="5989320"/>
            <a:ext cx="10546080" cy="502920"/>
          </a:xfrm>
          <a:prstGeom prst="rect">
            <a:avLst/>
          </a:prstGeom>
          <a:noFill/>
        </p:spPr>
        <p:txBody>
          <a:bodyPr wrap="square">
            <a:spAutoFit/>
          </a:bodyPr>
          <a:lstStyle/>
          <a:p>
            <a:r>
              <a:rPr sz="1400" i="1"/>
              <a:t>If you remember one line: git status. It tells you where you are and usually prints the next command for you.</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What to version control?</a:t>
            </a:r>
          </a:p>
        </p:txBody>
      </p:sp>
      <p:sp>
        <p:nvSpPr>
          <p:cNvPr id="3" name="Zástupný symbol pro obsah 2"/>
          <p:cNvSpPr>
            <a:spLocks noGrp="1"/>
          </p:cNvSpPr>
          <p:nvPr>
            <p:ph idx="1"/>
          </p:nvPr>
        </p:nvSpPr>
        <p:spPr/>
        <p:txBody>
          <a:bodyPr>
            <a:normAutofit fontScale="77500" lnSpcReduction="20000"/>
          </a:bodyPr>
          <a:lstStyle/>
          <a:p>
            <a:r>
              <a:rPr lang="en-US" dirty="0"/>
              <a:t>Anything </a:t>
            </a:r>
            <a:r>
              <a:rPr lang="en-US" b="1" dirty="0"/>
              <a:t>plaintext</a:t>
            </a:r>
            <a:r>
              <a:rPr lang="en-US" dirty="0"/>
              <a:t>, that you develop in time</a:t>
            </a:r>
          </a:p>
          <a:p>
            <a:pPr lvl="1"/>
            <a:r>
              <a:rPr lang="en-US" dirty="0"/>
              <a:t>Track your progress, tag a release</a:t>
            </a:r>
          </a:p>
          <a:p>
            <a:pPr lvl="1"/>
            <a:endParaRPr lang="en-US" dirty="0"/>
          </a:p>
          <a:p>
            <a:r>
              <a:rPr lang="en-US" dirty="0"/>
              <a:t>Required data and supporting files (&lt;100 MB !)</a:t>
            </a:r>
          </a:p>
          <a:p>
            <a:pPr lvl="1"/>
            <a:r>
              <a:rPr lang="en-US" i="1" dirty="0"/>
              <a:t>Skip intermediate, generated files</a:t>
            </a:r>
          </a:p>
          <a:p>
            <a:endParaRPr lang="en-US" dirty="0"/>
          </a:p>
          <a:p>
            <a:r>
              <a:rPr lang="en-US" dirty="0"/>
              <a:t>Public stuff and Private stuff (GitHub)</a:t>
            </a:r>
          </a:p>
          <a:p>
            <a:pPr lvl="1"/>
            <a:r>
              <a:rPr lang="en-US" dirty="0"/>
              <a:t>Top secret stuff? (own Git server?)</a:t>
            </a:r>
          </a:p>
          <a:p>
            <a:endParaRPr lang="en-US" dirty="0"/>
          </a:p>
          <a:p>
            <a:r>
              <a:rPr lang="en-US" dirty="0"/>
              <a:t>Have codes? Make a </a:t>
            </a:r>
            <a:r>
              <a:rPr lang="en-US" b="1" dirty="0"/>
              <a:t>repository</a:t>
            </a:r>
            <a:r>
              <a:rPr lang="en-US" dirty="0"/>
              <a:t>!</a:t>
            </a:r>
          </a:p>
          <a:p>
            <a:r>
              <a:rPr lang="en-US" dirty="0"/>
              <a:t>Working on code? Commit and push!</a:t>
            </a:r>
          </a:p>
          <a:p>
            <a:r>
              <a:rPr lang="en-US" dirty="0"/>
              <a:t>“Publish only finished” ?</a:t>
            </a:r>
          </a:p>
          <a:p>
            <a:pPr lvl="1"/>
            <a:r>
              <a:rPr lang="en-US" b="1" dirty="0"/>
              <a:t>A project is never final</a:t>
            </a:r>
          </a:p>
          <a:p>
            <a:endParaRPr lang="en-US" dirty="0"/>
          </a:p>
        </p:txBody>
      </p:sp>
      <p:pic>
        <p:nvPicPr>
          <p:cNvPr id="2050" name="Picture 2" descr="A meme of a cat poking its head down through a hole in a ceiling, captioned 'I can has you cod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1100" y="3467100"/>
            <a:ext cx="3390900" cy="339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00113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Source or product? </a:t>
            </a:r>
            <a:br>
              <a:rPr lang="en-US" dirty="0"/>
            </a:br>
            <a:r>
              <a:rPr dirty="0"/>
              <a:t>One question decides</a:t>
            </a:r>
          </a:p>
        </p:txBody>
      </p:sp>
      <p:pic>
        <p:nvPicPr>
          <p:cNvPr id="4" name="Picture 3" descr="A drawing of a cartoon chicken facing a brown egg, with arrows curving between them and a question mark — the chicken-and-egg problem.">
            <a:extLst>
              <a:ext uri="{FF2B5EF4-FFF2-40B4-BE49-F238E27FC236}">
                <a16:creationId xmlns:a16="http://schemas.microsoft.com/office/drawing/2014/main" id="{E8E2D52A-4A45-A316-7A1C-48340A2EEBE5}"/>
              </a:ext>
            </a:extLst>
          </p:cNvPr>
          <p:cNvPicPr>
            <a:picLocks noChangeAspect="1"/>
          </p:cNvPicPr>
          <p:nvPr/>
        </p:nvPicPr>
        <p:blipFill>
          <a:blip r:embed="rId3"/>
          <a:stretch>
            <a:fillRect/>
          </a:stretch>
        </p:blipFill>
        <p:spPr>
          <a:xfrm>
            <a:off x="9364132" y="0"/>
            <a:ext cx="2734733" cy="1700133"/>
          </a:xfrm>
          <a:prstGeom prst="rect">
            <a:avLst/>
          </a:prstGeom>
        </p:spPr>
      </p:pic>
      <p:sp>
        <p:nvSpPr>
          <p:cNvPr id="3" name="Content Placeholder 2"/>
          <p:cNvSpPr>
            <a:spLocks noGrp="1"/>
          </p:cNvSpPr>
          <p:nvPr>
            <p:ph idx="1"/>
          </p:nvPr>
        </p:nvSpPr>
        <p:spPr/>
        <p:txBody>
          <a:bodyPr wrap="square">
            <a:normAutofit/>
          </a:bodyPr>
          <a:lstStyle/>
          <a:p>
            <a:r>
              <a:rPr sz="2000" dirty="0"/>
              <a:t>Ask of every file: </a:t>
            </a:r>
            <a:r>
              <a:rPr sz="2000" b="1" dirty="0"/>
              <a:t>if I delete it, can the repo regenerate it?</a:t>
            </a:r>
            <a:r>
              <a:rPr lang="en-US" sz="2000" b="1" dirty="0"/>
              <a:t> Is there a path to run WITHOUT it?</a:t>
            </a:r>
            <a:endParaRPr sz="2000" b="1" dirty="0"/>
          </a:p>
          <a:p>
            <a:pPr lvl="1"/>
            <a:r>
              <a:rPr sz="1800" b="1" dirty="0"/>
              <a:t>Yes</a:t>
            </a:r>
            <a:r>
              <a:rPr sz="1800" dirty="0"/>
              <a:t> → it is a </a:t>
            </a:r>
            <a:r>
              <a:rPr sz="1800" i="1" dirty="0"/>
              <a:t>product</a:t>
            </a:r>
            <a:r>
              <a:rPr sz="1800" dirty="0"/>
              <a:t>. Do not commit.</a:t>
            </a:r>
          </a:p>
          <a:p>
            <a:pPr lvl="1"/>
            <a:r>
              <a:rPr sz="1800" b="1" dirty="0"/>
              <a:t>No</a:t>
            </a:r>
            <a:r>
              <a:rPr sz="1800" dirty="0"/>
              <a:t> → it is a </a:t>
            </a:r>
            <a:r>
              <a:rPr sz="1800" i="1" dirty="0"/>
              <a:t>source</a:t>
            </a:r>
            <a:r>
              <a:rPr sz="1800" dirty="0"/>
              <a:t>. Commit it.</a:t>
            </a:r>
          </a:p>
          <a:p>
            <a:pPr>
              <a:defRPr sz="700"/>
            </a:pPr>
            <a:endParaRPr sz="1800" dirty="0"/>
          </a:p>
          <a:p>
            <a:r>
              <a:rPr sz="2000" dirty="0"/>
              <a:t>Why products stay out</a:t>
            </a:r>
          </a:p>
          <a:p>
            <a:pPr lvl="1"/>
            <a:r>
              <a:rPr sz="1800" dirty="0"/>
              <a:t>They change on every run → diff noise, and Git keeps </a:t>
            </a:r>
            <a:r>
              <a:rPr sz="1800" b="1" dirty="0"/>
              <a:t>every</a:t>
            </a:r>
            <a:r>
              <a:rPr sz="1800" dirty="0"/>
              <a:t> version forever</a:t>
            </a:r>
          </a:p>
          <a:p>
            <a:pPr lvl="1"/>
            <a:r>
              <a:rPr sz="1800" dirty="0"/>
              <a:t>They invite the worst bug in science: the code and the result quietly disagree</a:t>
            </a:r>
          </a:p>
          <a:p>
            <a:pPr>
              <a:defRPr sz="700"/>
            </a:pPr>
            <a:endParaRPr sz="1800" dirty="0"/>
          </a:p>
          <a:p>
            <a:r>
              <a:rPr sz="2000" dirty="0"/>
              <a:t>A third category: </a:t>
            </a:r>
            <a:r>
              <a:rPr sz="2000" b="1" dirty="0"/>
              <a:t>local settings</a:t>
            </a:r>
            <a:r>
              <a:rPr sz="2000" dirty="0"/>
              <a:t> — true for you, wrong for everybody else</a:t>
            </a:r>
          </a:p>
          <a:p>
            <a:pPr lvl="1"/>
            <a:r>
              <a:rPr sz="1800" dirty="0">
                <a:latin typeface="Consolas"/>
              </a:rPr>
              <a:t>.</a:t>
            </a:r>
            <a:r>
              <a:rPr sz="1800" dirty="0" err="1">
                <a:latin typeface="Consolas"/>
              </a:rPr>
              <a:t>vscode</a:t>
            </a:r>
            <a:r>
              <a:rPr sz="1800" dirty="0">
                <a:latin typeface="Consolas"/>
              </a:rPr>
              <a:t>/</a:t>
            </a:r>
            <a:r>
              <a:rPr sz="1800" dirty="0"/>
              <a:t>, </a:t>
            </a:r>
            <a:r>
              <a:rPr sz="1800" dirty="0">
                <a:latin typeface="Consolas"/>
              </a:rPr>
              <a:t>.idea/</a:t>
            </a:r>
            <a:r>
              <a:rPr sz="1800" dirty="0"/>
              <a:t>, machine-specific paths, </a:t>
            </a:r>
            <a:r>
              <a:rPr sz="1800" dirty="0">
                <a:latin typeface="Consolas"/>
              </a:rPr>
              <a:t>.env</a:t>
            </a:r>
            <a:r>
              <a:rPr sz="1800" dirty="0"/>
              <a:t>, MATLAB </a:t>
            </a:r>
            <a:r>
              <a:rPr sz="1800" dirty="0" err="1">
                <a:latin typeface="Consolas"/>
              </a:rPr>
              <a:t>startup.m</a:t>
            </a:r>
            <a:r>
              <a:rPr sz="1800" dirty="0"/>
              <a:t> paths</a:t>
            </a:r>
          </a:p>
          <a:p>
            <a:pPr>
              <a:defRPr sz="700"/>
            </a:pPr>
            <a:endParaRPr sz="1800" dirty="0"/>
          </a:p>
          <a:p>
            <a:r>
              <a:rPr sz="2000" dirty="0"/>
              <a:t>So: </a:t>
            </a:r>
            <a:r>
              <a:rPr sz="2000" b="1" dirty="0"/>
              <a:t>commit the recipe, not the cake.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Your files, specifically</a:t>
            </a:r>
          </a:p>
        </p:txBody>
      </p:sp>
      <p:graphicFrame>
        <p:nvGraphicFramePr>
          <p:cNvPr id="3" name="Table 2" descr="Table of file types used in this course, whether each should be committed to Git, and why."/>
          <p:cNvGraphicFramePr>
            <a:graphicFrameLocks noGrp="1"/>
          </p:cNvGraphicFramePr>
          <p:nvPr/>
        </p:nvGraphicFramePr>
        <p:xfrm>
          <a:off x="1021080" y="1828800"/>
          <a:ext cx="10149840" cy="2633472"/>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6035040">
                  <a:extLst>
                    <a:ext uri="{9D8B030D-6E8A-4147-A177-3AD203B41FA5}">
                      <a16:colId xmlns:a16="http://schemas.microsoft.com/office/drawing/2014/main" val="20002"/>
                    </a:ext>
                  </a:extLst>
                </a:gridCol>
              </a:tblGrid>
              <a:tr h="292608">
                <a:tc>
                  <a:txBody>
                    <a:bodyPr/>
                    <a:lstStyle/>
                    <a:p>
                      <a:r>
                        <a:rPr sz="1400" b="1" dirty="0">
                          <a:solidFill>
                            <a:srgbClr val="FFFFFF"/>
                          </a:solidFill>
                        </a:rPr>
                        <a:t>File</a:t>
                      </a:r>
                    </a:p>
                  </a:txBody>
                  <a:tcPr marT="18000" marB="18000" anchor="ctr">
                    <a:solidFill>
                      <a:srgbClr val="1F4E79"/>
                    </a:solidFill>
                  </a:tcPr>
                </a:tc>
                <a:tc>
                  <a:txBody>
                    <a:bodyPr/>
                    <a:lstStyle/>
                    <a:p>
                      <a:r>
                        <a:rPr sz="1400" b="1">
                          <a:solidFill>
                            <a:srgbClr val="FFFFFF"/>
                          </a:solidFill>
                        </a:rPr>
                        <a:t>Commit?</a:t>
                      </a:r>
                    </a:p>
                  </a:txBody>
                  <a:tcPr marT="18000" marB="18000" anchor="ctr">
                    <a:solidFill>
                      <a:srgbClr val="1F4E79"/>
                    </a:solidFill>
                  </a:tcPr>
                </a:tc>
                <a:tc>
                  <a:txBody>
                    <a:bodyPr/>
                    <a:lstStyle/>
                    <a:p>
                      <a:r>
                        <a:rPr sz="1400" b="1">
                          <a:solidFill>
                            <a:srgbClr val="FFFFFF"/>
                          </a:solidFill>
                        </a:rPr>
                        <a:t>Why</a:t>
                      </a:r>
                    </a:p>
                  </a:txBody>
                  <a:tcPr marT="18000" marB="18000" anchor="ctr">
                    <a:solidFill>
                      <a:srgbClr val="1F4E79"/>
                    </a:solidFill>
                  </a:tcPr>
                </a:tc>
                <a:extLst>
                  <a:ext uri="{0D108BD9-81ED-4DB2-BD59-A6C34878D82A}">
                    <a16:rowId xmlns:a16="http://schemas.microsoft.com/office/drawing/2014/main" val="10000"/>
                  </a:ext>
                </a:extLst>
              </a:tr>
              <a:tr h="292608">
                <a:tc>
                  <a:txBody>
                    <a:bodyPr/>
                    <a:lstStyle/>
                    <a:p>
                      <a:r>
                        <a:rPr sz="1300">
                          <a:solidFill>
                            <a:srgbClr val="000000"/>
                          </a:solidFill>
                          <a:latin typeface="Consolas"/>
                        </a:rPr>
                        <a:t>.m</a:t>
                      </a:r>
                      <a:r>
                        <a:rPr sz="1300">
                          <a:solidFill>
                            <a:srgbClr val="000000"/>
                          </a:solidFill>
                        </a:rPr>
                        <a:t>  </a:t>
                      </a:r>
                      <a:r>
                        <a:rPr sz="1300">
                          <a:solidFill>
                            <a:srgbClr val="000000"/>
                          </a:solidFill>
                          <a:latin typeface="Consolas"/>
                        </a:rPr>
                        <a:t>.py</a:t>
                      </a:r>
                      <a:r>
                        <a:rPr sz="1300">
                          <a:solidFill>
                            <a:srgbClr val="000000"/>
                          </a:solidFill>
                        </a:rPr>
                        <a:t>  </a:t>
                      </a:r>
                      <a:r>
                        <a:rPr sz="1300">
                          <a:solidFill>
                            <a:srgbClr val="000000"/>
                          </a:solidFill>
                          <a:latin typeface="Consolas"/>
                        </a:rPr>
                        <a:t>.mo</a:t>
                      </a:r>
                      <a:r>
                        <a:rPr sz="1300">
                          <a:solidFill>
                            <a:srgbClr val="000000"/>
                          </a:solidFill>
                        </a:rPr>
                        <a:t>  </a:t>
                      </a:r>
                      <a:r>
                        <a:rPr sz="1300">
                          <a:solidFill>
                            <a:srgbClr val="000000"/>
                          </a:solidFill>
                          <a:latin typeface="Consolas"/>
                        </a:rPr>
                        <a:t>.jl</a:t>
                      </a:r>
                    </a:p>
                  </a:txBody>
                  <a:tcPr marT="9000" marB="9000" anchor="ctr"/>
                </a:tc>
                <a:tc>
                  <a:txBody>
                    <a:bodyPr/>
                    <a:lstStyle/>
                    <a:p>
                      <a:r>
                        <a:rPr sz="1300" b="1">
                          <a:solidFill>
                            <a:srgbClr val="000000"/>
                          </a:solidFill>
                        </a:rPr>
                        <a:t>Yes</a:t>
                      </a:r>
                    </a:p>
                  </a:txBody>
                  <a:tcPr marT="9000" marB="9000" anchor="ctr"/>
                </a:tc>
                <a:tc>
                  <a:txBody>
                    <a:bodyPr/>
                    <a:lstStyle/>
                    <a:p>
                      <a:r>
                        <a:rPr sz="1300">
                          <a:solidFill>
                            <a:srgbClr val="000000"/>
                          </a:solidFill>
                        </a:rPr>
                        <a:t>Plaintext source — diffs line by line, merges cleanly</a:t>
                      </a:r>
                    </a:p>
                  </a:txBody>
                  <a:tcPr marT="9000" marB="9000" anchor="ctr"/>
                </a:tc>
                <a:extLst>
                  <a:ext uri="{0D108BD9-81ED-4DB2-BD59-A6C34878D82A}">
                    <a16:rowId xmlns:a16="http://schemas.microsoft.com/office/drawing/2014/main" val="10001"/>
                  </a:ext>
                </a:extLst>
              </a:tr>
              <a:tr h="292608">
                <a:tc>
                  <a:txBody>
                    <a:bodyPr/>
                    <a:lstStyle/>
                    <a:p>
                      <a:r>
                        <a:rPr sz="1300">
                          <a:solidFill>
                            <a:srgbClr val="000000"/>
                          </a:solidFill>
                          <a:latin typeface="Consolas"/>
                        </a:rPr>
                        <a:t>.ipynb</a:t>
                      </a:r>
                    </a:p>
                  </a:txBody>
                  <a:tcPr marT="9000" marB="9000" anchor="ctr"/>
                </a:tc>
                <a:tc>
                  <a:txBody>
                    <a:bodyPr/>
                    <a:lstStyle/>
                    <a:p>
                      <a:r>
                        <a:rPr sz="1300" b="1">
                          <a:solidFill>
                            <a:srgbClr val="000000"/>
                          </a:solidFill>
                        </a:rPr>
                        <a:t>Yes, stripped</a:t>
                      </a:r>
                    </a:p>
                  </a:txBody>
                  <a:tcPr marT="9000" marB="9000" anchor="ctr"/>
                </a:tc>
                <a:tc>
                  <a:txBody>
                    <a:bodyPr/>
                    <a:lstStyle/>
                    <a:p>
                      <a:r>
                        <a:rPr sz="1300">
                          <a:solidFill>
                            <a:srgbClr val="000000"/>
                          </a:solidFill>
                        </a:rPr>
                        <a:t>It is JSON — but stored outputs make diffs unreadable. Use </a:t>
                      </a:r>
                      <a:r>
                        <a:rPr sz="1300">
                          <a:solidFill>
                            <a:srgbClr val="000000"/>
                          </a:solidFill>
                          <a:latin typeface="Consolas"/>
                        </a:rPr>
                        <a:t>nbstripout</a:t>
                      </a:r>
                      <a:r>
                        <a:rPr sz="1300">
                          <a:solidFill>
                            <a:srgbClr val="000000"/>
                          </a:solidFill>
                        </a:rPr>
                        <a:t> or Jupytext</a:t>
                      </a:r>
                    </a:p>
                  </a:txBody>
                  <a:tcPr marT="9000" marB="9000" anchor="ctr"/>
                </a:tc>
                <a:extLst>
                  <a:ext uri="{0D108BD9-81ED-4DB2-BD59-A6C34878D82A}">
                    <a16:rowId xmlns:a16="http://schemas.microsoft.com/office/drawing/2014/main" val="10002"/>
                  </a:ext>
                </a:extLst>
              </a:tr>
              <a:tr h="292608">
                <a:tc>
                  <a:txBody>
                    <a:bodyPr/>
                    <a:lstStyle/>
                    <a:p>
                      <a:r>
                        <a:rPr sz="1300">
                          <a:solidFill>
                            <a:srgbClr val="000000"/>
                          </a:solidFill>
                          <a:latin typeface="Consolas"/>
                        </a:rPr>
                        <a:t>.mlx</a:t>
                      </a:r>
                      <a:r>
                        <a:rPr sz="1300">
                          <a:solidFill>
                            <a:srgbClr val="000000"/>
                          </a:solidFill>
                        </a:rPr>
                        <a:t>  </a:t>
                      </a:r>
                      <a:r>
                        <a:rPr sz="1300">
                          <a:solidFill>
                            <a:srgbClr val="000000"/>
                          </a:solidFill>
                          <a:latin typeface="Consolas"/>
                        </a:rPr>
                        <a:t>.slx</a:t>
                      </a:r>
                    </a:p>
                  </a:txBody>
                  <a:tcPr marT="9000" marB="9000" anchor="ctr"/>
                </a:tc>
                <a:tc>
                  <a:txBody>
                    <a:bodyPr/>
                    <a:lstStyle/>
                    <a:p>
                      <a:r>
                        <a:rPr sz="1300" b="1">
                          <a:solidFill>
                            <a:srgbClr val="000000"/>
                          </a:solidFill>
                        </a:rPr>
                        <a:t>Yes, if it IS the model</a:t>
                      </a:r>
                    </a:p>
                  </a:txBody>
                  <a:tcPr marT="9000" marB="9000" anchor="ctr"/>
                </a:tc>
                <a:tc>
                  <a:txBody>
                    <a:bodyPr/>
                    <a:lstStyle/>
                    <a:p>
                      <a:r>
                        <a:rPr sz="1300">
                          <a:solidFill>
                            <a:srgbClr val="000000"/>
                          </a:solidFill>
                        </a:rPr>
                        <a:t>Binary: no line diff, no merge. MATLAB has its own Compare tool</a:t>
                      </a:r>
                    </a:p>
                  </a:txBody>
                  <a:tcPr marT="9000" marB="9000" anchor="ctr"/>
                </a:tc>
                <a:extLst>
                  <a:ext uri="{0D108BD9-81ED-4DB2-BD59-A6C34878D82A}">
                    <a16:rowId xmlns:a16="http://schemas.microsoft.com/office/drawing/2014/main" val="10003"/>
                  </a:ext>
                </a:extLst>
              </a:tr>
              <a:tr h="292608">
                <a:tc>
                  <a:txBody>
                    <a:bodyPr/>
                    <a:lstStyle/>
                    <a:p>
                      <a:r>
                        <a:rPr sz="1300">
                          <a:solidFill>
                            <a:srgbClr val="000000"/>
                          </a:solidFill>
                          <a:latin typeface="Consolas"/>
                        </a:rPr>
                        <a:t>.mat</a:t>
                      </a:r>
                    </a:p>
                  </a:txBody>
                  <a:tcPr marT="9000" marB="9000" anchor="ctr"/>
                </a:tc>
                <a:tc>
                  <a:txBody>
                    <a:bodyPr/>
                    <a:lstStyle/>
                    <a:p>
                      <a:r>
                        <a:rPr sz="1300" b="1">
                          <a:solidFill>
                            <a:srgbClr val="000000"/>
                          </a:solidFill>
                        </a:rPr>
                        <a:t>It depends</a:t>
                      </a:r>
                    </a:p>
                  </a:txBody>
                  <a:tcPr marT="9000" marB="9000" anchor="ctr"/>
                </a:tc>
                <a:tc>
                  <a:txBody>
                    <a:bodyPr/>
                    <a:lstStyle/>
                    <a:p>
                      <a:r>
                        <a:rPr sz="1300">
                          <a:solidFill>
                            <a:srgbClr val="000000"/>
                          </a:solidFill>
                        </a:rPr>
                        <a:t>Small fixed input data: yes. Simulation output: no — it is a product</a:t>
                      </a:r>
                    </a:p>
                  </a:txBody>
                  <a:tcPr marT="9000" marB="9000" anchor="ctr"/>
                </a:tc>
                <a:extLst>
                  <a:ext uri="{0D108BD9-81ED-4DB2-BD59-A6C34878D82A}">
                    <a16:rowId xmlns:a16="http://schemas.microsoft.com/office/drawing/2014/main" val="10004"/>
                  </a:ext>
                </a:extLst>
              </a:tr>
              <a:tr h="292608">
                <a:tc>
                  <a:txBody>
                    <a:bodyPr/>
                    <a:lstStyle/>
                    <a:p>
                      <a:r>
                        <a:rPr sz="1300">
                          <a:solidFill>
                            <a:srgbClr val="000000"/>
                          </a:solidFill>
                        </a:rPr>
                        <a:t>Figures </a:t>
                      </a:r>
                      <a:r>
                        <a:rPr sz="1300">
                          <a:solidFill>
                            <a:srgbClr val="000000"/>
                          </a:solidFill>
                          <a:latin typeface="Consolas"/>
                        </a:rPr>
                        <a:t>.png</a:t>
                      </a:r>
                      <a:r>
                        <a:rPr sz="1300">
                          <a:solidFill>
                            <a:srgbClr val="000000"/>
                          </a:solidFill>
                        </a:rPr>
                        <a:t> </a:t>
                      </a:r>
                      <a:r>
                        <a:rPr sz="1300">
                          <a:solidFill>
                            <a:srgbClr val="000000"/>
                          </a:solidFill>
                          <a:latin typeface="Consolas"/>
                        </a:rPr>
                        <a:t>.pdf</a:t>
                      </a:r>
                    </a:p>
                  </a:txBody>
                  <a:tcPr marT="9000" marB="9000" anchor="ctr"/>
                </a:tc>
                <a:tc>
                  <a:txBody>
                    <a:bodyPr/>
                    <a:lstStyle/>
                    <a:p>
                      <a:r>
                        <a:rPr sz="1300" b="1">
                          <a:solidFill>
                            <a:srgbClr val="000000"/>
                          </a:solidFill>
                        </a:rPr>
                        <a:t>No</a:t>
                      </a:r>
                      <a:r>
                        <a:rPr sz="1300">
                          <a:solidFill>
                            <a:srgbClr val="000000"/>
                          </a:solidFill>
                        </a:rPr>
                        <a:t>, if generated</a:t>
                      </a:r>
                    </a:p>
                  </a:txBody>
                  <a:tcPr marT="9000" marB="9000" anchor="ctr"/>
                </a:tc>
                <a:tc>
                  <a:txBody>
                    <a:bodyPr/>
                    <a:lstStyle/>
                    <a:p>
                      <a:r>
                        <a:rPr sz="1300">
                          <a:solidFill>
                            <a:srgbClr val="000000"/>
                          </a:solidFill>
                        </a:rPr>
                        <a:t>Commit the script that draws them. Hand-drawn schematics: yes</a:t>
                      </a:r>
                    </a:p>
                  </a:txBody>
                  <a:tcPr marT="9000" marB="9000" anchor="ctr"/>
                </a:tc>
                <a:extLst>
                  <a:ext uri="{0D108BD9-81ED-4DB2-BD59-A6C34878D82A}">
                    <a16:rowId xmlns:a16="http://schemas.microsoft.com/office/drawing/2014/main" val="10005"/>
                  </a:ext>
                </a:extLst>
              </a:tr>
              <a:tr h="292608">
                <a:tc>
                  <a:txBody>
                    <a:bodyPr/>
                    <a:lstStyle/>
                    <a:p>
                      <a:r>
                        <a:rPr sz="1300" dirty="0">
                          <a:solidFill>
                            <a:srgbClr val="000000"/>
                          </a:solidFill>
                          <a:latin typeface="Consolas"/>
                        </a:rPr>
                        <a:t>.</a:t>
                      </a:r>
                      <a:r>
                        <a:rPr sz="1300" dirty="0" err="1">
                          <a:solidFill>
                            <a:srgbClr val="000000"/>
                          </a:solidFill>
                          <a:latin typeface="Consolas"/>
                        </a:rPr>
                        <a:t>DS_Store</a:t>
                      </a:r>
                      <a:r>
                        <a:rPr sz="1300" dirty="0">
                          <a:solidFill>
                            <a:srgbClr val="000000"/>
                          </a:solidFill>
                        </a:rPr>
                        <a:t>  </a:t>
                      </a:r>
                      <a:r>
                        <a:rPr sz="1300" dirty="0" err="1">
                          <a:solidFill>
                            <a:srgbClr val="000000"/>
                          </a:solidFill>
                          <a:latin typeface="Consolas"/>
                        </a:rPr>
                        <a:t>Thumbs.db</a:t>
                      </a:r>
                      <a:endParaRPr sz="1300" dirty="0">
                        <a:latin typeface="Consolas"/>
                      </a:endParaRPr>
                    </a:p>
                  </a:txBody>
                  <a:tcPr marT="9000" marB="9000" anchor="ctr"/>
                </a:tc>
                <a:tc>
                  <a:txBody>
                    <a:bodyPr/>
                    <a:lstStyle/>
                    <a:p>
                      <a:r>
                        <a:rPr sz="1300" b="1">
                          <a:solidFill>
                            <a:srgbClr val="000000"/>
                          </a:solidFill>
                        </a:rPr>
                        <a:t>Never</a:t>
                      </a:r>
                    </a:p>
                  </a:txBody>
                  <a:tcPr marT="9000" marB="9000" anchor="ctr"/>
                </a:tc>
                <a:tc>
                  <a:txBody>
                    <a:bodyPr/>
                    <a:lstStyle/>
                    <a:p>
                      <a:r>
                        <a:rPr sz="1300">
                          <a:solidFill>
                            <a:srgbClr val="000000"/>
                          </a:solidFill>
                        </a:rPr>
                        <a:t>OS junk. The classic impostor — it is already in our course repo</a:t>
                      </a:r>
                    </a:p>
                  </a:txBody>
                  <a:tcPr marT="9000" marB="9000" anchor="ctr"/>
                </a:tc>
                <a:extLst>
                  <a:ext uri="{0D108BD9-81ED-4DB2-BD59-A6C34878D82A}">
                    <a16:rowId xmlns:a16="http://schemas.microsoft.com/office/drawing/2014/main" val="10006"/>
                  </a:ext>
                </a:extLst>
              </a:tr>
              <a:tr h="292608">
                <a:tc>
                  <a:txBody>
                    <a:bodyPr/>
                    <a:lstStyle/>
                    <a:p>
                      <a:r>
                        <a:rPr sz="1300">
                          <a:solidFill>
                            <a:srgbClr val="000000"/>
                          </a:solidFill>
                          <a:latin typeface="Consolas"/>
                        </a:rPr>
                        <a:t>.vscode/</a:t>
                      </a:r>
                      <a:r>
                        <a:rPr sz="1300">
                          <a:solidFill>
                            <a:srgbClr val="000000"/>
                          </a:solidFill>
                        </a:rPr>
                        <a:t>  </a:t>
                      </a:r>
                      <a:r>
                        <a:rPr sz="1300">
                          <a:solidFill>
                            <a:srgbClr val="000000"/>
                          </a:solidFill>
                          <a:latin typeface="Consolas"/>
                        </a:rPr>
                        <a:t>.idea/</a:t>
                      </a:r>
                      <a:r>
                        <a:rPr sz="1300">
                          <a:solidFill>
                            <a:srgbClr val="000000"/>
                          </a:solidFill>
                        </a:rPr>
                        <a:t>  </a:t>
                      </a:r>
                      <a:r>
                        <a:rPr sz="1300">
                          <a:solidFill>
                            <a:srgbClr val="000000"/>
                          </a:solidFill>
                          <a:latin typeface="Consolas"/>
                        </a:rPr>
                        <a:t>.env</a:t>
                      </a:r>
                    </a:p>
                  </a:txBody>
                  <a:tcPr marT="9000" marB="9000" anchor="ctr"/>
                </a:tc>
                <a:tc>
                  <a:txBody>
                    <a:bodyPr/>
                    <a:lstStyle/>
                    <a:p>
                      <a:r>
                        <a:rPr sz="1300" b="1">
                          <a:solidFill>
                            <a:srgbClr val="000000"/>
                          </a:solidFill>
                        </a:rPr>
                        <a:t>No</a:t>
                      </a:r>
                    </a:p>
                  </a:txBody>
                  <a:tcPr marT="9000" marB="9000" anchor="ctr"/>
                </a:tc>
                <a:tc>
                  <a:txBody>
                    <a:bodyPr/>
                    <a:lstStyle/>
                    <a:p>
                      <a:r>
                        <a:rPr sz="1300">
                          <a:solidFill>
                            <a:srgbClr val="000000"/>
                          </a:solidFill>
                        </a:rPr>
                        <a:t>Local settings and secrets</a:t>
                      </a:r>
                    </a:p>
                  </a:txBody>
                  <a:tcPr marT="9000" marB="9000" anchor="ctr"/>
                </a:tc>
                <a:extLst>
                  <a:ext uri="{0D108BD9-81ED-4DB2-BD59-A6C34878D82A}">
                    <a16:rowId xmlns:a16="http://schemas.microsoft.com/office/drawing/2014/main" val="10007"/>
                  </a:ext>
                </a:extLst>
              </a:tr>
              <a:tr h="292608">
                <a:tc>
                  <a:txBody>
                    <a:bodyPr/>
                    <a:lstStyle/>
                    <a:p>
                      <a:r>
                        <a:rPr sz="1300">
                          <a:solidFill>
                            <a:srgbClr val="000000"/>
                          </a:solidFill>
                          <a:latin typeface="Consolas"/>
                        </a:rPr>
                        <a:t>data/</a:t>
                      </a:r>
                      <a:r>
                        <a:rPr sz="1300">
                          <a:solidFill>
                            <a:srgbClr val="000000"/>
                          </a:solidFill>
                        </a:rPr>
                        <a:t> (large)</a:t>
                      </a:r>
                    </a:p>
                  </a:txBody>
                  <a:tcPr marT="9000" marB="9000" anchor="ctr"/>
                </a:tc>
                <a:tc>
                  <a:txBody>
                    <a:bodyPr/>
                    <a:lstStyle/>
                    <a:p>
                      <a:r>
                        <a:rPr sz="1300" b="1">
                          <a:solidFill>
                            <a:srgbClr val="000000"/>
                          </a:solidFill>
                        </a:rPr>
                        <a:t>No</a:t>
                      </a:r>
                    </a:p>
                  </a:txBody>
                  <a:tcPr marT="9000" marB="9000" anchor="ctr"/>
                </a:tc>
                <a:tc>
                  <a:txBody>
                    <a:bodyPr/>
                    <a:lstStyle/>
                    <a:p>
                      <a:r>
                        <a:rPr sz="1300" dirty="0">
                          <a:solidFill>
                            <a:srgbClr val="000000"/>
                          </a:solidFill>
                        </a:rPr>
                        <a:t>See “Where does the data go?”</a:t>
                      </a:r>
                    </a:p>
                  </a:txBody>
                  <a:tcPr marT="9000" marB="9000" anchor="ctr"/>
                </a:tc>
                <a:extLst>
                  <a:ext uri="{0D108BD9-81ED-4DB2-BD59-A6C34878D82A}">
                    <a16:rowId xmlns:a16="http://schemas.microsoft.com/office/drawing/2014/main" val="10008"/>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does the data go?</a:t>
            </a:r>
          </a:p>
        </p:txBody>
      </p:sp>
      <p:sp>
        <p:nvSpPr>
          <p:cNvPr id="3" name="Content Placeholder 2"/>
          <p:cNvSpPr>
            <a:spLocks noGrp="1"/>
          </p:cNvSpPr>
          <p:nvPr>
            <p:ph idx="1"/>
          </p:nvPr>
        </p:nvSpPr>
        <p:spPr>
          <a:xfrm>
            <a:off x="838200" y="1825624"/>
            <a:ext cx="10515600" cy="5032375"/>
          </a:xfrm>
        </p:spPr>
        <p:txBody>
          <a:bodyPr wrap="square">
            <a:normAutofit fontScale="92500" lnSpcReduction="10000"/>
          </a:bodyPr>
          <a:lstStyle/>
          <a:p>
            <a:r>
              <a:rPr sz="2000" dirty="0"/>
              <a:t>Git was built for source code: many small text files, changed line by line</a:t>
            </a:r>
          </a:p>
          <a:p>
            <a:pPr lvl="1"/>
            <a:r>
              <a:rPr sz="1800" dirty="0"/>
              <a:t>A 2 GB </a:t>
            </a:r>
            <a:r>
              <a:rPr sz="1800" dirty="0">
                <a:latin typeface="Consolas"/>
              </a:rPr>
              <a:t>.mat</a:t>
            </a:r>
            <a:r>
              <a:rPr sz="1800" dirty="0"/>
              <a:t> changed twice = 4 GB of history, in </a:t>
            </a:r>
            <a:r>
              <a:rPr sz="1800" b="1" dirty="0"/>
              <a:t>every</a:t>
            </a:r>
            <a:r>
              <a:rPr sz="1800" dirty="0"/>
              <a:t> clone, forever</a:t>
            </a:r>
          </a:p>
          <a:p>
            <a:pPr lvl="1"/>
            <a:r>
              <a:rPr sz="1800" dirty="0"/>
              <a:t>GitHub: </a:t>
            </a:r>
            <a:br>
              <a:rPr lang="en-US" sz="1800" dirty="0"/>
            </a:br>
            <a:r>
              <a:rPr lang="en-US" sz="1800" dirty="0"/>
              <a:t>File 50 MB (warning), </a:t>
            </a:r>
            <a:r>
              <a:rPr sz="1800" b="1" dirty="0"/>
              <a:t>100 MB </a:t>
            </a:r>
            <a:r>
              <a:rPr sz="1800" dirty="0"/>
              <a:t>(hard limit), </a:t>
            </a:r>
            <a:br>
              <a:rPr lang="en-US" sz="1800" dirty="0"/>
            </a:br>
            <a:r>
              <a:rPr lang="en-US" sz="1800" dirty="0"/>
              <a:t>Repository: warning </a:t>
            </a:r>
            <a:r>
              <a:rPr sz="1800" dirty="0"/>
              <a:t>past 1 GB, keep a repo under ~5 GB</a:t>
            </a:r>
          </a:p>
          <a:p>
            <a:pPr>
              <a:defRPr sz="700"/>
            </a:pPr>
            <a:endParaRPr sz="1800" dirty="0"/>
          </a:p>
          <a:p>
            <a:r>
              <a:rPr sz="2000" b="1" dirty="0"/>
              <a:t>Options, in the order you should consider them</a:t>
            </a:r>
          </a:p>
          <a:p>
            <a:pPr lvl="1"/>
            <a:r>
              <a:rPr sz="1800" b="1" dirty="0"/>
              <a:t>Small and stable</a:t>
            </a:r>
            <a:r>
              <a:rPr sz="1800" dirty="0"/>
              <a:t> (&lt; ~10 MB) → just commit it. Best case: data lives with the code</a:t>
            </a:r>
          </a:p>
          <a:p>
            <a:pPr lvl="1"/>
            <a:r>
              <a:rPr sz="1800" b="1" dirty="0" err="1"/>
              <a:t>Zenodo</a:t>
            </a:r>
            <a:r>
              <a:rPr sz="1800" b="1" dirty="0"/>
              <a:t> / </a:t>
            </a:r>
            <a:r>
              <a:rPr sz="1800" b="1" dirty="0" err="1"/>
              <a:t>Figshare</a:t>
            </a:r>
            <a:r>
              <a:rPr sz="1800" b="1" dirty="0"/>
              <a:t> / Dryad / PhysioNet</a:t>
            </a:r>
            <a:r>
              <a:rPr sz="1800" dirty="0"/>
              <a:t> → a data deposit with its own </a:t>
            </a:r>
            <a:r>
              <a:rPr sz="1800" b="1" dirty="0"/>
              <a:t>DOI</a:t>
            </a:r>
            <a:r>
              <a:rPr sz="1800" dirty="0"/>
              <a:t>. Citable, archival, what a reviewer expects</a:t>
            </a:r>
          </a:p>
          <a:p>
            <a:pPr lvl="1"/>
            <a:r>
              <a:rPr sz="1800" b="1" dirty="0"/>
              <a:t>Git LFS</a:t>
            </a:r>
            <a:r>
              <a:rPr sz="1800" dirty="0"/>
              <a:t> → pointer in Git, file on a server. Works; quota-limited; adds friction</a:t>
            </a:r>
          </a:p>
          <a:p>
            <a:pPr lvl="1"/>
            <a:r>
              <a:rPr sz="1800" b="1" dirty="0"/>
              <a:t>DVC</a:t>
            </a:r>
            <a:r>
              <a:rPr sz="1800" dirty="0"/>
              <a:t> → data version control layered on Git, backed by S3 / Drive / campus storage</a:t>
            </a:r>
          </a:p>
          <a:p>
            <a:pPr>
              <a:defRPr sz="700"/>
            </a:pPr>
            <a:endParaRPr sz="1800" dirty="0"/>
          </a:p>
          <a:p>
            <a:r>
              <a:rPr sz="2000" b="1" dirty="0"/>
              <a:t>For this course:</a:t>
            </a:r>
            <a:r>
              <a:rPr sz="2000" dirty="0"/>
              <a:t> keep data out of the repo, script the download, and record the DOI and a checksum in the README.</a:t>
            </a:r>
            <a:endParaRPr lang="en-US" sz="2000" dirty="0"/>
          </a:p>
          <a:p>
            <a:pPr marL="0" indent="0">
              <a:buNone/>
            </a:pPr>
            <a:endParaRPr lang="en-US" sz="2000" b="1" dirty="0"/>
          </a:p>
          <a:p>
            <a:pPr marL="0" indent="0">
              <a:buNone/>
            </a:pPr>
            <a:r>
              <a:rPr lang="en-US" sz="2000" b="1" dirty="0"/>
              <a:t>				Ignore the large files from Git stage</a:t>
            </a:r>
            <a:endParaRPr sz="2000" b="1" dirty="0"/>
          </a:p>
        </p:txBody>
      </p:sp>
      <p:pic>
        <p:nvPicPr>
          <p:cNvPr id="4" name="Picture 3" descr="A head-and-shoulders photo of Lieutenant Commander Data from Star Trek: The Next Generation — a visual pun on the word 'data'.">
            <a:extLst>
              <a:ext uri="{FF2B5EF4-FFF2-40B4-BE49-F238E27FC236}">
                <a16:creationId xmlns:a16="http://schemas.microsoft.com/office/drawing/2014/main" id="{93219113-45A4-AC76-1E03-E8DE19AD2B72}"/>
              </a:ext>
            </a:extLst>
          </p:cNvPr>
          <p:cNvPicPr>
            <a:picLocks noChangeAspect="1"/>
          </p:cNvPicPr>
          <p:nvPr/>
        </p:nvPicPr>
        <p:blipFill>
          <a:blip r:embed="rId3"/>
          <a:stretch>
            <a:fillRect/>
          </a:stretch>
        </p:blipFill>
        <p:spPr>
          <a:xfrm>
            <a:off x="9488128" y="0"/>
            <a:ext cx="2703871" cy="341041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.gitignore: how to actually write one</a:t>
            </a:r>
          </a:p>
        </p:txBody>
      </p:sp>
      <p:sp>
        <p:nvSpPr>
          <p:cNvPr id="3" name="Content Placeholder 2"/>
          <p:cNvSpPr>
            <a:spLocks noGrp="1"/>
          </p:cNvSpPr>
          <p:nvPr>
            <p:ph sz="half" idx="1"/>
          </p:nvPr>
        </p:nvSpPr>
        <p:spPr/>
        <p:txBody>
          <a:bodyPr wrap="square">
            <a:normAutofit fontScale="92500" lnSpcReduction="20000"/>
          </a:bodyPr>
          <a:lstStyle/>
          <a:p>
            <a:r>
              <a:rPr sz="1800" dirty="0"/>
              <a:t>A plaintext file in the repo root — and it is </a:t>
            </a:r>
            <a:r>
              <a:rPr sz="1800" b="1" dirty="0"/>
              <a:t>versioned too</a:t>
            </a:r>
            <a:r>
              <a:rPr sz="1800" dirty="0"/>
              <a:t>, so everyone gets it</a:t>
            </a:r>
          </a:p>
          <a:p>
            <a:r>
              <a:rPr sz="1800" dirty="0"/>
              <a:t>One pattern per line</a:t>
            </a:r>
            <a:r>
              <a:rPr lang="en-US" sz="1800" dirty="0"/>
              <a:t>:</a:t>
            </a:r>
            <a:br>
              <a:rPr lang="en-US" sz="1800" dirty="0"/>
            </a:br>
            <a:br>
              <a:rPr lang="en-US" sz="1800" dirty="0"/>
            </a:br>
            <a:r>
              <a:rPr lang="en-US" sz="1800" dirty="0">
                <a:latin typeface="Consolas"/>
              </a:rPr>
              <a:t>#</a:t>
            </a:r>
            <a:r>
              <a:rPr lang="en-US" sz="1800" dirty="0"/>
              <a:t> comment</a:t>
            </a:r>
            <a:br>
              <a:rPr lang="en-US" sz="1800" dirty="0"/>
            </a:br>
            <a:r>
              <a:rPr lang="en-US" sz="1800" dirty="0">
                <a:latin typeface="Consolas"/>
              </a:rPr>
              <a:t>*</a:t>
            </a:r>
            <a:r>
              <a:rPr lang="en-US" sz="1800" dirty="0"/>
              <a:t> wildcard</a:t>
            </a:r>
            <a:br>
              <a:rPr lang="en-US" sz="1800" dirty="0"/>
            </a:br>
            <a:r>
              <a:rPr lang="en-US" sz="1800" dirty="0"/>
              <a:t>trailing </a:t>
            </a:r>
            <a:r>
              <a:rPr lang="en-US" sz="1800" dirty="0">
                <a:latin typeface="Consolas"/>
              </a:rPr>
              <a:t>/</a:t>
            </a:r>
            <a:r>
              <a:rPr lang="en-US" sz="1800" dirty="0"/>
              <a:t> = folder</a:t>
            </a:r>
            <a:br>
              <a:rPr lang="en-US" sz="1800" dirty="0"/>
            </a:br>
            <a:r>
              <a:rPr lang="en-US" sz="1800" dirty="0"/>
              <a:t>leading </a:t>
            </a:r>
            <a:r>
              <a:rPr lang="en-US" sz="1800" dirty="0">
                <a:latin typeface="Consolas"/>
              </a:rPr>
              <a:t>/</a:t>
            </a:r>
            <a:r>
              <a:rPr lang="en-US" sz="1800" dirty="0"/>
              <a:t> = root only</a:t>
            </a:r>
            <a:br>
              <a:rPr lang="en-US" sz="1800" dirty="0"/>
            </a:br>
            <a:r>
              <a:rPr lang="en-US" sz="1800" dirty="0">
                <a:latin typeface="Consolas"/>
              </a:rPr>
              <a:t>!</a:t>
            </a:r>
            <a:r>
              <a:rPr lang="en-US" sz="1800" dirty="0"/>
              <a:t> un-ignores</a:t>
            </a:r>
          </a:p>
          <a:p>
            <a:pPr marL="0" indent="0">
              <a:buNone/>
            </a:pPr>
            <a:endParaRPr lang="en-US" sz="1800" dirty="0"/>
          </a:p>
          <a:p>
            <a:pPr marL="0" indent="0">
              <a:buNone/>
            </a:pPr>
            <a:endParaRPr lang="en-US" sz="1800" dirty="0"/>
          </a:p>
          <a:p>
            <a:pPr marL="0" indent="0">
              <a:buNone/>
            </a:pPr>
            <a:endParaRPr sz="1600" dirty="0"/>
          </a:p>
          <a:p>
            <a:r>
              <a:rPr sz="1800" b="1" dirty="0"/>
              <a:t>Two traps</a:t>
            </a:r>
          </a:p>
          <a:p>
            <a:pPr lvl="1"/>
            <a:r>
              <a:rPr sz="1600" dirty="0">
                <a:latin typeface="Consolas"/>
              </a:rPr>
              <a:t>.</a:t>
            </a:r>
            <a:r>
              <a:rPr sz="1600" dirty="0" err="1">
                <a:latin typeface="Consolas"/>
              </a:rPr>
              <a:t>gitignore</a:t>
            </a:r>
            <a:r>
              <a:rPr sz="1600" dirty="0"/>
              <a:t> does </a:t>
            </a:r>
            <a:r>
              <a:rPr sz="1600" b="1" dirty="0"/>
              <a:t>not</a:t>
            </a:r>
            <a:r>
              <a:rPr sz="1600" dirty="0"/>
              <a:t> untrack what is already committed → </a:t>
            </a:r>
            <a:r>
              <a:rPr sz="1600" dirty="0">
                <a:latin typeface="Consolas"/>
              </a:rPr>
              <a:t>git rm --cached </a:t>
            </a:r>
            <a:r>
              <a:rPr sz="1600" dirty="0" err="1">
                <a:latin typeface="Consolas"/>
              </a:rPr>
              <a:t>bigfile.mat</a:t>
            </a:r>
            <a:endParaRPr sz="1600" dirty="0">
              <a:latin typeface="Consolas"/>
            </a:endParaRPr>
          </a:p>
          <a:p>
            <a:pPr lvl="1"/>
            <a:r>
              <a:rPr sz="1600" dirty="0"/>
              <a:t>Ignored files are invisible to Git: no backup, no revert, gone on a fresh clone</a:t>
            </a:r>
          </a:p>
        </p:txBody>
      </p:sp>
      <p:sp>
        <p:nvSpPr>
          <p:cNvPr id="5" name="Content Placeholder 4">
            <a:extLst>
              <a:ext uri="{FF2B5EF4-FFF2-40B4-BE49-F238E27FC236}">
                <a16:creationId xmlns:a16="http://schemas.microsoft.com/office/drawing/2014/main" id="{E0D783F3-52A6-88D6-EEC0-CE42ECCC8611}"/>
              </a:ext>
            </a:extLst>
          </p:cNvPr>
          <p:cNvSpPr>
            <a:spLocks noGrp="1"/>
          </p:cNvSpPr>
          <p:nvPr>
            <p:ph sz="half" idx="2"/>
          </p:nvPr>
        </p:nvSpPr>
        <p:spPr>
          <a:xfrm>
            <a:off x="6172199" y="1825625"/>
            <a:ext cx="5914697" cy="4667250"/>
          </a:xfrm>
        </p:spPr>
        <p:txBody>
          <a:bodyPr>
            <a:normAutofit fontScale="92500" lnSpcReduction="20000"/>
          </a:bodyPr>
          <a:lstStyle/>
          <a:p>
            <a:r>
              <a:rPr lang="en-US" sz="2000" b="1" dirty="0"/>
              <a:t>A starter for this course:</a:t>
            </a:r>
          </a:p>
          <a:p>
            <a:pPr lvl="1"/>
            <a:r>
              <a:rPr lang="en-US" sz="1800" b="1" dirty="0" err="1">
                <a:latin typeface="Consolas"/>
              </a:rPr>
              <a:t>Matlab</a:t>
            </a:r>
            <a:r>
              <a:rPr lang="en-US" sz="1800" b="1" dirty="0">
                <a:latin typeface="Consolas"/>
              </a:rPr>
              <a:t>:</a:t>
            </a:r>
            <a:br>
              <a:rPr lang="en-US" sz="1800" dirty="0">
                <a:latin typeface="Consolas"/>
              </a:rPr>
            </a:br>
            <a:r>
              <a:rPr lang="en-US" sz="1800" dirty="0">
                <a:latin typeface="Consolas"/>
              </a:rPr>
              <a:t>*.mat</a:t>
            </a:r>
            <a:r>
              <a:rPr lang="en-US" sz="1800" dirty="0"/>
              <a:t>  </a:t>
            </a:r>
            <a:br>
              <a:rPr lang="en-US" sz="1800" dirty="0"/>
            </a:br>
            <a:r>
              <a:rPr lang="en-US" sz="1800" dirty="0">
                <a:latin typeface="Consolas"/>
              </a:rPr>
              <a:t>results/</a:t>
            </a:r>
            <a:r>
              <a:rPr lang="en-US" sz="1800" dirty="0"/>
              <a:t>  </a:t>
            </a:r>
            <a:br>
              <a:rPr lang="en-US" sz="1800" dirty="0"/>
            </a:br>
            <a:r>
              <a:rPr lang="en-US" sz="1800" dirty="0">
                <a:latin typeface="Consolas"/>
              </a:rPr>
              <a:t>figures/</a:t>
            </a:r>
            <a:r>
              <a:rPr lang="en-US" sz="1800" dirty="0"/>
              <a:t>  </a:t>
            </a:r>
            <a:br>
              <a:rPr lang="en-US" sz="1800" dirty="0"/>
            </a:br>
            <a:r>
              <a:rPr lang="en-US" sz="1800" dirty="0">
                <a:latin typeface="Consolas"/>
              </a:rPr>
              <a:t>*.</a:t>
            </a:r>
            <a:r>
              <a:rPr lang="en-US" sz="1800" dirty="0" err="1">
                <a:latin typeface="Consolas"/>
              </a:rPr>
              <a:t>asv</a:t>
            </a:r>
            <a:r>
              <a:rPr lang="en-US" sz="1800" dirty="0"/>
              <a:t>  </a:t>
            </a:r>
            <a:br>
              <a:rPr lang="en-US" sz="1800" dirty="0"/>
            </a:br>
            <a:r>
              <a:rPr lang="en-US" sz="1800" dirty="0" err="1">
                <a:latin typeface="Consolas"/>
              </a:rPr>
              <a:t>slprj</a:t>
            </a:r>
            <a:r>
              <a:rPr lang="en-US" sz="1800" dirty="0">
                <a:latin typeface="Consolas"/>
              </a:rPr>
              <a:t>/</a:t>
            </a:r>
            <a:r>
              <a:rPr lang="en-US" sz="1800" dirty="0"/>
              <a:t>  </a:t>
            </a:r>
            <a:br>
              <a:rPr lang="en-US" sz="1800" dirty="0"/>
            </a:br>
            <a:r>
              <a:rPr lang="en-US" sz="1800" dirty="0">
                <a:latin typeface="Consolas"/>
              </a:rPr>
              <a:t>*.mexw64</a:t>
            </a:r>
          </a:p>
          <a:p>
            <a:pPr lvl="1"/>
            <a:r>
              <a:rPr lang="en-US" sz="1800" b="1" dirty="0">
                <a:latin typeface="Consolas"/>
              </a:rPr>
              <a:t>Python:</a:t>
            </a:r>
            <a:br>
              <a:rPr lang="en-US" sz="1800" dirty="0">
                <a:latin typeface="Consolas"/>
              </a:rPr>
            </a:br>
            <a:r>
              <a:rPr lang="en-US" sz="1800" dirty="0">
                <a:latin typeface="Consolas"/>
              </a:rPr>
              <a:t>__</a:t>
            </a:r>
            <a:r>
              <a:rPr lang="en-US" sz="1800" dirty="0" err="1">
                <a:latin typeface="Consolas"/>
              </a:rPr>
              <a:t>pycache</a:t>
            </a:r>
            <a:r>
              <a:rPr lang="en-US" sz="1800" dirty="0">
                <a:latin typeface="Consolas"/>
              </a:rPr>
              <a:t>__/</a:t>
            </a:r>
            <a:r>
              <a:rPr lang="en-US" sz="1800" dirty="0"/>
              <a:t>  </a:t>
            </a:r>
            <a:br>
              <a:rPr lang="en-US" sz="1800" dirty="0"/>
            </a:br>
            <a:r>
              <a:rPr lang="en-US" sz="1800" dirty="0">
                <a:latin typeface="Consolas"/>
              </a:rPr>
              <a:t>.</a:t>
            </a:r>
            <a:r>
              <a:rPr lang="en-US" sz="1800" dirty="0" err="1">
                <a:latin typeface="Consolas"/>
              </a:rPr>
              <a:t>ipynb_checkpoints</a:t>
            </a:r>
            <a:r>
              <a:rPr lang="en-US" sz="1800" dirty="0">
                <a:latin typeface="Consolas"/>
              </a:rPr>
              <a:t>/</a:t>
            </a:r>
            <a:r>
              <a:rPr lang="en-US" sz="1800" dirty="0"/>
              <a:t>  </a:t>
            </a:r>
            <a:br>
              <a:rPr lang="en-US" sz="1800" dirty="0"/>
            </a:br>
            <a:r>
              <a:rPr lang="en-US" sz="1800" dirty="0">
                <a:latin typeface="Consolas"/>
              </a:rPr>
              <a:t>*.egg-info/</a:t>
            </a:r>
            <a:r>
              <a:rPr lang="en-US" sz="1800" dirty="0"/>
              <a:t>  </a:t>
            </a:r>
            <a:br>
              <a:rPr lang="en-US" sz="1800" dirty="0"/>
            </a:br>
            <a:r>
              <a:rPr lang="en-US" sz="1800" dirty="0">
                <a:latin typeface="Consolas"/>
              </a:rPr>
              <a:t>.</a:t>
            </a:r>
            <a:r>
              <a:rPr lang="en-US" sz="1800" dirty="0" err="1">
                <a:latin typeface="Consolas"/>
              </a:rPr>
              <a:t>venv</a:t>
            </a:r>
            <a:r>
              <a:rPr lang="en-US" sz="1800" dirty="0">
                <a:latin typeface="Consolas"/>
              </a:rPr>
              <a:t>/</a:t>
            </a:r>
          </a:p>
          <a:p>
            <a:pPr lvl="1"/>
            <a:r>
              <a:rPr lang="en-US" sz="1800" b="1" dirty="0">
                <a:latin typeface="Consolas"/>
              </a:rPr>
              <a:t>General:</a:t>
            </a:r>
            <a:br>
              <a:rPr lang="en-US" sz="1800" b="1" dirty="0">
                <a:latin typeface="Consolas"/>
              </a:rPr>
            </a:br>
            <a:r>
              <a:rPr lang="en-US" sz="1800" b="1" dirty="0">
                <a:latin typeface="Consolas"/>
              </a:rPr>
              <a:t>.</a:t>
            </a:r>
            <a:r>
              <a:rPr lang="en-US" sz="1800" b="1" dirty="0" err="1">
                <a:latin typeface="Consolas"/>
              </a:rPr>
              <a:t>DS_Store</a:t>
            </a:r>
            <a:r>
              <a:rPr lang="en-US" sz="1800" dirty="0"/>
              <a:t>  </a:t>
            </a:r>
            <a:br>
              <a:rPr lang="en-US" sz="1800" dirty="0"/>
            </a:br>
            <a:r>
              <a:rPr lang="en-US" sz="1800" dirty="0" err="1">
                <a:latin typeface="Consolas"/>
              </a:rPr>
              <a:t>Thumbs.db</a:t>
            </a:r>
            <a:r>
              <a:rPr lang="en-US" sz="1800" dirty="0"/>
              <a:t>  </a:t>
            </a:r>
            <a:br>
              <a:rPr lang="en-US" sz="1800" dirty="0"/>
            </a:br>
            <a:r>
              <a:rPr lang="en-US" sz="1800" dirty="0">
                <a:latin typeface="Consolas"/>
              </a:rPr>
              <a:t>desktop.ini</a:t>
            </a:r>
            <a:r>
              <a:rPr lang="en-US" sz="1800" dirty="0"/>
              <a:t>  </a:t>
            </a:r>
            <a:br>
              <a:rPr lang="en-US" sz="1800" dirty="0"/>
            </a:br>
            <a:r>
              <a:rPr lang="en-US" sz="1800" dirty="0">
                <a:latin typeface="Consolas"/>
              </a:rPr>
              <a:t>.</a:t>
            </a:r>
            <a:r>
              <a:rPr lang="en-US" sz="1800" dirty="0" err="1">
                <a:latin typeface="Consolas"/>
              </a:rPr>
              <a:t>vscode</a:t>
            </a:r>
            <a:r>
              <a:rPr lang="en-US" sz="1800" dirty="0">
                <a:latin typeface="Consolas"/>
              </a:rPr>
              <a:t>/</a:t>
            </a:r>
            <a:r>
              <a:rPr lang="en-US" sz="1800" dirty="0"/>
              <a:t>  </a:t>
            </a:r>
            <a:br>
              <a:rPr lang="en-US" sz="1800" dirty="0"/>
            </a:br>
            <a:r>
              <a:rPr lang="en-US" sz="1800" dirty="0">
                <a:latin typeface="Consolas"/>
              </a:rPr>
              <a:t>.idea/</a:t>
            </a:r>
            <a:r>
              <a:rPr lang="en-US" sz="1800" dirty="0"/>
              <a:t>  </a:t>
            </a:r>
            <a:br>
              <a:rPr lang="en-US" sz="1800" dirty="0"/>
            </a:br>
            <a:r>
              <a:rPr lang="en-US" sz="1800" dirty="0">
                <a:latin typeface="Consolas"/>
              </a:rPr>
              <a:t>.env</a:t>
            </a:r>
            <a:br>
              <a:rPr lang="en-US" sz="1800" dirty="0">
                <a:latin typeface="Consolas"/>
              </a:rPr>
            </a:br>
            <a:r>
              <a:rPr lang="en-US" sz="1800" dirty="0">
                <a:latin typeface="Consolas"/>
              </a:rPr>
              <a:t>data/</a:t>
            </a:r>
            <a:br>
              <a:rPr lang="en-US" sz="1800" dirty="0">
                <a:latin typeface="Consolas"/>
              </a:rPr>
            </a:br>
            <a:r>
              <a:rPr lang="en-US" sz="1800" dirty="0">
                <a:latin typeface="Consolas"/>
              </a:rPr>
              <a:t>!data/</a:t>
            </a:r>
            <a:r>
              <a:rPr lang="en-US" sz="1800" dirty="0" err="1">
                <a:latin typeface="Consolas"/>
              </a:rPr>
              <a:t>reference_values.mat</a:t>
            </a:r>
            <a:r>
              <a:rPr lang="en-US" sz="1800" dirty="0"/>
              <a:t>   # keep this one anyway</a:t>
            </a:r>
            <a:r>
              <a:rPr lang="en-US" dirty="0"/>
              <a:t> </a:t>
            </a:r>
          </a:p>
        </p:txBody>
      </p:sp>
      <p:pic>
        <p:nvPicPr>
          <p:cNvPr id="4" name="Picture 3" descr="A meme: an editor tab showing a .gitignore file whose only line is '.gitignore', above a two-panel photo of a man about to hit himself with a rock, both panels labelled '.gitignore'.">
            <a:extLst>
              <a:ext uri="{FF2B5EF4-FFF2-40B4-BE49-F238E27FC236}">
                <a16:creationId xmlns:a16="http://schemas.microsoft.com/office/drawing/2014/main" id="{8B3BBD00-72E8-D58F-874E-AE8087512AB3}"/>
              </a:ext>
            </a:extLst>
          </p:cNvPr>
          <p:cNvPicPr>
            <a:picLocks noChangeAspect="1"/>
          </p:cNvPicPr>
          <p:nvPr/>
        </p:nvPicPr>
        <p:blipFill>
          <a:blip r:embed="rId3"/>
          <a:srcRect t="16204" b="18230"/>
          <a:stretch>
            <a:fillRect/>
          </a:stretch>
        </p:blipFill>
        <p:spPr>
          <a:xfrm>
            <a:off x="9921701" y="0"/>
            <a:ext cx="2270299" cy="2652712"/>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Secrets: the one thing you cannot take back</a:t>
            </a:r>
          </a:p>
        </p:txBody>
      </p:sp>
      <p:sp>
        <p:nvSpPr>
          <p:cNvPr id="3" name="Content Placeholder 2"/>
          <p:cNvSpPr>
            <a:spLocks noGrp="1"/>
          </p:cNvSpPr>
          <p:nvPr>
            <p:ph idx="1"/>
          </p:nvPr>
        </p:nvSpPr>
        <p:spPr/>
        <p:txBody>
          <a:bodyPr wrap="square">
            <a:normAutofit lnSpcReduction="10000"/>
          </a:bodyPr>
          <a:lstStyle/>
          <a:p>
            <a:r>
              <a:rPr sz="2000" dirty="0"/>
              <a:t>Passwords, API tokens, </a:t>
            </a:r>
            <a:r>
              <a:rPr sz="2000" dirty="0" err="1"/>
              <a:t>licence</a:t>
            </a:r>
            <a:r>
              <a:rPr sz="2000" dirty="0"/>
              <a:t> keys, patient data, unpublished data</a:t>
            </a:r>
          </a:p>
          <a:p>
            <a:pPr>
              <a:defRPr sz="700"/>
            </a:pPr>
            <a:endParaRPr sz="2000" dirty="0"/>
          </a:p>
          <a:p>
            <a:r>
              <a:rPr sz="2000" dirty="0"/>
              <a:t>Once pushed, it is on GitHub's servers, in </a:t>
            </a:r>
            <a:r>
              <a:rPr sz="2000" b="1" dirty="0"/>
              <a:t>every clone and every fork</a:t>
            </a:r>
          </a:p>
          <a:p>
            <a:pPr lvl="1"/>
            <a:r>
              <a:rPr sz="1800" dirty="0"/>
              <a:t>Deleting the file does not help — the old version is still in the history</a:t>
            </a:r>
          </a:p>
          <a:p>
            <a:pPr lvl="1"/>
            <a:r>
              <a:rPr sz="1800" dirty="0"/>
              <a:t>Rewriting history does not reach forks, caches, or anyone who already pulled</a:t>
            </a:r>
          </a:p>
          <a:p>
            <a:pPr>
              <a:defRPr sz="700"/>
            </a:pPr>
            <a:endParaRPr sz="1800" dirty="0"/>
          </a:p>
          <a:p>
            <a:r>
              <a:rPr sz="2000" dirty="0"/>
              <a:t>GitHub now </a:t>
            </a:r>
            <a:r>
              <a:rPr sz="2000" b="1" dirty="0"/>
              <a:t>scans pushes to public repos and blocks</a:t>
            </a:r>
            <a:r>
              <a:rPr sz="2000" dirty="0"/>
              <a:t> known secret formats</a:t>
            </a:r>
          </a:p>
          <a:p>
            <a:pPr lvl="1"/>
            <a:r>
              <a:rPr sz="1800" dirty="0"/>
              <a:t>Helpful, but it only knows the patterns it knows. It will not catch your data.</a:t>
            </a:r>
          </a:p>
          <a:p>
            <a:pPr>
              <a:defRPr sz="700"/>
            </a:pPr>
            <a:endParaRPr sz="1800" dirty="0"/>
          </a:p>
          <a:p>
            <a:r>
              <a:rPr sz="2000" b="1" dirty="0"/>
              <a:t>If it happens: rotate the credential first.</a:t>
            </a:r>
            <a:r>
              <a:rPr sz="2000" dirty="0"/>
              <a:t> Rewriting history is the second step, not the first.</a:t>
            </a:r>
          </a:p>
          <a:p>
            <a:pPr>
              <a:defRPr sz="700"/>
            </a:pPr>
            <a:endParaRPr sz="2000" dirty="0"/>
          </a:p>
          <a:p>
            <a:r>
              <a:rPr sz="2000" dirty="0"/>
              <a:t>Prevention: keep secrets in a config file or environment variable, and ignore that file</a:t>
            </a:r>
          </a:p>
        </p:txBody>
      </p:sp>
      <p:pic>
        <p:nvPicPr>
          <p:cNvPr id="5" name="Picture 2" descr="A widely-shared unflattering action photo of a singer performing on stage, used as the example of an image someone tried, and failed, to erase from the internet.">
            <a:extLst>
              <a:ext uri="{FF2B5EF4-FFF2-40B4-BE49-F238E27FC236}">
                <a16:creationId xmlns:a16="http://schemas.microsoft.com/office/drawing/2014/main" id="{87BF9139-ECF6-9A50-3A9E-800BD74FCA2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9449195">
            <a:off x="10183130" y="5772642"/>
            <a:ext cx="2950307" cy="22100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Worktrees: several working copies at once</a:t>
            </a:r>
          </a:p>
        </p:txBody>
      </p:sp>
      <p:sp>
        <p:nvSpPr>
          <p:cNvPr id="3" name="Content Placeholder 2"/>
          <p:cNvSpPr>
            <a:spLocks noGrp="1"/>
          </p:cNvSpPr>
          <p:nvPr>
            <p:ph idx="1"/>
          </p:nvPr>
        </p:nvSpPr>
        <p:spPr/>
        <p:txBody>
          <a:bodyPr wrap="square">
            <a:normAutofit/>
          </a:bodyPr>
          <a:lstStyle/>
          <a:p>
            <a:r>
              <a:rPr sz="1600" b="1"/>
              <a:t>The situation:</a:t>
            </a:r>
            <a:r>
              <a:rPr sz="1600"/>
              <a:t> you are mid-experiment, the code half works — and you need the </a:t>
            </a:r>
            <a:r>
              <a:rPr sz="1600" i="1"/>
              <a:t>working</a:t>
            </a:r>
            <a:r>
              <a:rPr sz="1600"/>
              <a:t> version to compare against, or to review a colleague's pull request</a:t>
            </a:r>
          </a:p>
          <a:p>
            <a:pPr lvl="1"/>
            <a:r>
              <a:rPr sz="1500"/>
              <a:t>So far your options were: commit garbage, stash, or clone the whole repo again</a:t>
            </a:r>
          </a:p>
          <a:p>
            <a:pPr>
              <a:defRPr sz="700"/>
            </a:pPr>
            <a:endParaRPr sz="1500"/>
          </a:p>
          <a:p>
            <a:r>
              <a:rPr sz="1600"/>
              <a:t>A </a:t>
            </a:r>
            <a:r>
              <a:rPr sz="1600" b="1"/>
              <a:t>worktree</a:t>
            </a:r>
            <a:r>
              <a:rPr sz="1600"/>
              <a:t> is a second folder on disk, on a different branch, sharing </a:t>
            </a:r>
            <a:r>
              <a:rPr sz="1600" b="1"/>
              <a:t>one</a:t>
            </a:r>
            <a:r>
              <a:rPr sz="1600"/>
              <a:t> repository and one history</a:t>
            </a:r>
          </a:p>
          <a:p>
            <a:pPr lvl="1"/>
            <a:r>
              <a:rPr sz="1500"/>
              <a:t>No second clone, no duplicated history, nothing re-downloaded</a:t>
            </a:r>
          </a:p>
          <a:p>
            <a:pPr lvl="1"/>
            <a:r>
              <a:rPr sz="1500"/>
              <a:t>Commit in either folder — it is the same repository</a:t>
            </a:r>
          </a:p>
          <a:p>
            <a:pPr>
              <a:defRPr sz="700"/>
            </a:pPr>
            <a:endParaRPr sz="1500"/>
          </a:p>
          <a:p>
            <a:r>
              <a:rPr sz="1600" b="1"/>
              <a:t>Why this matters for modelling</a:t>
            </a:r>
          </a:p>
          <a:p>
            <a:pPr lvl="1"/>
            <a:r>
              <a:rPr sz="1500"/>
              <a:t>Run the </a:t>
            </a:r>
            <a:r>
              <a:rPr sz="1500" b="1"/>
              <a:t>old</a:t>
            </a:r>
            <a:r>
              <a:rPr sz="1500"/>
              <a:t> and the </a:t>
            </a:r>
            <a:r>
              <a:rPr sz="1500" b="1"/>
              <a:t>new</a:t>
            </a:r>
            <a:r>
              <a:rPr sz="1500"/>
              <a:t> model side by side, two MATLAB/Python sessions, and diff the outputs</a:t>
            </a:r>
          </a:p>
          <a:p>
            <a:pPr lvl="1"/>
            <a:r>
              <a:rPr sz="1500"/>
              <a:t>Let a long simulation keep running on </a:t>
            </a:r>
            <a:r>
              <a:rPr sz="1500">
                <a:latin typeface="Consolas"/>
              </a:rPr>
              <a:t>main</a:t>
            </a:r>
            <a:r>
              <a:rPr sz="1500"/>
              <a:t> while you edit a branch</a:t>
            </a:r>
          </a:p>
          <a:p>
            <a:pPr lvl="1"/>
            <a:r>
              <a:rPr sz="1500"/>
              <a:t>Review a PR without destroying your working state</a:t>
            </a:r>
          </a:p>
          <a:p>
            <a:pPr>
              <a:defRPr sz="700"/>
            </a:pPr>
            <a:endParaRPr sz="1500"/>
          </a:p>
          <a:p>
            <a:r>
              <a:rPr sz="1600"/>
              <a:t>Limit: the same branch cannot be checked out in two worktrees at once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Worktrees: how</a:t>
            </a:r>
          </a:p>
        </p:txBody>
      </p:sp>
      <p:pic>
        <p:nvPicPr>
          <p:cNvPr id="4" name="Picture 3" descr="A worktree diagram: a folder labelled 'Git Repo' connects to three further folders labelled 'Worktrees'. Coloured arrows link each worktree folder to a different branch on the commit graph below — a red bugfix branch, the blue main branch, and a green feature branch.">
            <a:extLst>
              <a:ext uri="{FF2B5EF4-FFF2-40B4-BE49-F238E27FC236}">
                <a16:creationId xmlns:a16="http://schemas.microsoft.com/office/drawing/2014/main" id="{F27D7574-3E64-7986-2DE4-8FEF0C58D76C}"/>
              </a:ext>
            </a:extLst>
          </p:cNvPr>
          <p:cNvPicPr>
            <a:picLocks noChangeAspect="1"/>
          </p:cNvPicPr>
          <p:nvPr/>
        </p:nvPicPr>
        <p:blipFill>
          <a:blip r:embed="rId3"/>
          <a:stretch>
            <a:fillRect/>
          </a:stretch>
        </p:blipFill>
        <p:spPr>
          <a:xfrm>
            <a:off x="8167978" y="0"/>
            <a:ext cx="4024021" cy="2616200"/>
          </a:xfrm>
          <a:prstGeom prst="rect">
            <a:avLst/>
          </a:prstGeom>
        </p:spPr>
      </p:pic>
      <p:sp>
        <p:nvSpPr>
          <p:cNvPr id="3" name="Content Placeholder 2"/>
          <p:cNvSpPr>
            <a:spLocks noGrp="1"/>
          </p:cNvSpPr>
          <p:nvPr>
            <p:ph idx="1"/>
          </p:nvPr>
        </p:nvSpPr>
        <p:spPr/>
        <p:txBody>
          <a:bodyPr wrap="square">
            <a:normAutofit/>
          </a:bodyPr>
          <a:lstStyle/>
          <a:p>
            <a:r>
              <a:rPr sz="1600" b="1"/>
              <a:t>GitHub Desktop 3.6 (June 2026) added them</a:t>
            </a:r>
            <a:r>
              <a:rPr sz="1600"/>
              <a:t> — it is no longer CLI-only</a:t>
            </a:r>
          </a:p>
          <a:p>
            <a:pPr lvl="1"/>
            <a:r>
              <a:rPr sz="1500"/>
              <a:t>Repository ▸ </a:t>
            </a:r>
            <a:r>
              <a:rPr sz="1500" b="1"/>
              <a:t>New Worktree…</a:t>
            </a:r>
            <a:r>
              <a:rPr sz="1500"/>
              <a:t> → give it a name; leave the branch blank to make a new one</a:t>
            </a:r>
          </a:p>
          <a:p>
            <a:pPr lvl="1"/>
            <a:r>
              <a:rPr sz="1500"/>
              <a:t>A </a:t>
            </a:r>
            <a:r>
              <a:rPr sz="1500" b="1"/>
              <a:t>Current Worktree</a:t>
            </a:r>
            <a:r>
              <a:rPr sz="1500"/>
              <a:t> menu appears next to </a:t>
            </a:r>
            <a:r>
              <a:rPr sz="1500" i="1"/>
              <a:t>Current Repository</a:t>
            </a:r>
            <a:r>
              <a:rPr sz="1500"/>
              <a:t> and </a:t>
            </a:r>
            <a:r>
              <a:rPr sz="1500" i="1"/>
              <a:t>Current Branch</a:t>
            </a:r>
          </a:p>
          <a:p>
            <a:pPr lvl="1"/>
            <a:r>
              <a:rPr sz="1500"/>
              <a:t>Switching worktree switches the </a:t>
            </a:r>
            <a:r>
              <a:rPr sz="1500" b="1"/>
              <a:t>folder and the branch together</a:t>
            </a:r>
            <a:r>
              <a:rPr sz="1500"/>
              <a:t> — that is the whole idea</a:t>
            </a:r>
          </a:p>
          <a:p>
            <a:pPr lvl="1"/>
            <a:r>
              <a:rPr sz="1500"/>
              <a:t>Right-click a linked worktree ▸ </a:t>
            </a:r>
            <a:r>
              <a:rPr sz="1500" b="1"/>
              <a:t>Delete…</a:t>
            </a:r>
            <a:r>
              <a:rPr sz="1500"/>
              <a:t>  (it refuses if you have uncommitted changes)</a:t>
            </a:r>
          </a:p>
          <a:p>
            <a:pPr lvl="1"/>
            <a:r>
              <a:rPr sz="1500"/>
              <a:t>You cannot rename or delete the </a:t>
            </a:r>
            <a:r>
              <a:rPr sz="1500" i="1"/>
              <a:t>main</a:t>
            </a:r>
            <a:r>
              <a:rPr sz="1500"/>
              <a:t> worktree</a:t>
            </a:r>
          </a:p>
          <a:p>
            <a:pPr>
              <a:defRPr sz="700"/>
            </a:pPr>
            <a:endParaRPr sz="1500"/>
          </a:p>
          <a:p>
            <a:r>
              <a:rPr sz="1600" b="1"/>
              <a:t>Command line</a:t>
            </a:r>
          </a:p>
          <a:p>
            <a:pPr lvl="1"/>
            <a:r>
              <a:rPr sz="1500">
                <a:latin typeface="Consolas"/>
              </a:rPr>
              <a:t>git worktree add ../proj-main main</a:t>
            </a:r>
          </a:p>
          <a:p>
            <a:pPr lvl="1"/>
            <a:r>
              <a:rPr sz="1500">
                <a:latin typeface="Consolas"/>
              </a:rPr>
              <a:t>git worktree list</a:t>
            </a:r>
          </a:p>
          <a:p>
            <a:pPr lvl="1"/>
            <a:r>
              <a:rPr sz="1500">
                <a:latin typeface="Consolas"/>
              </a:rPr>
              <a:t>git worktree remove ../proj-main</a:t>
            </a:r>
          </a:p>
          <a:p>
            <a:pPr>
              <a:defRPr sz="700"/>
            </a:pPr>
            <a:endParaRPr sz="1500">
              <a:latin typeface="Consolas"/>
            </a:endParaRPr>
          </a:p>
          <a:p>
            <a:r>
              <a:rPr sz="1600"/>
              <a:t>Rule of thumb: put them </a:t>
            </a:r>
            <a:r>
              <a:rPr sz="1600" b="1"/>
              <a:t>next to</a:t>
            </a:r>
            <a:r>
              <a:rPr sz="1600"/>
              <a:t> the repo, never inside it, and delete them when done.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repo somebody can actually reuse</a:t>
            </a:r>
          </a:p>
        </p:txBody>
      </p:sp>
      <p:pic>
        <p:nvPicPr>
          <p:cNvPr id="4" name="Picture 3" descr="A green recycling symbol with the word REUSE across it.">
            <a:extLst>
              <a:ext uri="{FF2B5EF4-FFF2-40B4-BE49-F238E27FC236}">
                <a16:creationId xmlns:a16="http://schemas.microsoft.com/office/drawing/2014/main" id="{3B71D7D3-443B-2137-141C-8C7C89969ABD}"/>
              </a:ext>
            </a:extLst>
          </p:cNvPr>
          <p:cNvPicPr>
            <a:picLocks noChangeAspect="1"/>
          </p:cNvPicPr>
          <p:nvPr/>
        </p:nvPicPr>
        <p:blipFill>
          <a:blip r:embed="rId3"/>
          <a:stretch>
            <a:fillRect/>
          </a:stretch>
        </p:blipFill>
        <p:spPr>
          <a:xfrm>
            <a:off x="10024533" y="0"/>
            <a:ext cx="2167467" cy="2167467"/>
          </a:xfrm>
          <a:prstGeom prst="rect">
            <a:avLst/>
          </a:prstGeom>
        </p:spPr>
      </p:pic>
      <p:sp>
        <p:nvSpPr>
          <p:cNvPr id="3" name="Content Placeholder 2"/>
          <p:cNvSpPr>
            <a:spLocks noGrp="1"/>
          </p:cNvSpPr>
          <p:nvPr>
            <p:ph idx="1"/>
          </p:nvPr>
        </p:nvSpPr>
        <p:spPr/>
        <p:txBody>
          <a:bodyPr wrap="square">
            <a:normAutofit/>
          </a:bodyPr>
          <a:lstStyle/>
          <a:p>
            <a:r>
              <a:rPr sz="2000" b="1" dirty="0"/>
              <a:t>README.md</a:t>
            </a:r>
            <a:r>
              <a:rPr sz="2000" dirty="0"/>
              <a:t> — what it is, how to run it, what to cite. The only file everyone reads</a:t>
            </a:r>
          </a:p>
          <a:p>
            <a:r>
              <a:rPr sz="2000" b="1" dirty="0"/>
              <a:t>LICENSE</a:t>
            </a:r>
            <a:r>
              <a:rPr sz="2000" dirty="0"/>
              <a:t> — without one, </a:t>
            </a:r>
            <a:r>
              <a:rPr sz="2000" i="1" dirty="0"/>
              <a:t>nobody may legally reuse your code</a:t>
            </a:r>
            <a:r>
              <a:rPr sz="2000" dirty="0"/>
              <a:t>, public or not</a:t>
            </a:r>
          </a:p>
          <a:p>
            <a:pPr lvl="1"/>
            <a:r>
              <a:rPr sz="1800" dirty="0"/>
              <a:t>Research code: MIT or BSD-3-Clause. GitHub adds one for you in two clicks</a:t>
            </a:r>
          </a:p>
          <a:p>
            <a:r>
              <a:rPr sz="2000" b="1" dirty="0" err="1"/>
              <a:t>CITATION.cff</a:t>
            </a:r>
            <a:r>
              <a:rPr sz="2000" dirty="0"/>
              <a:t> — GitHub turns it into a “Cite this repository” button</a:t>
            </a:r>
          </a:p>
          <a:p>
            <a:r>
              <a:rPr sz="2000" b="1" dirty="0"/>
              <a:t>The environment</a:t>
            </a:r>
            <a:r>
              <a:rPr sz="2000" dirty="0"/>
              <a:t> — </a:t>
            </a:r>
            <a:r>
              <a:rPr sz="2000" dirty="0">
                <a:latin typeface="Consolas"/>
              </a:rPr>
              <a:t>requirements.txt</a:t>
            </a:r>
            <a:r>
              <a:rPr sz="2000" dirty="0"/>
              <a:t> / </a:t>
            </a:r>
            <a:r>
              <a:rPr sz="2000" dirty="0" err="1">
                <a:latin typeface="Consolas"/>
              </a:rPr>
              <a:t>environment.yml</a:t>
            </a:r>
            <a:r>
              <a:rPr sz="2000" dirty="0"/>
              <a:t>, or MATLAB version + toolbox list</a:t>
            </a:r>
          </a:p>
          <a:p>
            <a:r>
              <a:rPr sz="2000" b="1" dirty="0"/>
              <a:t>One script that reproduces the main figure</a:t>
            </a:r>
            <a:r>
              <a:rPr sz="2000" dirty="0"/>
              <a:t>, end to end, from a fresh clone</a:t>
            </a:r>
          </a:p>
          <a:p>
            <a:r>
              <a:rPr sz="2000" b="1" dirty="0"/>
              <a:t>A tag</a:t>
            </a:r>
            <a:r>
              <a:rPr sz="2000" dirty="0"/>
              <a:t> on the version that matches the paper: </a:t>
            </a:r>
            <a:r>
              <a:rPr sz="2000" dirty="0">
                <a:latin typeface="Consolas"/>
              </a:rPr>
              <a:t>git tag -a v1.0-paper -m "MSB submission"</a:t>
            </a:r>
          </a:p>
          <a:p>
            <a:pPr>
              <a:defRPr sz="700"/>
            </a:pPr>
            <a:endParaRPr sz="2000" dirty="0">
              <a:latin typeface="Consolas"/>
            </a:endParaRPr>
          </a:p>
          <a:p>
            <a:r>
              <a:rPr sz="2000" dirty="0"/>
              <a:t>Test: hand the URL to a </a:t>
            </a:r>
            <a:r>
              <a:rPr sz="2000" dirty="0" err="1"/>
              <a:t>labmate</a:t>
            </a:r>
            <a:r>
              <a:rPr sz="2000" dirty="0"/>
              <a:t> and say nothing. If they get your figure, you are done.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From repo to citable DOI (Zenodo)</a:t>
            </a:r>
          </a:p>
        </p:txBody>
      </p:sp>
      <p:sp>
        <p:nvSpPr>
          <p:cNvPr id="3" name="Content Placeholder 2"/>
          <p:cNvSpPr>
            <a:spLocks noGrp="1"/>
          </p:cNvSpPr>
          <p:nvPr>
            <p:ph idx="1"/>
          </p:nvPr>
        </p:nvSpPr>
        <p:spPr/>
        <p:txBody>
          <a:bodyPr wrap="square">
            <a:normAutofit/>
          </a:bodyPr>
          <a:lstStyle/>
          <a:p>
            <a:r>
              <a:rPr sz="1600"/>
              <a:t>A GitHub link is </a:t>
            </a:r>
            <a:r>
              <a:rPr sz="1600" b="1"/>
              <a:t>not archival</a:t>
            </a:r>
            <a:r>
              <a:rPr sz="1600"/>
              <a:t> — repos get renamed, made private, rewritten, deleted</a:t>
            </a:r>
          </a:p>
          <a:p>
            <a:r>
              <a:rPr sz="1600"/>
              <a:t>Journals and reviewers increasingly ask for a persistent identifier</a:t>
            </a:r>
          </a:p>
          <a:p>
            <a:pPr>
              <a:defRPr sz="700"/>
            </a:pPr>
            <a:endParaRPr sz="1600"/>
          </a:p>
          <a:p>
            <a:r>
              <a:rPr sz="1600" b="1"/>
              <a:t>Once:</a:t>
            </a:r>
            <a:r>
              <a:rPr sz="1600"/>
              <a:t> log in to zenodo.org with your GitHub account, flip the switch for the repository</a:t>
            </a:r>
          </a:p>
          <a:p>
            <a:r>
              <a:rPr sz="1600" b="1"/>
              <a:t>Then:</a:t>
            </a:r>
            <a:r>
              <a:rPr sz="1600"/>
              <a:t> publish a </a:t>
            </a:r>
            <a:r>
              <a:rPr sz="1600" b="1"/>
              <a:t>Release</a:t>
            </a:r>
            <a:r>
              <a:rPr sz="1600"/>
              <a:t> on GitHub → Zenodo archives that snapshot and mints a </a:t>
            </a:r>
            <a:r>
              <a:rPr sz="1600" b="1"/>
              <a:t>DOI</a:t>
            </a:r>
          </a:p>
          <a:p>
            <a:pPr lvl="1"/>
            <a:r>
              <a:rPr sz="1500"/>
              <a:t>A </a:t>
            </a:r>
            <a:r>
              <a:rPr sz="1500" i="1"/>
              <a:t>concept</a:t>
            </a:r>
            <a:r>
              <a:rPr sz="1500"/>
              <a:t> DOI that always points at the latest version</a:t>
            </a:r>
          </a:p>
          <a:p>
            <a:pPr lvl="1"/>
            <a:r>
              <a:rPr sz="1500"/>
              <a:t>A </a:t>
            </a:r>
            <a:r>
              <a:rPr sz="1500" i="1"/>
              <a:t>version</a:t>
            </a:r>
            <a:r>
              <a:rPr sz="1500"/>
              <a:t> DOI for this exact snapshot — that is the one you cite in the methods</a:t>
            </a:r>
          </a:p>
          <a:p>
            <a:pPr>
              <a:defRPr sz="700"/>
            </a:pPr>
            <a:endParaRPr sz="1500"/>
          </a:p>
          <a:p>
            <a:r>
              <a:rPr sz="1600"/>
              <a:t>Put the DOI badge at the top of the README</a:t>
            </a:r>
          </a:p>
          <a:p>
            <a:r>
              <a:rPr sz="1600"/>
              <a:t>Zenodo is run by CERN and keeps the archive even if the GitHub repo disappears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Git in the age of AI assistants</a:t>
            </a:r>
          </a:p>
        </p:txBody>
      </p:sp>
      <p:sp>
        <p:nvSpPr>
          <p:cNvPr id="3" name="Content Placeholder 2"/>
          <p:cNvSpPr>
            <a:spLocks noGrp="1"/>
          </p:cNvSpPr>
          <p:nvPr>
            <p:ph idx="1"/>
          </p:nvPr>
        </p:nvSpPr>
        <p:spPr/>
        <p:txBody>
          <a:bodyPr wrap="square">
            <a:normAutofit/>
          </a:bodyPr>
          <a:lstStyle/>
          <a:p>
            <a:r>
              <a:rPr sz="1600" dirty="0"/>
              <a:t>Assistants now edit </a:t>
            </a:r>
            <a:r>
              <a:rPr sz="1600" b="1" dirty="0"/>
              <a:t>many files at once</a:t>
            </a:r>
            <a:r>
              <a:rPr sz="1600" dirty="0"/>
              <a:t>, and you typed none of it</a:t>
            </a:r>
          </a:p>
          <a:p>
            <a:r>
              <a:rPr sz="1600" dirty="0"/>
              <a:t>That makes version control </a:t>
            </a:r>
            <a:r>
              <a:rPr sz="1600" b="1" dirty="0"/>
              <a:t>more</a:t>
            </a:r>
            <a:r>
              <a:rPr sz="1600" dirty="0"/>
              <a:t> important, not less:</a:t>
            </a:r>
          </a:p>
          <a:p>
            <a:pPr lvl="1"/>
            <a:r>
              <a:rPr sz="1500" b="1" dirty="0"/>
              <a:t>Commit before you let an agent loose.</a:t>
            </a:r>
            <a:r>
              <a:rPr sz="1500" dirty="0"/>
              <a:t> That commit is your undo button</a:t>
            </a:r>
          </a:p>
          <a:p>
            <a:pPr lvl="1"/>
            <a:r>
              <a:rPr sz="1500" dirty="0">
                <a:latin typeface="Consolas"/>
              </a:rPr>
              <a:t>git diff</a:t>
            </a:r>
            <a:r>
              <a:rPr sz="1500" dirty="0"/>
              <a:t> is how you actually review what it wrote — never accept what you have not read</a:t>
            </a:r>
          </a:p>
          <a:p>
            <a:pPr lvl="1"/>
            <a:r>
              <a:rPr sz="1500" dirty="0"/>
              <a:t>Small commits → small diffs → reviewable. Large diffs get rubber-stamped</a:t>
            </a:r>
          </a:p>
          <a:p>
            <a:pPr>
              <a:defRPr sz="700"/>
            </a:pPr>
            <a:endParaRPr sz="1500" dirty="0"/>
          </a:p>
          <a:p>
            <a:r>
              <a:rPr sz="1600" dirty="0"/>
              <a:t>The tooling has followed: GitHub Desktop 3.6 drafts commit messages and helps explain merge conflicts; pull-request review has AI assistance built in</a:t>
            </a:r>
          </a:p>
          <a:p>
            <a:pPr>
              <a:defRPr sz="700"/>
            </a:pPr>
            <a:endParaRPr sz="1600" dirty="0"/>
          </a:p>
          <a:p>
            <a:r>
              <a:rPr sz="1600" b="1" dirty="0"/>
              <a:t>Two cautions</a:t>
            </a:r>
          </a:p>
          <a:p>
            <a:pPr lvl="1"/>
            <a:r>
              <a:rPr sz="1500" dirty="0"/>
              <a:t>A generated commit message says </a:t>
            </a:r>
            <a:r>
              <a:rPr sz="1500" b="1" dirty="0"/>
              <a:t>what</a:t>
            </a:r>
            <a:r>
              <a:rPr sz="1500" dirty="0"/>
              <a:t> changed. Only you can say </a:t>
            </a:r>
            <a:r>
              <a:rPr sz="1500" b="1" dirty="0"/>
              <a:t>why</a:t>
            </a:r>
          </a:p>
          <a:p>
            <a:pPr lvl="1"/>
            <a:r>
              <a:rPr sz="1500" dirty="0" err="1"/>
              <a:t>Licences</a:t>
            </a:r>
            <a:r>
              <a:rPr sz="1500" dirty="0"/>
              <a:t>, secrets, and correctness are still yours — it is your name on the commit</a:t>
            </a:r>
          </a:p>
          <a:p>
            <a:pPr>
              <a:defRPr sz="700"/>
            </a:pPr>
            <a:endParaRPr sz="1500" dirty="0"/>
          </a:p>
          <a:p>
            <a:r>
              <a:rPr sz="1600" dirty="0"/>
              <a:t>And the instruction files (</a:t>
            </a:r>
            <a:r>
              <a:rPr sz="1600" dirty="0">
                <a:latin typeface="Consolas"/>
              </a:rPr>
              <a:t>AGENTS.md</a:t>
            </a:r>
            <a:r>
              <a:rPr sz="1600" dirty="0"/>
              <a:t>, </a:t>
            </a:r>
            <a:r>
              <a:rPr sz="1600" dirty="0">
                <a:latin typeface="Consolas"/>
              </a:rPr>
              <a:t>.</a:t>
            </a:r>
            <a:r>
              <a:rPr sz="1600" dirty="0" err="1">
                <a:latin typeface="Consolas"/>
              </a:rPr>
              <a:t>github</a:t>
            </a:r>
            <a:r>
              <a:rPr sz="1600" dirty="0">
                <a:latin typeface="Consolas"/>
              </a:rPr>
              <a:t>/copilot-instructions.md</a:t>
            </a:r>
            <a:r>
              <a:rPr sz="1600" dirty="0"/>
              <a:t>) are source too — commit them.</a:t>
            </a:r>
          </a:p>
        </p:txBody>
      </p:sp>
      <p:pic>
        <p:nvPicPr>
          <p:cNvPr id="4" name="Picture 3" descr="An illustration of a server room where a small smiling robot stands in front of an enormous tangled ball of glowing cables, while a person behind it holds their head in dismay.">
            <a:extLst>
              <a:ext uri="{FF2B5EF4-FFF2-40B4-BE49-F238E27FC236}">
                <a16:creationId xmlns:a16="http://schemas.microsoft.com/office/drawing/2014/main" id="{B950B86D-FDDB-FAAD-963D-988FD639EA42}"/>
              </a:ext>
            </a:extLst>
          </p:cNvPr>
          <p:cNvPicPr>
            <a:picLocks noChangeAspect="1"/>
          </p:cNvPicPr>
          <p:nvPr/>
        </p:nvPicPr>
        <p:blipFill>
          <a:blip r:embed="rId3"/>
          <a:stretch>
            <a:fillRect/>
          </a:stretch>
        </p:blipFill>
        <p:spPr>
          <a:xfrm>
            <a:off x="8266798" y="0"/>
            <a:ext cx="3925202" cy="219756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 messed up. What now?</a:t>
            </a:r>
          </a:p>
        </p:txBody>
      </p:sp>
      <p:graphicFrame>
        <p:nvGraphicFramePr>
          <p:cNvPr id="3" name="Table 2" descr="Table of common mistakes, the Git command that fixes each one, and notes on when it is safe to use."/>
          <p:cNvGraphicFramePr>
            <a:graphicFrameLocks noGrp="1"/>
          </p:cNvGraphicFramePr>
          <p:nvPr/>
        </p:nvGraphicFramePr>
        <p:xfrm>
          <a:off x="792480" y="1828800"/>
          <a:ext cx="10607040" cy="3309840"/>
        </p:xfrm>
        <a:graphic>
          <a:graphicData uri="http://schemas.openxmlformats.org/drawingml/2006/table">
            <a:tbl>
              <a:tblPr firstRow="1" bandRow="1">
                <a:tableStyleId>{5C22544A-7EE6-4342-B048-85BDC9FD1C3A}</a:tableStyleId>
              </a:tblPr>
              <a:tblGrid>
                <a:gridCol w="33832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292608">
                <a:tc>
                  <a:txBody>
                    <a:bodyPr/>
                    <a:lstStyle/>
                    <a:p>
                      <a:r>
                        <a:rPr sz="1300" b="1">
                          <a:solidFill>
                            <a:srgbClr val="FFFFFF"/>
                          </a:solidFill>
                        </a:rPr>
                        <a:t>Situation</a:t>
                      </a:r>
                    </a:p>
                  </a:txBody>
                  <a:tcPr marT="18000" marB="18000" anchor="ctr">
                    <a:solidFill>
                      <a:srgbClr val="1F4E79"/>
                    </a:solidFill>
                  </a:tcPr>
                </a:tc>
                <a:tc>
                  <a:txBody>
                    <a:bodyPr/>
                    <a:lstStyle/>
                    <a:p>
                      <a:r>
                        <a:rPr sz="1300" b="1">
                          <a:solidFill>
                            <a:srgbClr val="FFFFFF"/>
                          </a:solidFill>
                        </a:rPr>
                        <a:t>Fix</a:t>
                      </a:r>
                    </a:p>
                  </a:txBody>
                  <a:tcPr marT="18000" marB="18000" anchor="ctr">
                    <a:solidFill>
                      <a:srgbClr val="1F4E79"/>
                    </a:solidFill>
                  </a:tcPr>
                </a:tc>
                <a:tc>
                  <a:txBody>
                    <a:bodyPr/>
                    <a:lstStyle/>
                    <a:p>
                      <a:r>
                        <a:rPr sz="1300" b="1">
                          <a:solidFill>
                            <a:srgbClr val="FFFFFF"/>
                          </a:solidFill>
                        </a:rPr>
                        <a:t>Notes</a:t>
                      </a:r>
                    </a:p>
                  </a:txBody>
                  <a:tcPr marT="18000" marB="18000" anchor="ctr">
                    <a:solidFill>
                      <a:srgbClr val="1F4E79"/>
                    </a:solidFill>
                  </a:tcPr>
                </a:tc>
                <a:extLst>
                  <a:ext uri="{0D108BD9-81ED-4DB2-BD59-A6C34878D82A}">
                    <a16:rowId xmlns:a16="http://schemas.microsoft.com/office/drawing/2014/main" val="10000"/>
                  </a:ext>
                </a:extLst>
              </a:tr>
              <a:tr h="292608">
                <a:tc>
                  <a:txBody>
                    <a:bodyPr/>
                    <a:lstStyle/>
                    <a:p>
                      <a:r>
                        <a:rPr sz="1200">
                          <a:solidFill>
                            <a:srgbClr val="000000"/>
                          </a:solidFill>
                        </a:rPr>
                        <a:t>Wrong commit message (not pushed)</a:t>
                      </a:r>
                    </a:p>
                  </a:txBody>
                  <a:tcPr marT="9000" marB="9000" anchor="ctr"/>
                </a:tc>
                <a:tc>
                  <a:txBody>
                    <a:bodyPr/>
                    <a:lstStyle/>
                    <a:p>
                      <a:r>
                        <a:rPr sz="1200">
                          <a:solidFill>
                            <a:srgbClr val="000000"/>
                          </a:solidFill>
                          <a:latin typeface="Consolas"/>
                        </a:rPr>
                        <a:t>git commit --amend</a:t>
                      </a:r>
                    </a:p>
                  </a:txBody>
                  <a:tcPr marT="9000" marB="9000" anchor="ctr"/>
                </a:tc>
                <a:tc>
                  <a:txBody>
                    <a:bodyPr/>
                    <a:lstStyle/>
                    <a:p>
                      <a:r>
                        <a:rPr sz="1200">
                          <a:solidFill>
                            <a:srgbClr val="000000"/>
                          </a:solidFill>
                        </a:rPr>
                        <a:t>GUI: right-click the last commit ▸ Amend</a:t>
                      </a:r>
                    </a:p>
                  </a:txBody>
                  <a:tcPr marT="9000" marB="9000" anchor="ctr"/>
                </a:tc>
                <a:extLst>
                  <a:ext uri="{0D108BD9-81ED-4DB2-BD59-A6C34878D82A}">
                    <a16:rowId xmlns:a16="http://schemas.microsoft.com/office/drawing/2014/main" val="10001"/>
                  </a:ext>
                </a:extLst>
              </a:tr>
              <a:tr h="292608">
                <a:tc>
                  <a:txBody>
                    <a:bodyPr/>
                    <a:lstStyle/>
                    <a:p>
                      <a:r>
                        <a:rPr sz="1200">
                          <a:solidFill>
                            <a:srgbClr val="000000"/>
                          </a:solidFill>
                        </a:rPr>
                        <a:t>Staged the wrong file</a:t>
                      </a:r>
                    </a:p>
                  </a:txBody>
                  <a:tcPr marT="9000" marB="9000" anchor="ctr"/>
                </a:tc>
                <a:tc>
                  <a:txBody>
                    <a:bodyPr/>
                    <a:lstStyle/>
                    <a:p>
                      <a:r>
                        <a:rPr sz="1200">
                          <a:solidFill>
                            <a:srgbClr val="000000"/>
                          </a:solidFill>
                          <a:latin typeface="Consolas"/>
                        </a:rPr>
                        <a:t>git restore --staged &lt;file&gt;</a:t>
                      </a:r>
                    </a:p>
                  </a:txBody>
                  <a:tcPr marT="9000" marB="9000" anchor="ctr"/>
                </a:tc>
                <a:tc>
                  <a:txBody>
                    <a:bodyPr/>
                    <a:lstStyle/>
                    <a:p>
                      <a:r>
                        <a:rPr sz="1200">
                          <a:solidFill>
                            <a:srgbClr val="000000"/>
                          </a:solidFill>
                        </a:rPr>
                        <a:t>GUI: untick it</a:t>
                      </a:r>
                    </a:p>
                  </a:txBody>
                  <a:tcPr marT="9000" marB="9000" anchor="ctr"/>
                </a:tc>
                <a:extLst>
                  <a:ext uri="{0D108BD9-81ED-4DB2-BD59-A6C34878D82A}">
                    <a16:rowId xmlns:a16="http://schemas.microsoft.com/office/drawing/2014/main" val="10002"/>
                  </a:ext>
                </a:extLst>
              </a:tr>
              <a:tr h="292608">
                <a:tc>
                  <a:txBody>
                    <a:bodyPr/>
                    <a:lstStyle/>
                    <a:p>
                      <a:r>
                        <a:rPr sz="1200">
                          <a:solidFill>
                            <a:srgbClr val="000000"/>
                          </a:solidFill>
                        </a:rPr>
                        <a:t>Throw away edits to a file</a:t>
                      </a:r>
                    </a:p>
                  </a:txBody>
                  <a:tcPr marT="9000" marB="9000" anchor="ctr"/>
                </a:tc>
                <a:tc>
                  <a:txBody>
                    <a:bodyPr/>
                    <a:lstStyle/>
                    <a:p>
                      <a:r>
                        <a:rPr sz="1200">
                          <a:solidFill>
                            <a:srgbClr val="000000"/>
                          </a:solidFill>
                          <a:latin typeface="Consolas"/>
                        </a:rPr>
                        <a:t>git restore &lt;file&gt;</a:t>
                      </a:r>
                    </a:p>
                  </a:txBody>
                  <a:tcPr marT="9000" marB="9000" anchor="ctr"/>
                </a:tc>
                <a:tc>
                  <a:txBody>
                    <a:bodyPr/>
                    <a:lstStyle/>
                    <a:p>
                      <a:r>
                        <a:rPr sz="1200">
                          <a:solidFill>
                            <a:srgbClr val="000000"/>
                          </a:solidFill>
                        </a:rPr>
                        <a:t>GUI: Discard changes. </a:t>
                      </a:r>
                      <a:r>
                        <a:rPr sz="1200" b="1">
                          <a:solidFill>
                            <a:srgbClr val="000000"/>
                          </a:solidFill>
                        </a:rPr>
                        <a:t>Not recoverable</a:t>
                      </a:r>
                    </a:p>
                  </a:txBody>
                  <a:tcPr marT="9000" marB="9000" anchor="ctr"/>
                </a:tc>
                <a:extLst>
                  <a:ext uri="{0D108BD9-81ED-4DB2-BD59-A6C34878D82A}">
                    <a16:rowId xmlns:a16="http://schemas.microsoft.com/office/drawing/2014/main" val="10003"/>
                  </a:ext>
                </a:extLst>
              </a:tr>
              <a:tr h="292608">
                <a:tc>
                  <a:txBody>
                    <a:bodyPr/>
                    <a:lstStyle/>
                    <a:p>
                      <a:r>
                        <a:rPr sz="1200">
                          <a:solidFill>
                            <a:srgbClr val="000000"/>
                          </a:solidFill>
                        </a:rPr>
                        <a:t>Undo last commit, keep the edits</a:t>
                      </a:r>
                    </a:p>
                  </a:txBody>
                  <a:tcPr marT="9000" marB="9000" anchor="ctr"/>
                </a:tc>
                <a:tc>
                  <a:txBody>
                    <a:bodyPr/>
                    <a:lstStyle/>
                    <a:p>
                      <a:r>
                        <a:rPr sz="1200">
                          <a:solidFill>
                            <a:srgbClr val="000000"/>
                          </a:solidFill>
                          <a:latin typeface="Consolas"/>
                        </a:rPr>
                        <a:t>git reset --soft HEAD~1</a:t>
                      </a:r>
                    </a:p>
                  </a:txBody>
                  <a:tcPr marT="9000" marB="9000" anchor="ctr"/>
                </a:tc>
                <a:tc>
                  <a:txBody>
                    <a:bodyPr/>
                    <a:lstStyle/>
                    <a:p>
                      <a:r>
                        <a:rPr sz="1200">
                          <a:solidFill>
                            <a:srgbClr val="000000"/>
                          </a:solidFill>
                        </a:rPr>
                        <a:t>GUI: Undo commit</a:t>
                      </a:r>
                    </a:p>
                  </a:txBody>
                  <a:tcPr marT="9000" marB="9000" anchor="ctr"/>
                </a:tc>
                <a:extLst>
                  <a:ext uri="{0D108BD9-81ED-4DB2-BD59-A6C34878D82A}">
                    <a16:rowId xmlns:a16="http://schemas.microsoft.com/office/drawing/2014/main" val="10004"/>
                  </a:ext>
                </a:extLst>
              </a:tr>
              <a:tr h="292608">
                <a:tc>
                  <a:txBody>
                    <a:bodyPr/>
                    <a:lstStyle/>
                    <a:p>
                      <a:r>
                        <a:rPr sz="1200">
                          <a:solidFill>
                            <a:srgbClr val="000000"/>
                          </a:solidFill>
                        </a:rPr>
                        <a:t>Undo last commit and the edits</a:t>
                      </a:r>
                    </a:p>
                  </a:txBody>
                  <a:tcPr marT="9000" marB="9000" anchor="ctr"/>
                </a:tc>
                <a:tc>
                  <a:txBody>
                    <a:bodyPr/>
                    <a:lstStyle/>
                    <a:p>
                      <a:r>
                        <a:rPr sz="1200">
                          <a:solidFill>
                            <a:srgbClr val="000000"/>
                          </a:solidFill>
                          <a:latin typeface="Consolas"/>
                        </a:rPr>
                        <a:t>git reset --hard HEAD~1</a:t>
                      </a:r>
                    </a:p>
                  </a:txBody>
                  <a:tcPr marT="9000" marB="9000" anchor="ctr"/>
                </a:tc>
                <a:tc>
                  <a:txBody>
                    <a:bodyPr/>
                    <a:lstStyle/>
                    <a:p>
                      <a:r>
                        <a:rPr sz="1200">
                          <a:solidFill>
                            <a:srgbClr val="000000"/>
                          </a:solidFill>
                        </a:rPr>
                        <a:t>Only if it was never pushed</a:t>
                      </a:r>
                    </a:p>
                  </a:txBody>
                  <a:tcPr marT="9000" marB="9000" anchor="ctr"/>
                </a:tc>
                <a:extLst>
                  <a:ext uri="{0D108BD9-81ED-4DB2-BD59-A6C34878D82A}">
                    <a16:rowId xmlns:a16="http://schemas.microsoft.com/office/drawing/2014/main" val="10005"/>
                  </a:ext>
                </a:extLst>
              </a:tr>
              <a:tr h="292608">
                <a:tc>
                  <a:txBody>
                    <a:bodyPr/>
                    <a:lstStyle/>
                    <a:p>
                      <a:r>
                        <a:rPr sz="1200">
                          <a:solidFill>
                            <a:srgbClr val="000000"/>
                          </a:solidFill>
                        </a:rPr>
                        <a:t>Already pushed — undo it</a:t>
                      </a:r>
                    </a:p>
                  </a:txBody>
                  <a:tcPr marT="9000" marB="9000" anchor="ctr"/>
                </a:tc>
                <a:tc>
                  <a:txBody>
                    <a:bodyPr/>
                    <a:lstStyle/>
                    <a:p>
                      <a:r>
                        <a:rPr sz="1200">
                          <a:solidFill>
                            <a:srgbClr val="000000"/>
                          </a:solidFill>
                          <a:latin typeface="Consolas"/>
                        </a:rPr>
                        <a:t>git revert &lt;commit&gt;</a:t>
                      </a:r>
                    </a:p>
                  </a:txBody>
                  <a:tcPr marT="9000" marB="9000" anchor="ctr"/>
                </a:tc>
                <a:tc>
                  <a:txBody>
                    <a:bodyPr/>
                    <a:lstStyle/>
                    <a:p>
                      <a:r>
                        <a:rPr sz="1200">
                          <a:solidFill>
                            <a:srgbClr val="000000"/>
                          </a:solidFill>
                        </a:rPr>
                        <a:t>Makes a new, opposite commit. Safe for others</a:t>
                      </a:r>
                    </a:p>
                  </a:txBody>
                  <a:tcPr marT="9000" marB="9000" anchor="ctr"/>
                </a:tc>
                <a:extLst>
                  <a:ext uri="{0D108BD9-81ED-4DB2-BD59-A6C34878D82A}">
                    <a16:rowId xmlns:a16="http://schemas.microsoft.com/office/drawing/2014/main" val="10006"/>
                  </a:ext>
                </a:extLst>
              </a:tr>
              <a:tr h="292608">
                <a:tc>
                  <a:txBody>
                    <a:bodyPr/>
                    <a:lstStyle/>
                    <a:p>
                      <a:r>
                        <a:rPr sz="1200">
                          <a:solidFill>
                            <a:srgbClr val="000000"/>
                          </a:solidFill>
                        </a:rPr>
                        <a:t>Just look at an old version</a:t>
                      </a:r>
                    </a:p>
                  </a:txBody>
                  <a:tcPr marT="9000" marB="9000" anchor="ctr"/>
                </a:tc>
                <a:tc>
                  <a:txBody>
                    <a:bodyPr/>
                    <a:lstStyle/>
                    <a:p>
                      <a:r>
                        <a:rPr sz="1200">
                          <a:solidFill>
                            <a:srgbClr val="000000"/>
                          </a:solidFill>
                          <a:latin typeface="Consolas"/>
                        </a:rPr>
                        <a:t>git switch --detach &lt;commit&gt;</a:t>
                      </a:r>
                    </a:p>
                  </a:txBody>
                  <a:tcPr marT="9000" marB="9000" anchor="ctr"/>
                </a:tc>
                <a:tc>
                  <a:txBody>
                    <a:bodyPr/>
                    <a:lstStyle/>
                    <a:p>
                      <a:r>
                        <a:rPr sz="1200">
                          <a:solidFill>
                            <a:srgbClr val="000000"/>
                          </a:solidFill>
                        </a:rPr>
                        <a:t>Look, do not edit</a:t>
                      </a:r>
                    </a:p>
                  </a:txBody>
                  <a:tcPr marT="9000" marB="9000" anchor="ctr"/>
                </a:tc>
                <a:extLst>
                  <a:ext uri="{0D108BD9-81ED-4DB2-BD59-A6C34878D82A}">
                    <a16:rowId xmlns:a16="http://schemas.microsoft.com/office/drawing/2014/main" val="10007"/>
                  </a:ext>
                </a:extLst>
              </a:tr>
              <a:tr h="292608">
                <a:tc>
                  <a:txBody>
                    <a:bodyPr/>
                    <a:lstStyle/>
                    <a:p>
                      <a:r>
                        <a:rPr sz="1200">
                          <a:solidFill>
                            <a:srgbClr val="000000"/>
                          </a:solidFill>
                        </a:rPr>
                        <a:t>Continue from an old commit</a:t>
                      </a:r>
                    </a:p>
                  </a:txBody>
                  <a:tcPr marT="9000" marB="9000" anchor="ctr"/>
                </a:tc>
                <a:tc>
                  <a:txBody>
                    <a:bodyPr/>
                    <a:lstStyle/>
                    <a:p>
                      <a:r>
                        <a:rPr sz="1200">
                          <a:solidFill>
                            <a:srgbClr val="000000"/>
                          </a:solidFill>
                          <a:latin typeface="Consolas"/>
                        </a:rPr>
                        <a:t>git switch -c fix &lt;commit&gt;</a:t>
                      </a:r>
                    </a:p>
                  </a:txBody>
                  <a:tcPr marT="9000" marB="9000" anchor="ctr"/>
                </a:tc>
                <a:tc>
                  <a:txBody>
                    <a:bodyPr/>
                    <a:lstStyle/>
                    <a:p>
                      <a:r>
                        <a:rPr sz="1200">
                          <a:solidFill>
                            <a:srgbClr val="000000"/>
                          </a:solidFill>
                        </a:rPr>
                        <a:t>Full working state, new branch</a:t>
                      </a:r>
                    </a:p>
                  </a:txBody>
                  <a:tcPr marT="9000" marB="9000" anchor="ctr"/>
                </a:tc>
                <a:extLst>
                  <a:ext uri="{0D108BD9-81ED-4DB2-BD59-A6C34878D82A}">
                    <a16:rowId xmlns:a16="http://schemas.microsoft.com/office/drawing/2014/main" val="10008"/>
                  </a:ext>
                </a:extLst>
              </a:tr>
              <a:tr h="292608">
                <a:tc>
                  <a:txBody>
                    <a:bodyPr/>
                    <a:lstStyle/>
                    <a:p>
                      <a:r>
                        <a:rPr sz="1200">
                          <a:solidFill>
                            <a:srgbClr val="000000"/>
                          </a:solidFill>
                        </a:rPr>
                        <a:t>“I destroyed everything”</a:t>
                      </a:r>
                    </a:p>
                  </a:txBody>
                  <a:tcPr marT="9000" marB="9000" anchor="ctr"/>
                </a:tc>
                <a:tc>
                  <a:txBody>
                    <a:bodyPr/>
                    <a:lstStyle/>
                    <a:p>
                      <a:r>
                        <a:rPr sz="1200">
                          <a:solidFill>
                            <a:srgbClr val="000000"/>
                          </a:solidFill>
                          <a:latin typeface="Consolas"/>
                        </a:rPr>
                        <a:t>git reflog</a:t>
                      </a:r>
                    </a:p>
                  </a:txBody>
                  <a:tcPr marT="9000" marB="9000" anchor="ctr"/>
                </a:tc>
                <a:tc>
                  <a:txBody>
                    <a:bodyPr/>
                    <a:lstStyle/>
                    <a:p>
                      <a:r>
                        <a:rPr sz="1200">
                          <a:solidFill>
                            <a:srgbClr val="000000"/>
                          </a:solidFill>
                        </a:rPr>
                        <a:t>Every HEAD you have had, ~90 days. Find the hash, branch to it</a:t>
                      </a:r>
                    </a:p>
                  </a:txBody>
                  <a:tcPr marT="9000" marB="9000" anchor="ctr"/>
                </a:tc>
                <a:extLst>
                  <a:ext uri="{0D108BD9-81ED-4DB2-BD59-A6C34878D82A}">
                    <a16:rowId xmlns:a16="http://schemas.microsoft.com/office/drawing/2014/main" val="10009"/>
                  </a:ext>
                </a:extLst>
              </a:tr>
              <a:tr h="292608">
                <a:tc>
                  <a:txBody>
                    <a:bodyPr/>
                    <a:lstStyle/>
                    <a:p>
                      <a:r>
                        <a:rPr sz="1200">
                          <a:solidFill>
                            <a:srgbClr val="000000"/>
                          </a:solidFill>
                        </a:rPr>
                        <a:t>Committed a huge or secret file</a:t>
                      </a:r>
                    </a:p>
                  </a:txBody>
                  <a:tcPr marT="9000" marB="9000" anchor="ctr"/>
                </a:tc>
                <a:tc>
                  <a:txBody>
                    <a:bodyPr/>
                    <a:lstStyle/>
                    <a:p>
                      <a:r>
                        <a:rPr sz="1200">
                          <a:solidFill>
                            <a:srgbClr val="000000"/>
                          </a:solidFill>
                          <a:latin typeface="Consolas"/>
                        </a:rPr>
                        <a:t>git rm --cached &lt;file&gt;</a:t>
                      </a:r>
                    </a:p>
                  </a:txBody>
                  <a:tcPr marT="9000" marB="9000" anchor="ctr"/>
                </a:tc>
                <a:tc>
                  <a:txBody>
                    <a:bodyPr/>
                    <a:lstStyle/>
                    <a:p>
                      <a:r>
                        <a:rPr sz="1200">
                          <a:solidFill>
                            <a:srgbClr val="000000"/>
                          </a:solidFill>
                        </a:rPr>
                        <a:t>Rotate the secret </a:t>
                      </a:r>
                      <a:r>
                        <a:rPr sz="1200" b="1">
                          <a:solidFill>
                            <a:srgbClr val="000000"/>
                          </a:solidFill>
                        </a:rPr>
                        <a:t>first</a:t>
                      </a:r>
                      <a:r>
                        <a:rPr sz="1200">
                          <a:solidFill>
                            <a:srgbClr val="000000"/>
                          </a:solidFill>
                        </a:rPr>
                        <a:t>, then rewrite history</a:t>
                      </a:r>
                    </a:p>
                  </a:txBody>
                  <a:tcPr marT="9000" marB="9000" anchor="ctr"/>
                </a:tc>
                <a:extLst>
                  <a:ext uri="{0D108BD9-81ED-4DB2-BD59-A6C34878D82A}">
                    <a16:rowId xmlns:a16="http://schemas.microsoft.com/office/drawing/2014/main" val="10010"/>
                  </a:ext>
                </a:extLst>
              </a:tr>
            </a:tbl>
          </a:graphicData>
        </a:graphic>
      </p:graphicFrame>
      <p:sp>
        <p:nvSpPr>
          <p:cNvPr id="4" name="TextBox 3"/>
          <p:cNvSpPr txBox="1"/>
          <p:nvPr/>
        </p:nvSpPr>
        <p:spPr>
          <a:xfrm>
            <a:off x="822960" y="5989320"/>
            <a:ext cx="10546080" cy="502920"/>
          </a:xfrm>
          <a:prstGeom prst="rect">
            <a:avLst/>
          </a:prstGeom>
          <a:noFill/>
        </p:spPr>
        <p:txBody>
          <a:bodyPr wrap="square">
            <a:spAutoFit/>
          </a:bodyPr>
          <a:lstStyle/>
          <a:p>
            <a:r>
              <a:rPr sz="1400" i="1"/>
              <a:t>The rule: anything committed can be recovered. Anything never committed cannot. That is the whole argument for committing often.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GIT: Get organized!</a:t>
            </a:r>
          </a:p>
        </p:txBody>
      </p:sp>
      <p:pic>
        <p:nvPicPr>
          <p:cNvPr id="4" name="Obrázek 3" descr="A computer screen displaying a file explorer window with the folder path 'UMICH' open. Inside the folder, there are six visible yellow folders named 'BestVersion Ever,' 'Changes,' 'FinalSubmission,' 'FinalTest,' and 'Revi.' On the left sidebar, there are various locations including Desktop, Creative Cloud Files, OneDrive, and a folder named 'flip.' To the right, there is a panel showing commit history with dates and descriptions of recent changes, including updates to README files and model creation."/>
          <p:cNvPicPr>
            <a:picLocks noChangeAspect="1"/>
          </p:cNvPicPr>
          <p:nvPr/>
        </p:nvPicPr>
        <p:blipFill>
          <a:blip r:embed="rId2"/>
          <a:stretch>
            <a:fillRect/>
          </a:stretch>
        </p:blipFill>
        <p:spPr>
          <a:xfrm>
            <a:off x="222265" y="1690688"/>
            <a:ext cx="7972425" cy="4305300"/>
          </a:xfrm>
          <a:prstGeom prst="rect">
            <a:avLst/>
          </a:prstGeom>
        </p:spPr>
      </p:pic>
      <p:pic>
        <p:nvPicPr>
          <p:cNvPr id="5" name="Obrázek 4" descr="A screenshot of a version control system interface showing commit history. It lists commits made on different dates: November 29, 2022, November 22, 2022, October 11, 2022, and October 3, 2022. Each entry includes the commit message, the author named Filip Jezek, the date of the commit, a verification badge, and a unique commit hash. The commit messages include updates to README.md files, a description of models, and an initial commit.">
            <a:extLst>
              <a:ext uri="{FF2B5EF4-FFF2-40B4-BE49-F238E27FC236}">
                <a16:creationId xmlns:a16="http://schemas.microsoft.com/office/drawing/2014/main" id="{120CD0FF-0049-215F-5F29-D6D7B84B2FF0}"/>
              </a:ext>
            </a:extLst>
          </p:cNvPr>
          <p:cNvPicPr>
            <a:picLocks noChangeAspect="1"/>
          </p:cNvPicPr>
          <p:nvPr/>
        </p:nvPicPr>
        <p:blipFill>
          <a:blip r:embed="rId3"/>
          <a:stretch>
            <a:fillRect/>
          </a:stretch>
        </p:blipFill>
        <p:spPr>
          <a:xfrm>
            <a:off x="5389322" y="1365315"/>
            <a:ext cx="6580413" cy="4956046"/>
          </a:xfrm>
          <a:prstGeom prst="rect">
            <a:avLst/>
          </a:prstGeom>
        </p:spPr>
      </p:pic>
    </p:spTree>
    <p:extLst>
      <p:ext uri="{BB962C8B-B14F-4D97-AF65-F5344CB8AC3E}">
        <p14:creationId xmlns:p14="http://schemas.microsoft.com/office/powerpoint/2010/main" val="12774959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9CF91-A9AD-5493-E9FA-CC0478FBD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90CFC5-B2C8-8C6A-8DE2-BC8BC279466B}"/>
              </a:ext>
            </a:extLst>
          </p:cNvPr>
          <p:cNvSpPr>
            <a:spLocks noGrp="1"/>
          </p:cNvSpPr>
          <p:nvPr>
            <p:ph type="title"/>
          </p:nvPr>
        </p:nvSpPr>
        <p:spPr/>
        <p:txBody>
          <a:bodyPr/>
          <a:lstStyle/>
          <a:p>
            <a:r>
              <a:rPr lang="en-US" dirty="0"/>
              <a:t>Git: Prepare for a mistake!</a:t>
            </a:r>
          </a:p>
        </p:txBody>
      </p:sp>
      <p:sp>
        <p:nvSpPr>
          <p:cNvPr id="3" name="Content Placeholder 2">
            <a:extLst>
              <a:ext uri="{FF2B5EF4-FFF2-40B4-BE49-F238E27FC236}">
                <a16:creationId xmlns:a16="http://schemas.microsoft.com/office/drawing/2014/main" id="{C1656A87-7563-9510-7E05-3124E7A43491}"/>
              </a:ext>
            </a:extLst>
          </p:cNvPr>
          <p:cNvSpPr>
            <a:spLocks noGrp="1"/>
          </p:cNvSpPr>
          <p:nvPr>
            <p:ph idx="1"/>
          </p:nvPr>
        </p:nvSpPr>
        <p:spPr/>
        <p:txBody>
          <a:bodyPr/>
          <a:lstStyle/>
          <a:p>
            <a:r>
              <a:rPr lang="en-US" dirty="0"/>
              <a:t>Made a big oops?</a:t>
            </a:r>
          </a:p>
          <a:p>
            <a:r>
              <a:rPr lang="en-US" dirty="0"/>
              <a:t>Overwrote an important file?</a:t>
            </a:r>
          </a:p>
          <a:p>
            <a:endParaRPr lang="en-US" dirty="0"/>
          </a:p>
          <a:p>
            <a:r>
              <a:rPr lang="en-US" dirty="0"/>
              <a:t>The project JUST does not run?</a:t>
            </a:r>
          </a:p>
          <a:p>
            <a:endParaRPr lang="en-US" dirty="0"/>
          </a:p>
        </p:txBody>
      </p:sp>
      <p:pic>
        <p:nvPicPr>
          <p:cNvPr id="2050" name="Picture 2" descr="A photo of two soldiers dragging a casualty across a field, captioned 'Git revert, I repeat, git revert'.">
            <a:extLst>
              <a:ext uri="{FF2B5EF4-FFF2-40B4-BE49-F238E27FC236}">
                <a16:creationId xmlns:a16="http://schemas.microsoft.com/office/drawing/2014/main" id="{F6E2A060-276B-6ABD-3629-EF53123610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7378" y="4396192"/>
            <a:ext cx="3684814" cy="235091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 meme captioned 'When reverting to your last commit is your only option', above a video still of a man holding a phone with the subtitle 'It's Rewind time.'">
            <a:extLst>
              <a:ext uri="{FF2B5EF4-FFF2-40B4-BE49-F238E27FC236}">
                <a16:creationId xmlns:a16="http://schemas.microsoft.com/office/drawing/2014/main" id="{3A25E086-D7D1-B0A7-9A5D-4036076E05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27620" y="186957"/>
            <a:ext cx="3292929" cy="375639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A still from Men in Black: two agents in dark suits and sunglasses, one holding up a neuralyzer memory-erasing device, captioned 'git reset --hard'.">
            <a:extLst>
              <a:ext uri="{FF2B5EF4-FFF2-40B4-BE49-F238E27FC236}">
                <a16:creationId xmlns:a16="http://schemas.microsoft.com/office/drawing/2014/main" id="{AF522C2A-D6EA-5257-F6BC-A78359F59A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4070442"/>
            <a:ext cx="2710543" cy="2676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61444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B68E9F8-9CB1-201A-71D8-36412B494AC7}"/>
              </a:ext>
            </a:extLst>
          </p:cNvPr>
          <p:cNvSpPr>
            <a:spLocks noGrp="1"/>
          </p:cNvSpPr>
          <p:nvPr>
            <p:ph type="title"/>
          </p:nvPr>
        </p:nvSpPr>
        <p:spPr/>
        <p:txBody>
          <a:bodyPr/>
          <a:lstStyle/>
          <a:p>
            <a:r>
              <a:rPr lang="en-US" dirty="0"/>
              <a:t>GIT: More versions of the same project</a:t>
            </a:r>
          </a:p>
        </p:txBody>
      </p:sp>
      <p:sp>
        <p:nvSpPr>
          <p:cNvPr id="3" name="Zástupný obsah 2">
            <a:extLst>
              <a:ext uri="{FF2B5EF4-FFF2-40B4-BE49-F238E27FC236}">
                <a16:creationId xmlns:a16="http://schemas.microsoft.com/office/drawing/2014/main" id="{7A4092C8-1F19-2909-93E7-F851C2B1D507}"/>
              </a:ext>
            </a:extLst>
          </p:cNvPr>
          <p:cNvSpPr>
            <a:spLocks noGrp="1"/>
          </p:cNvSpPr>
          <p:nvPr>
            <p:ph idx="1"/>
          </p:nvPr>
        </p:nvSpPr>
        <p:spPr>
          <a:xfrm>
            <a:off x="838200" y="1825625"/>
            <a:ext cx="4470918" cy="4351338"/>
          </a:xfrm>
        </p:spPr>
        <p:txBody>
          <a:bodyPr/>
          <a:lstStyle/>
          <a:p>
            <a:r>
              <a:rPr lang="en-US" dirty="0"/>
              <a:t>Hell to maintain?</a:t>
            </a:r>
          </a:p>
          <a:p>
            <a:endParaRPr lang="en-US" dirty="0"/>
          </a:p>
          <a:p>
            <a:r>
              <a:rPr lang="en-US" dirty="0"/>
              <a:t>Branches might merge back when successful, or die out</a:t>
            </a:r>
          </a:p>
        </p:txBody>
      </p:sp>
      <p:pic>
        <p:nvPicPr>
          <p:cNvPr id="1026" name="Picture 2" descr="A branching diagram with a legend for Main, Release, Develop and two Feature branches. Commits are coloured dots on parallel lanes; feature branches split off develop and merge back, and release points are tagged v0.1, v0.2 and v1.0 on the main line.">
            <a:extLst>
              <a:ext uri="{FF2B5EF4-FFF2-40B4-BE49-F238E27FC236}">
                <a16:creationId xmlns:a16="http://schemas.microsoft.com/office/drawing/2014/main" id="{269AC49E-0E73-CF5B-41A5-F5F450D1B4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9118" y="2567568"/>
            <a:ext cx="6882882" cy="42904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09967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7A14E-D8E5-47B6-1B95-38A742E919E0}"/>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C4540D29-7B19-2BA3-CD50-CC9E094B4CA5}"/>
              </a:ext>
            </a:extLst>
          </p:cNvPr>
          <p:cNvSpPr>
            <a:spLocks noGrp="1"/>
          </p:cNvSpPr>
          <p:nvPr>
            <p:ph type="title"/>
          </p:nvPr>
        </p:nvSpPr>
        <p:spPr/>
        <p:txBody>
          <a:bodyPr/>
          <a:lstStyle/>
          <a:p>
            <a:r>
              <a:rPr lang="en-US" dirty="0"/>
              <a:t>GIT: Get backed up!</a:t>
            </a:r>
          </a:p>
        </p:txBody>
      </p:sp>
      <p:pic>
        <p:nvPicPr>
          <p:cNvPr id="4" name="Picture 2" descr="A meme: a bearded man looking resigned, captioned 'Me: finishing a paper. Computer: I have decided that I want to die.'">
            <a:extLst>
              <a:ext uri="{FF2B5EF4-FFF2-40B4-BE49-F238E27FC236}">
                <a16:creationId xmlns:a16="http://schemas.microsoft.com/office/drawing/2014/main" id="{54FC8E52-E499-6B62-D1CC-DE3997BC1B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75" y="1730375"/>
            <a:ext cx="5495925" cy="47625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A cartoon boy shrugging with both palms turned up, beside the words 'I don't care'.">
            <a:extLst>
              <a:ext uri="{FF2B5EF4-FFF2-40B4-BE49-F238E27FC236}">
                <a16:creationId xmlns:a16="http://schemas.microsoft.com/office/drawing/2014/main" id="{D75BA54A-61DB-85F5-9101-8370EA7758F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7919"/>
          <a:stretch>
            <a:fillRect/>
          </a:stretch>
        </p:blipFill>
        <p:spPr bwMode="auto">
          <a:xfrm>
            <a:off x="7063919" y="1789987"/>
            <a:ext cx="4723949" cy="4245688"/>
          </a:xfrm>
          <a:prstGeom prst="rect">
            <a:avLst/>
          </a:prstGeom>
          <a:noFill/>
          <a:extLst>
            <a:ext uri="{909E8E84-426E-40DD-AFC4-6F175D3DCCD1}">
              <a14:hiddenFill xmlns:a14="http://schemas.microsoft.com/office/drawing/2010/main">
                <a:solidFill>
                  <a:srgbClr val="FFFFFF"/>
                </a:solidFill>
              </a14:hiddenFill>
            </a:ext>
          </a:extLst>
        </p:spPr>
      </p:pic>
      <p:sp>
        <p:nvSpPr>
          <p:cNvPr id="5" name="TextovéPole 4">
            <a:extLst>
              <a:ext uri="{FF2B5EF4-FFF2-40B4-BE49-F238E27FC236}">
                <a16:creationId xmlns:a16="http://schemas.microsoft.com/office/drawing/2014/main" id="{4A1D8C31-D543-205E-5B8C-91C809D6200E}"/>
              </a:ext>
            </a:extLst>
          </p:cNvPr>
          <p:cNvSpPr txBox="1"/>
          <p:nvPr/>
        </p:nvSpPr>
        <p:spPr>
          <a:xfrm>
            <a:off x="6874328" y="953274"/>
            <a:ext cx="3631941" cy="1015663"/>
          </a:xfrm>
          <a:prstGeom prst="rect">
            <a:avLst/>
          </a:prstGeom>
          <a:noFill/>
        </p:spPr>
        <p:txBody>
          <a:bodyPr wrap="square">
            <a:spAutoFit/>
          </a:bodyPr>
          <a:lstStyle/>
          <a:p>
            <a:r>
              <a:rPr lang="en-US" sz="6000" dirty="0"/>
              <a:t>GitHub: </a:t>
            </a:r>
          </a:p>
        </p:txBody>
      </p:sp>
      <p:pic>
        <p:nvPicPr>
          <p:cNvPr id="3" name="Picture 2" descr="A full-length publicity photo of the android Data from Star Trek: The Next Generation in Starfleet uniform — a visual pun on the word 'data'.">
            <a:extLst>
              <a:ext uri="{FF2B5EF4-FFF2-40B4-BE49-F238E27FC236}">
                <a16:creationId xmlns:a16="http://schemas.microsoft.com/office/drawing/2014/main" id="{5BEA36ED-21EF-36EA-4C98-168FA0485A15}"/>
              </a:ext>
            </a:extLst>
          </p:cNvPr>
          <p:cNvPicPr>
            <a:picLocks noChangeAspect="1"/>
          </p:cNvPicPr>
          <p:nvPr/>
        </p:nvPicPr>
        <p:blipFill>
          <a:blip r:embed="rId4"/>
          <a:srcRect b="58405"/>
          <a:stretch>
            <a:fillRect/>
          </a:stretch>
        </p:blipFill>
        <p:spPr>
          <a:xfrm rot="19291144">
            <a:off x="9829569" y="5159139"/>
            <a:ext cx="2806933" cy="2140975"/>
          </a:xfrm>
          <a:prstGeom prst="rect">
            <a:avLst/>
          </a:prstGeom>
        </p:spPr>
      </p:pic>
      <p:sp>
        <p:nvSpPr>
          <p:cNvPr id="6" name="TextovéPole 4">
            <a:extLst>
              <a:ext uri="{FF2B5EF4-FFF2-40B4-BE49-F238E27FC236}">
                <a16:creationId xmlns:a16="http://schemas.microsoft.com/office/drawing/2014/main" id="{BF70FD3D-DCA8-565D-061F-53A95F61043D}"/>
              </a:ext>
            </a:extLst>
          </p:cNvPr>
          <p:cNvSpPr txBox="1"/>
          <p:nvPr/>
        </p:nvSpPr>
        <p:spPr>
          <a:xfrm>
            <a:off x="6134036" y="6315892"/>
            <a:ext cx="5112523" cy="523220"/>
          </a:xfrm>
          <a:prstGeom prst="rect">
            <a:avLst/>
          </a:prstGeom>
          <a:noFill/>
        </p:spPr>
        <p:txBody>
          <a:bodyPr wrap="square">
            <a:spAutoFit/>
          </a:bodyPr>
          <a:lstStyle/>
          <a:p>
            <a:r>
              <a:rPr lang="en-US" sz="2800" dirty="0"/>
              <a:t>Do not forget about the data!</a:t>
            </a:r>
          </a:p>
        </p:txBody>
      </p:sp>
    </p:spTree>
    <p:extLst>
      <p:ext uri="{BB962C8B-B14F-4D97-AF65-F5344CB8AC3E}">
        <p14:creationId xmlns:p14="http://schemas.microsoft.com/office/powerpoint/2010/main" val="20356258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Git: </a:t>
            </a:r>
            <a:r>
              <a:rPr lang="en-US" dirty="0" err="1"/>
              <a:t>Collaborate</a:t>
            </a:r>
            <a:r>
              <a:rPr lang="en-US" dirty="0"/>
              <a:t>!</a:t>
            </a:r>
          </a:p>
        </p:txBody>
      </p:sp>
      <p:sp>
        <p:nvSpPr>
          <p:cNvPr id="3" name="Zástupný symbol pro obsah 2"/>
          <p:cNvSpPr>
            <a:spLocks noGrp="1"/>
          </p:cNvSpPr>
          <p:nvPr>
            <p:ph idx="1"/>
          </p:nvPr>
        </p:nvSpPr>
        <p:spPr>
          <a:xfrm>
            <a:off x="838200" y="4913421"/>
            <a:ext cx="10515600" cy="1263542"/>
          </a:xfrm>
        </p:spPr>
        <p:txBody>
          <a:bodyPr/>
          <a:lstStyle/>
          <a:p>
            <a:r>
              <a:rPr lang="en-US" dirty="0"/>
              <a:t>Invited collaborators</a:t>
            </a:r>
          </a:p>
          <a:p>
            <a:r>
              <a:rPr lang="en-US" dirty="0"/>
              <a:t>Pull requests from wide public</a:t>
            </a:r>
          </a:p>
        </p:txBody>
      </p:sp>
      <p:pic>
        <p:nvPicPr>
          <p:cNvPr id="6" name="Picture 2" descr="A diagram titled 'Git and GitHub' showing the fork workflow in four numbered steps: 1, clone or pull from the original repository; 2, fork the original repo into your GitHub account; 3, push from your development machine to your fork; 4, open a pull request from your fork back to the original repository.">
            <a:extLst>
              <a:ext uri="{FF2B5EF4-FFF2-40B4-BE49-F238E27FC236}">
                <a16:creationId xmlns:a16="http://schemas.microsoft.com/office/drawing/2014/main" id="{D78A3361-EDB9-CC5F-FD0F-A6D7D66E4C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6435" y="3639373"/>
            <a:ext cx="6096000" cy="3238501"/>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A commit graph with a horizontal black 'master' branch and three coloured side branches labelled 'profile-mocks', 'styleguide' and 'icon-design'. Each splits off master, collects several commits, and merges back.">
            <a:extLst>
              <a:ext uri="{FF2B5EF4-FFF2-40B4-BE49-F238E27FC236}">
                <a16:creationId xmlns:a16="http://schemas.microsoft.com/office/drawing/2014/main" id="{2B858AE8-394C-8353-CB0B-43DCEF760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07094"/>
            <a:ext cx="8284029" cy="3355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62018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B22363C-7700-B51A-9270-7B3CAEC360DF}"/>
              </a:ext>
            </a:extLst>
          </p:cNvPr>
          <p:cNvSpPr>
            <a:spLocks noGrp="1"/>
          </p:cNvSpPr>
          <p:nvPr>
            <p:ph type="title"/>
          </p:nvPr>
        </p:nvSpPr>
        <p:spPr/>
        <p:txBody>
          <a:bodyPr/>
          <a:lstStyle/>
          <a:p>
            <a:r>
              <a:rPr lang="en-US" dirty="0"/>
              <a:t>Git: Make your research public</a:t>
            </a:r>
          </a:p>
        </p:txBody>
      </p:sp>
      <p:sp>
        <p:nvSpPr>
          <p:cNvPr id="3" name="Zástupný obsah 2">
            <a:extLst>
              <a:ext uri="{FF2B5EF4-FFF2-40B4-BE49-F238E27FC236}">
                <a16:creationId xmlns:a16="http://schemas.microsoft.com/office/drawing/2014/main" id="{78B3DF68-4A1F-28BA-EE9A-8027DB6A81A6}"/>
              </a:ext>
            </a:extLst>
          </p:cNvPr>
          <p:cNvSpPr>
            <a:spLocks noGrp="1"/>
          </p:cNvSpPr>
          <p:nvPr>
            <p:ph idx="1"/>
          </p:nvPr>
        </p:nvSpPr>
        <p:spPr/>
        <p:txBody>
          <a:bodyPr/>
          <a:lstStyle/>
          <a:p>
            <a:r>
              <a:rPr lang="en-US" dirty="0"/>
              <a:t>A link to GitHub would do too</a:t>
            </a:r>
          </a:p>
          <a:p>
            <a:r>
              <a:rPr lang="en-US" dirty="0"/>
              <a:t>Dedicated storage repository - </a:t>
            </a:r>
            <a:r>
              <a:rPr lang="en-US" dirty="0">
                <a:hlinkClick r:id="rId2"/>
              </a:rPr>
              <a:t>Zenodo</a:t>
            </a:r>
            <a:r>
              <a:rPr lang="en-US" dirty="0"/>
              <a:t> - pin a release</a:t>
            </a:r>
          </a:p>
        </p:txBody>
      </p:sp>
      <p:pic>
        <p:nvPicPr>
          <p:cNvPr id="5" name="Obrázek 4" descr="A screenshot of a webpage from Zenodo showing the Gene Ontology Data Archive. The page has a blue header with the Zenodo logo, a search bar, and options to upload or access communities. Below, the page title is &quot;Gene Ontology Data Archive&quot; with the date July 2, 2018. It lists a file named &quot;go-release-archive.tgz&quot; with a size of 45.4 GB and a download button. To the right, there are statistics showing 58,088 views, 7,638 downloads, and a logo for OpenAIRE.">
            <a:extLst>
              <a:ext uri="{FF2B5EF4-FFF2-40B4-BE49-F238E27FC236}">
                <a16:creationId xmlns:a16="http://schemas.microsoft.com/office/drawing/2014/main" id="{91C9FF27-940E-1126-B915-53C2F3CBD439}"/>
              </a:ext>
            </a:extLst>
          </p:cNvPr>
          <p:cNvPicPr>
            <a:picLocks noChangeAspect="1"/>
          </p:cNvPicPr>
          <p:nvPr/>
        </p:nvPicPr>
        <p:blipFill>
          <a:blip r:embed="rId3"/>
          <a:stretch>
            <a:fillRect/>
          </a:stretch>
        </p:blipFill>
        <p:spPr>
          <a:xfrm>
            <a:off x="0" y="2838800"/>
            <a:ext cx="12192000" cy="5957674"/>
          </a:xfrm>
          <a:prstGeom prst="rect">
            <a:avLst/>
          </a:prstGeom>
        </p:spPr>
      </p:pic>
    </p:spTree>
    <p:extLst>
      <p:ext uri="{BB962C8B-B14F-4D97-AF65-F5344CB8AC3E}">
        <p14:creationId xmlns:p14="http://schemas.microsoft.com/office/powerpoint/2010/main" val="3638247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dpis 3"/>
          <p:cNvSpPr>
            <a:spLocks noGrp="1"/>
          </p:cNvSpPr>
          <p:nvPr>
            <p:ph type="title"/>
          </p:nvPr>
        </p:nvSpPr>
        <p:spPr/>
        <p:txBody>
          <a:bodyPr/>
          <a:lstStyle/>
          <a:p>
            <a:r>
              <a:rPr lang="en-US" dirty="0"/>
              <a:t>Hands on</a:t>
            </a:r>
          </a:p>
        </p:txBody>
      </p:sp>
      <p:sp>
        <p:nvSpPr>
          <p:cNvPr id="5" name="Zástupný symbol pro text 4"/>
          <p:cNvSpPr>
            <a:spLocks noGrp="1"/>
          </p:cNvSpPr>
          <p:nvPr>
            <p:ph type="body" idx="1"/>
          </p:nvPr>
        </p:nvSpPr>
        <p:spPr/>
        <p:txBody>
          <a:bodyPr/>
          <a:lstStyle/>
          <a:p>
            <a:endParaRPr lang="en-US"/>
          </a:p>
        </p:txBody>
      </p:sp>
    </p:spTree>
    <p:extLst>
      <p:ext uri="{BB962C8B-B14F-4D97-AF65-F5344CB8AC3E}">
        <p14:creationId xmlns:p14="http://schemas.microsoft.com/office/powerpoint/2010/main" val="18934529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First commit, where we initialize</a:t>
            </a:r>
          </a:p>
        </p:txBody>
      </p:sp>
      <p:sp>
        <p:nvSpPr>
          <p:cNvPr id="3" name="Zástupný symbol pro obsah 2"/>
          <p:cNvSpPr>
            <a:spLocks noGrp="1"/>
          </p:cNvSpPr>
          <p:nvPr>
            <p:ph idx="1"/>
          </p:nvPr>
        </p:nvSpPr>
        <p:spPr/>
        <p:txBody>
          <a:bodyPr>
            <a:normAutofit/>
          </a:bodyPr>
          <a:lstStyle/>
          <a:p>
            <a:r>
              <a:rPr lang="en-US" dirty="0"/>
              <a:t>Initialize a new repository</a:t>
            </a:r>
          </a:p>
          <a:p>
            <a:r>
              <a:rPr lang="en-US" dirty="0"/>
              <a:t>Add a readme</a:t>
            </a:r>
            <a:r>
              <a:rPr lang="en-US" b="1" i="1" dirty="0"/>
              <a:t>.md</a:t>
            </a:r>
            <a:r>
              <a:rPr lang="en-US" dirty="0"/>
              <a:t> file, write down the “Hello world”  line</a:t>
            </a:r>
          </a:p>
          <a:p>
            <a:r>
              <a:rPr lang="en-US" dirty="0" err="1"/>
              <a:t>Git</a:t>
            </a:r>
            <a:r>
              <a:rPr lang="en-US" dirty="0"/>
              <a:t> commit</a:t>
            </a:r>
          </a:p>
          <a:p>
            <a:pPr lvl="1"/>
            <a:r>
              <a:rPr lang="en-US" dirty="0"/>
              <a:t>Staging level</a:t>
            </a:r>
          </a:p>
          <a:p>
            <a:pPr lvl="1"/>
            <a:r>
              <a:rPr lang="en-US" b="1" dirty="0"/>
              <a:t>Commit message</a:t>
            </a:r>
          </a:p>
        </p:txBody>
      </p:sp>
      <p:pic>
        <p:nvPicPr>
          <p:cNvPr id="4" name="Picture 2" descr="The three areas of a Git project: Working Directory, Staging Area and .git directory (Repository), with arrows between them labelled 'Checkout the project', 'Stage Fixes' and 'Commi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7180" y="4419126"/>
            <a:ext cx="4572720" cy="2520712"/>
          </a:xfrm>
          <a:prstGeom prst="rect">
            <a:avLst/>
          </a:prstGeom>
          <a:noFill/>
          <a:extLst>
            <a:ext uri="{909E8E84-426E-40DD-AFC4-6F175D3DCCD1}">
              <a14:hiddenFill xmlns:a14="http://schemas.microsoft.com/office/drawing/2010/main">
                <a:solidFill>
                  <a:srgbClr val="FFFFFF"/>
                </a:solidFill>
              </a14:hiddenFill>
            </a:ext>
          </a:extLst>
        </p:spPr>
      </p:pic>
      <p:sp>
        <p:nvSpPr>
          <p:cNvPr id="5" name="Obdélník 4"/>
          <p:cNvSpPr/>
          <p:nvPr/>
        </p:nvSpPr>
        <p:spPr>
          <a:xfrm>
            <a:off x="2028185" y="6534103"/>
            <a:ext cx="3290709" cy="369332"/>
          </a:xfrm>
          <a:prstGeom prst="rect">
            <a:avLst/>
          </a:prstGeom>
        </p:spPr>
        <p:txBody>
          <a:bodyPr wrap="none">
            <a:spAutoFit/>
          </a:bodyPr>
          <a:lstStyle/>
          <a:p>
            <a:r>
              <a:rPr lang="en-US" dirty="0">
                <a:hlinkClick r:id="rId3"/>
              </a:rPr>
              <a:t>Pro Git book (free online)</a:t>
            </a:r>
            <a:r>
              <a:rPr lang="en-US" dirty="0"/>
              <a:t> </a:t>
            </a:r>
          </a:p>
        </p:txBody>
      </p:sp>
      <p:pic>
        <p:nvPicPr>
          <p:cNvPr id="7" name="Picture 6" descr="GitHub Desktop's 'Create a new repository' dialog. Name is GitIntro, Local path is C:\home\git, 'Initialize this repository with a README' is ticked, and both Git ignore and License are set to None.">
            <a:extLst>
              <a:ext uri="{FF2B5EF4-FFF2-40B4-BE49-F238E27FC236}">
                <a16:creationId xmlns:a16="http://schemas.microsoft.com/office/drawing/2014/main" id="{1B3C681F-1670-1ED7-4B9D-E96E88D0C076}"/>
              </a:ext>
            </a:extLst>
          </p:cNvPr>
          <p:cNvPicPr>
            <a:picLocks noChangeAspect="1"/>
          </p:cNvPicPr>
          <p:nvPr/>
        </p:nvPicPr>
        <p:blipFill>
          <a:blip r:embed="rId4"/>
          <a:stretch>
            <a:fillRect/>
          </a:stretch>
        </p:blipFill>
        <p:spPr>
          <a:xfrm>
            <a:off x="8939150" y="2955561"/>
            <a:ext cx="3252850" cy="3602840"/>
          </a:xfrm>
          <a:prstGeom prst="rect">
            <a:avLst/>
          </a:prstGeom>
        </p:spPr>
      </p:pic>
    </p:spTree>
    <p:extLst>
      <p:ext uri="{BB962C8B-B14F-4D97-AF65-F5344CB8AC3E}">
        <p14:creationId xmlns:p14="http://schemas.microsoft.com/office/powerpoint/2010/main" val="16761183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Second commit, where we extend and ignore</a:t>
            </a:r>
          </a:p>
        </p:txBody>
      </p:sp>
      <p:sp>
        <p:nvSpPr>
          <p:cNvPr id="3" name="Zástupný symbol pro obsah 2"/>
          <p:cNvSpPr>
            <a:spLocks noGrp="1"/>
          </p:cNvSpPr>
          <p:nvPr>
            <p:ph idx="1"/>
          </p:nvPr>
        </p:nvSpPr>
        <p:spPr/>
        <p:txBody>
          <a:bodyPr>
            <a:normAutofit/>
          </a:bodyPr>
          <a:lstStyle/>
          <a:p>
            <a:r>
              <a:rPr lang="en-US" dirty="0"/>
              <a:t>Add a line to the readme.md below the hello world:</a:t>
            </a:r>
            <a:br>
              <a:rPr lang="en-US" dirty="0"/>
            </a:br>
            <a:r>
              <a:rPr lang="en-US" dirty="0"/>
              <a:t>“This is our testing repository”</a:t>
            </a:r>
          </a:p>
          <a:p>
            <a:r>
              <a:rPr lang="en-US" dirty="0"/>
              <a:t>Add </a:t>
            </a:r>
            <a:r>
              <a:rPr lang="en-US" b="1" dirty="0"/>
              <a:t>data/topsecretfile.md</a:t>
            </a:r>
          </a:p>
          <a:p>
            <a:r>
              <a:rPr lang="en-US" dirty="0"/>
              <a:t>Add </a:t>
            </a:r>
            <a:r>
              <a:rPr lang="en-US" b="1" dirty="0" err="1"/>
              <a:t>generatedfile.mat</a:t>
            </a:r>
            <a:endParaRPr lang="en-US" b="1" dirty="0"/>
          </a:p>
          <a:p>
            <a:r>
              <a:rPr lang="en-US" dirty="0"/>
              <a:t>Add .</a:t>
            </a:r>
            <a:r>
              <a:rPr lang="en-US" dirty="0" err="1"/>
              <a:t>gitignore</a:t>
            </a:r>
            <a:r>
              <a:rPr lang="en-US" dirty="0"/>
              <a:t> file</a:t>
            </a:r>
          </a:p>
          <a:p>
            <a:pPr lvl="1"/>
            <a:r>
              <a:rPr lang="en-US" dirty="0"/>
              <a:t>Data/</a:t>
            </a:r>
          </a:p>
          <a:p>
            <a:pPr lvl="1"/>
            <a:r>
              <a:rPr lang="en-US" dirty="0"/>
              <a:t>*.mat</a:t>
            </a:r>
          </a:p>
          <a:p>
            <a:r>
              <a:rPr lang="en-US" dirty="0"/>
              <a:t>Commit</a:t>
            </a:r>
          </a:p>
          <a:p>
            <a:r>
              <a:rPr lang="en-US" dirty="0"/>
              <a:t>Push (publish)</a:t>
            </a:r>
          </a:p>
        </p:txBody>
      </p:sp>
      <p:pic>
        <p:nvPicPr>
          <p:cNvPr id="4" name="Obrázek 3" descr="A parody fire-safety sign with four red panels reading 'In case of fire', 'Git.Commit', 'Git.Push', 'Exit building', each with a pictogram."/>
          <p:cNvPicPr>
            <a:picLocks noChangeAspect="1"/>
          </p:cNvPicPr>
          <p:nvPr/>
        </p:nvPicPr>
        <p:blipFill>
          <a:blip r:embed="rId2"/>
          <a:stretch>
            <a:fillRect/>
          </a:stretch>
        </p:blipFill>
        <p:spPr>
          <a:xfrm>
            <a:off x="8985822" y="2357437"/>
            <a:ext cx="3206178" cy="4500563"/>
          </a:xfrm>
          <a:prstGeom prst="rect">
            <a:avLst/>
          </a:prstGeom>
        </p:spPr>
      </p:pic>
    </p:spTree>
    <p:extLst>
      <p:ext uri="{BB962C8B-B14F-4D97-AF65-F5344CB8AC3E}">
        <p14:creationId xmlns:p14="http://schemas.microsoft.com/office/powerpoint/2010/main" val="11338553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dpis 3"/>
          <p:cNvSpPr>
            <a:spLocks noGrp="1"/>
          </p:cNvSpPr>
          <p:nvPr>
            <p:ph type="title"/>
          </p:nvPr>
        </p:nvSpPr>
        <p:spPr/>
        <p:txBody>
          <a:bodyPr/>
          <a:lstStyle/>
          <a:p>
            <a:r>
              <a:rPr lang="en-US" dirty="0"/>
              <a:t>.</a:t>
            </a:r>
            <a:r>
              <a:rPr lang="en-US" dirty="0" err="1"/>
              <a:t>gitignore</a:t>
            </a:r>
            <a:endParaRPr lang="en-US" dirty="0"/>
          </a:p>
        </p:txBody>
      </p:sp>
      <p:pic>
        <p:nvPicPr>
          <p:cNvPr id="1030" name="Picture 6" descr="A yellow triangular warning sign with a black exclamation mark.">
            <a:extLst>
              <a:ext uri="{FF2B5EF4-FFF2-40B4-BE49-F238E27FC236}">
                <a16:creationId xmlns:a16="http://schemas.microsoft.com/office/drawing/2014/main" id="{DA246BDB-2223-6A0A-7DC8-F8E66FD77E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7789" y="315912"/>
            <a:ext cx="3019425" cy="3019425"/>
          </a:xfrm>
          <a:prstGeom prst="rect">
            <a:avLst/>
          </a:prstGeom>
          <a:noFill/>
          <a:extLst>
            <a:ext uri="{909E8E84-426E-40DD-AFC4-6F175D3DCCD1}">
              <a14:hiddenFill xmlns:a14="http://schemas.microsoft.com/office/drawing/2010/main">
                <a:solidFill>
                  <a:srgbClr val="FFFFFF"/>
                </a:solidFill>
              </a14:hiddenFill>
            </a:ext>
          </a:extLst>
        </p:spPr>
      </p:pic>
      <p:sp>
        <p:nvSpPr>
          <p:cNvPr id="5" name="Zástupný symbol pro obsah 4"/>
          <p:cNvSpPr>
            <a:spLocks noGrp="1"/>
          </p:cNvSpPr>
          <p:nvPr>
            <p:ph sz="half" idx="1"/>
          </p:nvPr>
        </p:nvSpPr>
        <p:spPr/>
        <p:txBody>
          <a:bodyPr>
            <a:normAutofit fontScale="92500" lnSpcReduction="20000"/>
          </a:bodyPr>
          <a:lstStyle/>
          <a:p>
            <a:r>
              <a:rPr lang="en-US" dirty="0"/>
              <a:t>Commit only the sources, </a:t>
            </a:r>
            <a:br>
              <a:rPr lang="en-US" dirty="0"/>
            </a:br>
            <a:r>
              <a:rPr lang="en-US" dirty="0"/>
              <a:t>not the products</a:t>
            </a:r>
          </a:p>
          <a:p>
            <a:pPr lvl="1"/>
            <a:r>
              <a:rPr lang="en-US" dirty="0"/>
              <a:t>Ignore output and intermediate files</a:t>
            </a:r>
          </a:p>
          <a:p>
            <a:pPr lvl="1"/>
            <a:r>
              <a:rPr lang="en-US" dirty="0"/>
              <a:t>NO secret data not to be shared</a:t>
            </a:r>
          </a:p>
          <a:p>
            <a:endParaRPr lang="en-US" dirty="0"/>
          </a:p>
          <a:p>
            <a:r>
              <a:rPr lang="en-US" b="1" dirty="0"/>
              <a:t>=&gt; Ignore staging</a:t>
            </a:r>
          </a:p>
          <a:p>
            <a:r>
              <a:rPr lang="en-US" dirty="0"/>
              <a:t>.</a:t>
            </a:r>
            <a:r>
              <a:rPr lang="en-US" dirty="0" err="1"/>
              <a:t>gitignore</a:t>
            </a:r>
            <a:endParaRPr lang="en-US" dirty="0"/>
          </a:p>
          <a:p>
            <a:pPr lvl="1"/>
            <a:r>
              <a:rPr lang="en-US" dirty="0"/>
              <a:t>A specialized file stores what should be ignored at staging</a:t>
            </a:r>
          </a:p>
          <a:p>
            <a:pPr lvl="1"/>
            <a:r>
              <a:rPr lang="en-US" dirty="0"/>
              <a:t>also versioned, can be ignored :)</a:t>
            </a:r>
          </a:p>
          <a:p>
            <a:pPr lvl="1"/>
            <a:r>
              <a:rPr lang="en-US" dirty="0"/>
              <a:t>In any folder</a:t>
            </a:r>
          </a:p>
          <a:p>
            <a:pPr lvl="1"/>
            <a:r>
              <a:rPr lang="en-US" dirty="0"/>
              <a:t>Names: topsecretfile.txt</a:t>
            </a:r>
          </a:p>
          <a:p>
            <a:pPr lvl="1"/>
            <a:r>
              <a:rPr lang="en-US" dirty="0"/>
              <a:t>Wildcards: /*.mat</a:t>
            </a:r>
          </a:p>
        </p:txBody>
      </p:sp>
      <p:sp>
        <p:nvSpPr>
          <p:cNvPr id="2" name="Content Placeholder 1">
            <a:extLst>
              <a:ext uri="{FF2B5EF4-FFF2-40B4-BE49-F238E27FC236}">
                <a16:creationId xmlns:a16="http://schemas.microsoft.com/office/drawing/2014/main" id="{64AFC9A9-802F-15B6-1E21-404506DB641D}"/>
              </a:ext>
            </a:extLst>
          </p:cNvPr>
          <p:cNvSpPr>
            <a:spLocks noGrp="1"/>
          </p:cNvSpPr>
          <p:nvPr>
            <p:ph sz="half" idx="2"/>
          </p:nvPr>
        </p:nvSpPr>
        <p:spPr>
          <a:xfrm>
            <a:off x="8289272" y="2980591"/>
            <a:ext cx="3736731" cy="3196371"/>
          </a:xfrm>
        </p:spPr>
        <p:txBody>
          <a:bodyPr>
            <a:normAutofit fontScale="92500" lnSpcReduction="20000"/>
          </a:bodyPr>
          <a:lstStyle/>
          <a:p>
            <a:pPr marL="0" indent="0" algn="ctr">
              <a:buNone/>
            </a:pPr>
            <a:r>
              <a:rPr lang="en-US" dirty="0"/>
              <a:t>IGNORED FILES LIVE ONLY IN YOUR FOLDER</a:t>
            </a:r>
          </a:p>
          <a:p>
            <a:endParaRPr lang="en-US" dirty="0"/>
          </a:p>
          <a:p>
            <a:r>
              <a:rPr lang="en-US" dirty="0"/>
              <a:t>NO DISCARD</a:t>
            </a:r>
          </a:p>
          <a:p>
            <a:r>
              <a:rPr lang="en-US" dirty="0"/>
              <a:t>NO REVERT</a:t>
            </a:r>
          </a:p>
          <a:p>
            <a:r>
              <a:rPr lang="en-US" dirty="0"/>
              <a:t>NO CONTROL ON BRANCH SWITCH</a:t>
            </a:r>
          </a:p>
          <a:p>
            <a:endParaRPr lang="en-US" dirty="0"/>
          </a:p>
          <a:p>
            <a:pPr marL="0" indent="0">
              <a:buNone/>
            </a:pPr>
            <a:endParaRPr lang="en-US" dirty="0"/>
          </a:p>
          <a:p>
            <a:endParaRPr lang="en-US" dirty="0"/>
          </a:p>
          <a:p>
            <a:endParaRPr lang="en-US" dirty="0"/>
          </a:p>
        </p:txBody>
      </p:sp>
      <p:pic>
        <p:nvPicPr>
          <p:cNvPr id="1028" name="Picture 4" descr="A red road sign showing a U-turn arrow above a panel reading 'No turning back'.">
            <a:extLst>
              <a:ext uri="{FF2B5EF4-FFF2-40B4-BE49-F238E27FC236}">
                <a16:creationId xmlns:a16="http://schemas.microsoft.com/office/drawing/2014/main" id="{5E7088EF-EFD5-ECB0-6C7A-AC6F84E8EA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4088" y="2643981"/>
            <a:ext cx="1685925" cy="2714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57330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Third commit, where we mess up</a:t>
            </a:r>
          </a:p>
        </p:txBody>
      </p:sp>
      <p:sp>
        <p:nvSpPr>
          <p:cNvPr id="3" name="Zástupný symbol pro obsah 2"/>
          <p:cNvSpPr>
            <a:spLocks noGrp="1"/>
          </p:cNvSpPr>
          <p:nvPr>
            <p:ph idx="1"/>
          </p:nvPr>
        </p:nvSpPr>
        <p:spPr>
          <a:xfrm>
            <a:off x="838200" y="1825624"/>
            <a:ext cx="5840186" cy="4860925"/>
          </a:xfrm>
        </p:spPr>
        <p:txBody>
          <a:bodyPr>
            <a:normAutofit lnSpcReduction="10000"/>
          </a:bodyPr>
          <a:lstStyle/>
          <a:p>
            <a:r>
              <a:rPr lang="en-US" dirty="0"/>
              <a:t>Delete the content of the readme.md</a:t>
            </a:r>
          </a:p>
          <a:p>
            <a:pPr lvl="1"/>
            <a:r>
              <a:rPr lang="en-US" dirty="0"/>
              <a:t>Discard changes</a:t>
            </a:r>
          </a:p>
          <a:p>
            <a:r>
              <a:rPr lang="en-US" dirty="0"/>
              <a:t>Mess up again and commit (locally)</a:t>
            </a:r>
          </a:p>
          <a:p>
            <a:pPr lvl="1"/>
            <a:r>
              <a:rPr lang="en-US" dirty="0"/>
              <a:t>Undo commit (if it was not pushed)</a:t>
            </a:r>
          </a:p>
          <a:p>
            <a:pPr lvl="2"/>
            <a:r>
              <a:rPr lang="en-US" dirty="0"/>
              <a:t>The files stay modified</a:t>
            </a:r>
          </a:p>
          <a:p>
            <a:pPr lvl="1"/>
            <a:r>
              <a:rPr lang="en-US" dirty="0"/>
              <a:t>Reset to… (if it was not pushed)</a:t>
            </a:r>
          </a:p>
          <a:p>
            <a:pPr lvl="2"/>
            <a:r>
              <a:rPr lang="en-US" dirty="0"/>
              <a:t>The files get reset too</a:t>
            </a:r>
          </a:p>
          <a:p>
            <a:r>
              <a:rPr lang="en-US" dirty="0"/>
              <a:t>After Push</a:t>
            </a:r>
          </a:p>
          <a:p>
            <a:pPr lvl="1"/>
            <a:r>
              <a:rPr lang="en-US" dirty="0"/>
              <a:t>Revert the changes (not always convenient)</a:t>
            </a:r>
          </a:p>
          <a:p>
            <a:pPr lvl="1"/>
            <a:r>
              <a:rPr lang="en-US" dirty="0"/>
              <a:t>Check out (always there)</a:t>
            </a:r>
          </a:p>
          <a:p>
            <a:pPr lvl="1"/>
            <a:r>
              <a:rPr lang="en-US" dirty="0"/>
              <a:t>Make a branch on previous commit </a:t>
            </a:r>
            <a:br>
              <a:rPr lang="en-US" dirty="0"/>
            </a:br>
            <a:r>
              <a:rPr lang="en-US" dirty="0"/>
              <a:t>(Full working state)</a:t>
            </a:r>
          </a:p>
          <a:p>
            <a:endParaRPr lang="en-US" dirty="0"/>
          </a:p>
        </p:txBody>
      </p:sp>
      <p:pic>
        <p:nvPicPr>
          <p:cNvPr id="4" name="Obrázek 3" descr="GitHub Desktop with the 'Confirm discard changes' dialog open, asking whether to discard all changes to Readme.md and noting they can be restored from the Recycle Bin. Behind it the diff shows the old lines removed in red and the line 'Oh my god..' added in green."/>
          <p:cNvPicPr>
            <a:picLocks noChangeAspect="1"/>
          </p:cNvPicPr>
          <p:nvPr/>
        </p:nvPicPr>
        <p:blipFill>
          <a:blip r:embed="rId2"/>
          <a:stretch>
            <a:fillRect/>
          </a:stretch>
        </p:blipFill>
        <p:spPr>
          <a:xfrm>
            <a:off x="6694487" y="3135086"/>
            <a:ext cx="5497513" cy="3779540"/>
          </a:xfrm>
          <a:prstGeom prst="rect">
            <a:avLst/>
          </a:prstGeom>
        </p:spPr>
      </p:pic>
    </p:spTree>
    <p:extLst>
      <p:ext uri="{BB962C8B-B14F-4D97-AF65-F5344CB8AC3E}">
        <p14:creationId xmlns:p14="http://schemas.microsoft.com/office/powerpoint/2010/main" val="34664073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GitHub knows it is you</a:t>
            </a:r>
          </a:p>
        </p:txBody>
      </p:sp>
      <p:sp>
        <p:nvSpPr>
          <p:cNvPr id="3" name="Content Placeholder 2"/>
          <p:cNvSpPr>
            <a:spLocks noGrp="1"/>
          </p:cNvSpPr>
          <p:nvPr>
            <p:ph idx="1"/>
          </p:nvPr>
        </p:nvSpPr>
        <p:spPr/>
        <p:txBody>
          <a:bodyPr wrap="square">
            <a:normAutofit/>
          </a:bodyPr>
          <a:lstStyle/>
          <a:p>
            <a:r>
              <a:rPr sz="1600"/>
              <a:t>Your GitHub </a:t>
            </a:r>
            <a:r>
              <a:rPr sz="1600" b="1"/>
              <a:t>password has not worked for git since 2021</a:t>
            </a:r>
            <a:r>
              <a:rPr sz="1600"/>
              <a:t>. Pick one of these:</a:t>
            </a:r>
          </a:p>
          <a:p>
            <a:pPr>
              <a:defRPr sz="700"/>
            </a:pPr>
            <a:endParaRPr sz="1600"/>
          </a:p>
          <a:p>
            <a:r>
              <a:rPr sz="1600" b="1"/>
              <a:t>Browser sign-in</a:t>
            </a:r>
            <a:r>
              <a:rPr sz="1600"/>
              <a:t> via GitHub Desktop or VS Code — easiest, do this first</a:t>
            </a:r>
          </a:p>
          <a:p>
            <a:r>
              <a:rPr sz="1600" b="1"/>
              <a:t>Personal Access Token (PAT)</a:t>
            </a:r>
            <a:r>
              <a:rPr sz="1600"/>
              <a:t> — a long password with a scope and an expiry, used over HTTPS</a:t>
            </a:r>
          </a:p>
          <a:p>
            <a:pPr lvl="1"/>
            <a:r>
              <a:rPr sz="1500"/>
              <a:t>Git Credential Manager stores it so you type it once</a:t>
            </a:r>
          </a:p>
          <a:p>
            <a:r>
              <a:rPr sz="1600" b="1"/>
              <a:t>SSH key</a:t>
            </a:r>
            <a:r>
              <a:rPr sz="1600"/>
              <a:t> — a key pair; the right choice on Great Lakes and for long-term use</a:t>
            </a:r>
          </a:p>
          <a:p>
            <a:pPr lvl="1"/>
            <a:r>
              <a:rPr sz="1500">
                <a:latin typeface="Consolas"/>
              </a:rPr>
              <a:t>ssh-keygen -t ed25519</a:t>
            </a:r>
            <a:r>
              <a:rPr sz="1500"/>
              <a:t> → paste the </a:t>
            </a:r>
            <a:r>
              <a:rPr sz="1500">
                <a:latin typeface="Consolas"/>
              </a:rPr>
              <a:t>.pub</a:t>
            </a:r>
            <a:r>
              <a:rPr sz="1500"/>
              <a:t> file into GitHub ▸ Settings ▸ SSH keys</a:t>
            </a:r>
          </a:p>
          <a:p>
            <a:r>
              <a:rPr sz="1600" b="1"/>
              <a:t>GitHub CLI</a:t>
            </a:r>
            <a:r>
              <a:rPr sz="1600"/>
              <a:t> — </a:t>
            </a:r>
            <a:r>
              <a:rPr sz="1600">
                <a:latin typeface="Consolas"/>
              </a:rPr>
              <a:t>gh auth login</a:t>
            </a:r>
            <a:r>
              <a:rPr sz="1600"/>
              <a:t> sets all of the above up for you</a:t>
            </a:r>
          </a:p>
          <a:p>
            <a:pPr>
              <a:defRPr sz="700"/>
            </a:pPr>
            <a:endParaRPr sz="1600"/>
          </a:p>
          <a:p>
            <a:r>
              <a:rPr sz="1600" b="1"/>
              <a:t>2FA is mandatory on GitHub.</a:t>
            </a:r>
            <a:r>
              <a:rPr sz="1600"/>
              <a:t> Set up the authenticator app now and </a:t>
            </a:r>
            <a:r>
              <a:rPr sz="1600" i="1"/>
              <a:t>save the recovery codes</a:t>
            </a:r>
            <a:r>
              <a:rPr sz="1600"/>
              <a:t>.</a:t>
            </a:r>
          </a:p>
          <a:p>
            <a:pPr>
              <a:defRPr sz="700"/>
            </a:pPr>
            <a:endParaRPr sz="1600"/>
          </a:p>
          <a:p>
            <a:r>
              <a:rPr sz="1600"/>
              <a:t>Not the same thing: </a:t>
            </a:r>
            <a:r>
              <a:rPr sz="1600">
                <a:latin typeface="Consolas"/>
              </a:rPr>
              <a:t>user.name</a:t>
            </a:r>
            <a:r>
              <a:rPr sz="1600"/>
              <a:t> / </a:t>
            </a:r>
            <a:r>
              <a:rPr sz="1600">
                <a:latin typeface="Consolas"/>
              </a:rPr>
              <a:t>user.email</a:t>
            </a:r>
            <a:r>
              <a:rPr sz="1600"/>
              <a:t> only </a:t>
            </a:r>
            <a:r>
              <a:rPr sz="1600" b="1"/>
              <a:t>label</a:t>
            </a:r>
            <a:r>
              <a:rPr sz="1600"/>
              <a:t> your commits.</a:t>
            </a:r>
          </a:p>
          <a:p>
            <a:pPr lvl="1"/>
            <a:r>
              <a:rPr sz="1500"/>
              <a:t>Use your @umich.edu address so your commits are attributed to you.</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Homework before the hands-on</a:t>
            </a:r>
          </a:p>
        </p:txBody>
      </p:sp>
      <p:sp>
        <p:nvSpPr>
          <p:cNvPr id="3" name="Content Placeholder 2"/>
          <p:cNvSpPr>
            <a:spLocks noGrp="1"/>
          </p:cNvSpPr>
          <p:nvPr>
            <p:ph idx="1"/>
          </p:nvPr>
        </p:nvSpPr>
        <p:spPr/>
        <p:txBody>
          <a:bodyPr wrap="square">
            <a:normAutofit/>
          </a:bodyPr>
          <a:lstStyle/>
          <a:p>
            <a:r>
              <a:rPr sz="1600" b="1"/>
              <a:t>1.</a:t>
            </a:r>
            <a:r>
              <a:rPr sz="1600"/>
              <a:t> Create a GitHub account — use your </a:t>
            </a:r>
            <a:r>
              <a:rPr sz="1600" b="1"/>
              <a:t>@umich.edu</a:t>
            </a:r>
            <a:r>
              <a:rPr sz="1600"/>
              <a:t> address</a:t>
            </a:r>
          </a:p>
          <a:p>
            <a:pPr lvl="1"/>
            <a:r>
              <a:rPr sz="1500"/>
              <a:t>It unlocks the Student Developer Pack; pick a username you would show an employer</a:t>
            </a:r>
          </a:p>
          <a:p>
            <a:r>
              <a:rPr sz="1600" b="1"/>
              <a:t>2.</a:t>
            </a:r>
            <a:r>
              <a:rPr sz="1600"/>
              <a:t> Turn on two-factor authentication and </a:t>
            </a:r>
            <a:r>
              <a:rPr sz="1600" b="1"/>
              <a:t>save the recovery codes</a:t>
            </a:r>
          </a:p>
          <a:p>
            <a:r>
              <a:rPr sz="1600" b="1"/>
              <a:t>3.</a:t>
            </a:r>
            <a:r>
              <a:rPr sz="1600"/>
              <a:t> Install </a:t>
            </a:r>
            <a:r>
              <a:rPr sz="1600" b="1"/>
              <a:t>GitHub Desktop</a:t>
            </a:r>
            <a:r>
              <a:rPr sz="1600"/>
              <a:t> (desktop.github.com) and sign in</a:t>
            </a:r>
          </a:p>
          <a:p>
            <a:pPr lvl="1"/>
            <a:r>
              <a:rPr sz="1500"/>
              <a:t>Check it works: File ▸ Clone repository — you should see repositories listed</a:t>
            </a:r>
          </a:p>
          <a:p>
            <a:r>
              <a:rPr sz="1600" b="1"/>
              <a:t>4.</a:t>
            </a:r>
            <a:r>
              <a:rPr sz="1600"/>
              <a:t> Recommended: install </a:t>
            </a:r>
            <a:r>
              <a:rPr sz="1600" b="1"/>
              <a:t>Git for Windows</a:t>
            </a:r>
            <a:r>
              <a:rPr sz="1600"/>
              <a:t> / check </a:t>
            </a:r>
            <a:r>
              <a:rPr sz="1600">
                <a:latin typeface="Consolas"/>
              </a:rPr>
              <a:t>git --version</a:t>
            </a:r>
            <a:r>
              <a:rPr sz="1600"/>
              <a:t> on macOS or Linux</a:t>
            </a:r>
          </a:p>
          <a:p>
            <a:r>
              <a:rPr sz="1600" b="1"/>
              <a:t>5.</a:t>
            </a:r>
            <a:r>
              <a:rPr sz="1600"/>
              <a:t> Send me your GitHub username so you get access to </a:t>
            </a:r>
            <a:r>
              <a:rPr sz="1600">
                <a:latin typeface="Consolas"/>
              </a:rPr>
              <a:t>beards-lab/Phys520</a:t>
            </a:r>
          </a:p>
          <a:p>
            <a:pPr>
              <a:defRPr sz="700"/>
            </a:pPr>
            <a:endParaRPr sz="1600">
              <a:latin typeface="Consolas"/>
            </a:endParaRPr>
          </a:p>
          <a:p>
            <a:r>
              <a:rPr sz="1600"/>
              <a:t>Bring a laptop you are allowed to install software on.</a:t>
            </a:r>
          </a:p>
          <a:p>
            <a:r>
              <a:rPr sz="1600"/>
              <a:t>Do </a:t>
            </a:r>
            <a:r>
              <a:rPr sz="1600" b="1"/>
              <a:t>not</a:t>
            </a:r>
            <a:r>
              <a:rPr sz="1600"/>
              <a:t> leave this to the morning of the session — account setup is where these sessions die.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ctrTitle"/>
          </p:nvPr>
        </p:nvSpPr>
        <p:spPr>
          <a:xfrm>
            <a:off x="-9144000" y="0"/>
            <a:ext cx="7315200" cy="914400"/>
          </a:xfrm>
        </p:spPr>
        <p:txBody>
          <a:bodyPr anchor="b"/>
          <a:lstStyle>
            <a:lvl1pPr algn="ctr">
              <a:defRPr sz="6000"/>
            </a:lvl1pPr>
          </a:lstStyle>
          <a:p>
            <a:r>
              <a:t>Get GitHub Desktop</a:t>
            </a:r>
            <a:endParaRPr lang="en-US"/>
          </a:p>
        </p:txBody>
      </p:sp>
      <p:sp>
        <p:nvSpPr>
          <p:cNvPr id="5" name="Subtitle 4">
            <a:extLst>
              <a:ext uri="{FF2B5EF4-FFF2-40B4-BE49-F238E27FC236}">
                <a16:creationId xmlns:a16="http://schemas.microsoft.com/office/drawing/2014/main" id="{ECF8AB7E-0C6D-7244-CC36-0E9A84E52A0F}"/>
              </a:ext>
            </a:extLst>
          </p:cNvPr>
          <p:cNvSpPr>
            <a:spLocks noGrp="1"/>
          </p:cNvSpPr>
          <p:nvPr>
            <p:ph type="subTitle" idx="1"/>
          </p:nvPr>
        </p:nvSpPr>
        <p:spPr/>
        <p:txBody>
          <a:bodyPr/>
          <a:lstStyle/>
          <a:p>
            <a:r>
              <a:rPr lang="en-US" sz="3200" dirty="0"/>
              <a:t>Get </a:t>
            </a:r>
            <a:r>
              <a:rPr lang="en-US" sz="3200" b="1" dirty="0"/>
              <a:t>GitHub Desktop </a:t>
            </a:r>
            <a:br>
              <a:rPr lang="en-US" dirty="0"/>
            </a:br>
            <a:r>
              <a:rPr lang="en-US" dirty="0"/>
              <a:t>(or any other git client)</a:t>
            </a:r>
          </a:p>
        </p:txBody>
      </p:sp>
      <p:pic>
        <p:nvPicPr>
          <p:cNvPr id="2052" name="Picture 4" descr="The GitHub Desktop logo: the black Octocat mark beside the words 'GitHub Desktop'.">
            <a:extLst>
              <a:ext uri="{FF2B5EF4-FFF2-40B4-BE49-F238E27FC236}">
                <a16:creationId xmlns:a16="http://schemas.microsoft.com/office/drawing/2014/main" id="{A901F4AE-9495-ABFF-FBD8-FEF25BFB61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3070" y="4560836"/>
            <a:ext cx="5622841" cy="2349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1912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2666C1-FE0D-5134-84CF-A14F5CA5F03A}"/>
              </a:ext>
            </a:extLst>
          </p:cNvPr>
          <p:cNvSpPr>
            <a:spLocks noGrp="1"/>
          </p:cNvSpPr>
          <p:nvPr>
            <p:ph type="title"/>
          </p:nvPr>
        </p:nvSpPr>
        <p:spPr>
          <a:xfrm>
            <a:off x="838200" y="2828245"/>
            <a:ext cx="10515600" cy="2852737"/>
          </a:xfrm>
        </p:spPr>
        <p:txBody>
          <a:bodyPr/>
          <a:lstStyle/>
          <a:p>
            <a:r>
              <a:rPr lang="en-US" dirty="0"/>
              <a:t>That’s it!</a:t>
            </a:r>
          </a:p>
        </p:txBody>
      </p:sp>
      <p:pic>
        <p:nvPicPr>
          <p:cNvPr id="1028" name="Picture 4" descr="The Looney Tunes closing card: concentric red and orange rings with 'That's all Folks!' written across them.">
            <a:extLst>
              <a:ext uri="{FF2B5EF4-FFF2-40B4-BE49-F238E27FC236}">
                <a16:creationId xmlns:a16="http://schemas.microsoft.com/office/drawing/2014/main" id="{99B88D19-F5C5-8782-5171-C7F0AC7C59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6708" y="768350"/>
            <a:ext cx="6018584" cy="375101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4">
            <a:extLst>
              <a:ext uri="{FF2B5EF4-FFF2-40B4-BE49-F238E27FC236}">
                <a16:creationId xmlns:a16="http://schemas.microsoft.com/office/drawing/2014/main" id="{5A22FD4B-EF4B-664F-266B-26DC541E5EF3}"/>
              </a:ext>
            </a:extLst>
          </p:cNvPr>
          <p:cNvSpPr>
            <a:spLocks noGrp="1"/>
          </p:cNvSpPr>
          <p:nvPr>
            <p:ph type="body" idx="1"/>
          </p:nvPr>
        </p:nvSpPr>
        <p:spPr>
          <a:xfrm>
            <a:off x="838200" y="5707970"/>
            <a:ext cx="10515600" cy="1500187"/>
          </a:xfrm>
        </p:spPr>
        <p:txBody>
          <a:bodyPr/>
          <a:lstStyle/>
          <a:p>
            <a:r>
              <a:rPr lang="en-US" dirty="0"/>
              <a:t>… let’s see some advanced stuff with branching next time!</a:t>
            </a:r>
          </a:p>
        </p:txBody>
      </p:sp>
    </p:spTree>
    <p:extLst>
      <p:ext uri="{BB962C8B-B14F-4D97-AF65-F5344CB8AC3E}">
        <p14:creationId xmlns:p14="http://schemas.microsoft.com/office/powerpoint/2010/main" val="549730737"/>
      </p:ext>
    </p:extLst>
  </p:cSld>
  <p:clrMapOvr>
    <a:masterClrMapping/>
  </p:clrMapOvr>
</p:sld>
</file>

<file path=ppt/theme/theme1.xml><?xml version="1.0" encoding="utf-8"?>
<a:theme xmlns:a="http://schemas.openxmlformats.org/drawingml/2006/main" name="Motiv Office">
  <a:themeElements>
    <a:clrScheme name="Kancelář">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celář">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ář">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iv Office">
  <a:themeElements>
    <a:clrScheme name="Kancelář">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celář">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ář">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25969</TotalTime>
  <Words>4571</Words>
  <Application>Microsoft Office PowerPoint</Application>
  <PresentationFormat>Widescreen</PresentationFormat>
  <Paragraphs>581</Paragraphs>
  <Slides>58</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Arial</vt:lpstr>
      <vt:lpstr>Calibri</vt:lpstr>
      <vt:lpstr>Calibri Light</vt:lpstr>
      <vt:lpstr>Consolas</vt:lpstr>
      <vt:lpstr>Motiv Office</vt:lpstr>
      <vt:lpstr>Use  Git</vt:lpstr>
      <vt:lpstr>Project organization</vt:lpstr>
      <vt:lpstr>Oh snap!</vt:lpstr>
      <vt:lpstr>Version hell</vt:lpstr>
      <vt:lpstr>No backup</vt:lpstr>
      <vt:lpstr>Collaborating nightmare</vt:lpstr>
      <vt:lpstr>Making your research „public“</vt:lpstr>
      <vt:lpstr>Version control system</vt:lpstr>
      <vt:lpstr>A need for version control systems</vt:lpstr>
      <vt:lpstr>Use Git!</vt:lpstr>
      <vt:lpstr>2005 was not the end of the story</vt:lpstr>
      <vt:lpstr>What is a Git Repository?</vt:lpstr>
      <vt:lpstr>Repository log – take me to the past and back</vt:lpstr>
      <vt:lpstr>Centralized and distributed repositories and GitHub (1 of 2)</vt:lpstr>
      <vt:lpstr>Centralized and distributed repositories and GitHub (2 of 2)</vt:lpstr>
      <vt:lpstr>Distributed repositories</vt:lpstr>
      <vt:lpstr>GitHub</vt:lpstr>
      <vt:lpstr>GitLab</vt:lpstr>
      <vt:lpstr>Process</vt:lpstr>
      <vt:lpstr>Process - stage</vt:lpstr>
      <vt:lpstr>Process – COMMIT</vt:lpstr>
      <vt:lpstr>Process – COMMIT = safe checkpoint</vt:lpstr>
      <vt:lpstr>Process – COMMIT: Summary</vt:lpstr>
      <vt:lpstr>Process - PUSH</vt:lpstr>
      <vt:lpstr>Process - PULL</vt:lpstr>
      <vt:lpstr>Branching</vt:lpstr>
      <vt:lpstr>Collaboration</vt:lpstr>
      <vt:lpstr>Pull requests</vt:lpstr>
      <vt:lpstr>Client tools</vt:lpstr>
      <vt:lpstr>GUI or command line? It is the same Git</vt:lpstr>
      <vt:lpstr>The command card</vt:lpstr>
      <vt:lpstr>What to version control?</vt:lpstr>
      <vt:lpstr>Source or product?  One question decides</vt:lpstr>
      <vt:lpstr>Your files, specifically</vt:lpstr>
      <vt:lpstr>Where does the data go?</vt:lpstr>
      <vt:lpstr>.gitignore: how to actually write one</vt:lpstr>
      <vt:lpstr>Secrets: the one thing you cannot take back</vt:lpstr>
      <vt:lpstr>Worktrees: several working copies at once</vt:lpstr>
      <vt:lpstr>Worktrees: how</vt:lpstr>
      <vt:lpstr>A repo somebody can actually reuse</vt:lpstr>
      <vt:lpstr>From repo to citable DOI (Zenodo)</vt:lpstr>
      <vt:lpstr>Git in the age of AI assistants</vt:lpstr>
      <vt:lpstr>I messed up. What now?</vt:lpstr>
      <vt:lpstr>GIT: Get organized!</vt:lpstr>
      <vt:lpstr>Git: Prepare for a mistake!</vt:lpstr>
      <vt:lpstr>GIT: More versions of the same project</vt:lpstr>
      <vt:lpstr>GIT: Get backed up!</vt:lpstr>
      <vt:lpstr>Git: Collaborate!</vt:lpstr>
      <vt:lpstr>Git: Make your research public</vt:lpstr>
      <vt:lpstr>Hands on</vt:lpstr>
      <vt:lpstr>First commit, where we initialize</vt:lpstr>
      <vt:lpstr>Second commit, where we extend and ignore</vt:lpstr>
      <vt:lpstr>.gitignore</vt:lpstr>
      <vt:lpstr>Third commit, where we mess up</vt:lpstr>
      <vt:lpstr>How GitHub knows it is you</vt:lpstr>
      <vt:lpstr>Homework before the hands-on</vt:lpstr>
      <vt:lpstr>Get GitHub Desktop</vt:lpstr>
      <vt:lpstr>That’s it!</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Git — BIOINF 520</dc:title>
  <dc:subject>Version control with Git and GitHub for computational physiology</dc:subject>
  <dc:creator>Filip Ježek</dc:creator>
  <cp:lastModifiedBy>Jezek, Filip</cp:lastModifiedBy>
  <cp:revision>99</cp:revision>
  <dcterms:created xsi:type="dcterms:W3CDTF">2021-03-24T10:47:54Z</dcterms:created>
  <dcterms:modified xsi:type="dcterms:W3CDTF">2026-09-15T07:47:20Z</dcterms:modified>
</cp:coreProperties>
</file>