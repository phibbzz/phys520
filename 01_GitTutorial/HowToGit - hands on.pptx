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85" r:id="rId2"/>
    <p:sldId id="307" r:id="rId3"/>
    <p:sldId id="356" r:id="rId61"/>
    <p:sldId id="357" r:id="rId62"/>
    <p:sldId id="358" r:id="rId63"/>
    <p:sldId id="359" r:id="rId64"/>
    <p:sldId id="360" r:id="rId65"/>
    <p:sldId id="361" r:id="rId66"/>
    <p:sldId id="362" r:id="rId67"/>
    <p:sldId id="363" r:id="rId68"/>
    <p:sldId id="296" r:id="rId17"/>
    <p:sldId id="298" r:id="rId18"/>
    <p:sldId id="294" r:id="rId19"/>
    <p:sldId id="309" r:id="rId20"/>
    <p:sldId id="297" r:id="rId21"/>
    <p:sldId id="364" r:id="rId69"/>
    <p:sldId id="344" r:id="rId22"/>
    <p:sldId id="299" r:id="rId23"/>
    <p:sldId id="316" r:id="rId26"/>
    <p:sldId id="315" r:id="rId24"/>
    <p:sldId id="318" r:id="rId27"/>
    <p:sldId id="365" r:id="rId70"/>
    <p:sldId id="366" r:id="rId71"/>
    <p:sldId id="367" r:id="rId72"/>
    <p:sldId id="343" r:id="rId25"/>
    <p:sldId id="319" r:id="rId28"/>
    <p:sldId id="368" r:id="rId73"/>
    <p:sldId id="321" r:id="rId29"/>
    <p:sldId id="345" r:id="rId30"/>
    <p:sldId id="322" r:id="rId31"/>
    <p:sldId id="320" r:id="rId32"/>
    <p:sldId id="308" r:id="rId33"/>
    <p:sldId id="342" r:id="rId34"/>
    <p:sldId id="306" r:id="rId35"/>
    <p:sldId id="310" r:id="rId36"/>
    <p:sldId id="369" r:id="rId74"/>
    <p:sldId id="370" r:id="rId75"/>
    <p:sldId id="317" r:id="rId37"/>
    <p:sldId id="312" r:id="rId38"/>
    <p:sldId id="313" r:id="rId39"/>
    <p:sldId id="314" r:id="rId40"/>
    <p:sldId id="301" r:id="rId41"/>
    <p:sldId id="350" r:id="rId42"/>
    <p:sldId id="331" r:id="rId43"/>
    <p:sldId id="326" r:id="rId44"/>
    <p:sldId id="352" r:id="rId45"/>
    <p:sldId id="324" r:id="rId46"/>
    <p:sldId id="355" r:id="rId47"/>
    <p:sldId id="328" r:id="rId48"/>
    <p:sldId id="325" r:id="rId49"/>
    <p:sldId id="329" r:id="rId50"/>
    <p:sldId id="354" r:id="rId51"/>
    <p:sldId id="330" r:id="rId52"/>
    <p:sldId id="347" r:id="rId53"/>
    <p:sldId id="341" r:id="rId54"/>
    <p:sldId id="28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5560" autoAdjust="0"/>
  </p:normalViewPr>
  <p:slideViewPr>
    <p:cSldViewPr snapToGrid="0" showGuides="1">
      <p:cViewPr varScale="1">
        <p:scale>
          <a:sx n="84" d="100"/>
          <a:sy n="84" d="100"/>
        </p:scale>
        <p:origin x="538" y="77"/>
      </p:cViewPr>
      <p:guideLst>
        <p:guide orient="horz" pos="2160"/>
        <p:guide pos="3840"/>
      </p:guideLst>
    </p:cSldViewPr>
  </p:slideViewPr>
  <p:outlineViewPr>
    <p:cViewPr>
      <p:scale>
        <a:sx n="33" d="100"/>
        <a:sy n="33" d="100"/>
      </p:scale>
      <p:origin x="0" y="-51252"/>
    </p:cViewPr>
  </p:outlin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Zástupný symbol pro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1A487A-BCAB-4FA9-93D5-0C8D3D81510A}" type="datetimeFigureOut">
              <a:rPr lang="en-GB" smtClean="0"/>
              <a:t>22/09/2025</a:t>
            </a:fld>
            <a:endParaRPr lang="en-GB"/>
          </a:p>
        </p:txBody>
      </p:sp>
      <p:sp>
        <p:nvSpPr>
          <p:cNvPr id="4" name="Zástupný symbol pro obrázek snímk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Zástupný symbol pro poznámky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6" name="Zástupný symbol pro zápatí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Zástupný symbol pro číslo snímk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06DE7-9061-4127-8135-16BB94E2A4FA}" type="slidenum">
              <a:rPr lang="en-GB" smtClean="0"/>
              <a:t>‹#›</a:t>
            </a:fld>
            <a:endParaRPr lang="en-GB"/>
          </a:p>
        </p:txBody>
      </p:sp>
    </p:spTree>
    <p:extLst>
      <p:ext uri="{BB962C8B-B14F-4D97-AF65-F5344CB8AC3E}">
        <p14:creationId xmlns:p14="http://schemas.microsoft.com/office/powerpoint/2010/main" val="3363615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one rule: anything COMMITTED can be recovered. Anything never committed cannot. That is the argument for committing often.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sells worktrees to a modelling audience: comparing two model versions numerically is a daily task, and it normally means two clones.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Inside the repo they would show up as untracked files. Next to it, e.g. Phys520/ and Phys520-main/.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them watch the file appear and disappear in the file explorer. That is the moment branches stop being abstract.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the happy path first, deliberately. The conflict later then reads as the exception it actually is, not as the normal behaviour of Git.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branch after what it does. 'main-2' tells you nothing in three weeks.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we are engineering this on purpose. In real work most merges never conflict, because people edit different 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this one slowly. Resolving is just editing a text file until it is right - there is no magic Git operation involved.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old slide said reflog was 'replaced by /network' and 'only for public repositories'. Both wrong, and it hid the single best recovery tool.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in a dry run: asking for a worktree on 'main' while standing on main fails with "'main' is already used by worktree at ...". Always put the OTHER branch in the new folder. Keep it next to the repo, never inside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line to say out loud: resolving a conflict is not a Git operation. It is you editing a file until it is right. Git only tells you where to look.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Actions to reproducibility: a repo that tests itself on every push is a repo whose figures still build in two years.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who already has a repo with a .mat file in it. Usually a few hands.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endParaRPr lang="en-GB"/>
          </a:p>
        </p:txBody>
      </p:sp>
      <p:sp>
        <p:nvSpPr>
          <p:cNvPr id="3" name="Podnadpis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036434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obsah 2"/>
          <p:cNvSpPr>
            <a:spLocks noGrp="1"/>
          </p:cNvSpPr>
          <p:nvPr>
            <p:ph idx="1"/>
          </p:nvPr>
        </p:nvSpPr>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118147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831850" y="1709738"/>
            <a:ext cx="10515600" cy="2852737"/>
          </a:xfrm>
        </p:spPr>
        <p:txBody>
          <a:bodyPr anchor="b"/>
          <a:lstStyle>
            <a:lvl1pPr>
              <a:defRPr sz="6000"/>
            </a:lvl1pPr>
          </a:lstStyle>
          <a:p>
            <a:r>
              <a:rPr lang="cs-CZ"/>
              <a:t>Kliknutím lze upravit styl.</a:t>
            </a:r>
            <a:endParaRPr lang="en-GB"/>
          </a:p>
        </p:txBody>
      </p:sp>
      <p:sp>
        <p:nvSpPr>
          <p:cNvPr id="3" name="Zástupný symbol pro tex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Upravte styly předlohy textu.</a:t>
            </a:r>
          </a:p>
        </p:txBody>
      </p:sp>
      <p:sp>
        <p:nvSpPr>
          <p:cNvPr id="4" name="Zástupný symbol pro datum 3"/>
          <p:cNvSpPr>
            <a:spLocks noGrp="1"/>
          </p:cNvSpPr>
          <p:nvPr>
            <p:ph type="dt" sz="half" idx="10"/>
          </p:nvPr>
        </p:nvSpPr>
        <p:spPr/>
        <p:txBody>
          <a:body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84958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obsah 2"/>
          <p:cNvSpPr>
            <a:spLocks noGrp="1"/>
          </p:cNvSpPr>
          <p:nvPr>
            <p:ph sz="half" idx="1"/>
          </p:nvPr>
        </p:nvSpPr>
        <p:spPr>
          <a:xfrm>
            <a:off x="838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obsah 3"/>
          <p:cNvSpPr>
            <a:spLocks noGrp="1"/>
          </p:cNvSpPr>
          <p:nvPr>
            <p:ph sz="half" idx="2"/>
          </p:nvPr>
        </p:nvSpPr>
        <p:spPr>
          <a:xfrm>
            <a:off x="6172200" y="1825625"/>
            <a:ext cx="5181600" cy="435133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5" name="Zástupný symbol pro datum 4"/>
          <p:cNvSpPr>
            <a:spLocks noGrp="1"/>
          </p:cNvSpPr>
          <p:nvPr>
            <p:ph type="dt" sz="half" idx="10"/>
          </p:nvPr>
        </p:nvSpPr>
        <p:spPr/>
        <p:txBody>
          <a:bodyPr/>
          <a:lstStyle/>
          <a:p>
            <a:fld id="{ECAF4212-6013-4BDE-BCCC-04B63E5B0D67}" type="datetimeFigureOut">
              <a:rPr lang="en-GB" smtClean="0"/>
              <a:t>22/09/2025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9935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839788" y="365125"/>
            <a:ext cx="10515600" cy="1325563"/>
          </a:xfrm>
        </p:spPr>
        <p:txBody>
          <a:bodyPr/>
          <a:lstStyle/>
          <a:p>
            <a:r>
              <a:rPr lang="cs-CZ"/>
              <a:t>Kliknutím lze upravit styl.</a:t>
            </a:r>
            <a:endParaRPr lang="en-GB"/>
          </a:p>
        </p:txBody>
      </p:sp>
      <p:sp>
        <p:nvSpPr>
          <p:cNvPr id="3" name="Zástupný symbol pro tex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4" name="Zástupný symbol pro obsah 3"/>
          <p:cNvSpPr>
            <a:spLocks noGrp="1"/>
          </p:cNvSpPr>
          <p:nvPr>
            <p:ph sz="half" idx="2"/>
          </p:nvPr>
        </p:nvSpPr>
        <p:spPr>
          <a:xfrm>
            <a:off x="839788" y="2505075"/>
            <a:ext cx="5157787"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5" name="Zástupný symbol pro tex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Upravte styly předlohy textu.</a:t>
            </a:r>
          </a:p>
        </p:txBody>
      </p:sp>
      <p:sp>
        <p:nvSpPr>
          <p:cNvPr id="6" name="Zástupný symbol pro obsah 5"/>
          <p:cNvSpPr>
            <a:spLocks noGrp="1"/>
          </p:cNvSpPr>
          <p:nvPr>
            <p:ph sz="quarter" idx="4"/>
          </p:nvPr>
        </p:nvSpPr>
        <p:spPr>
          <a:xfrm>
            <a:off x="6172200" y="2505075"/>
            <a:ext cx="5183188" cy="3684588"/>
          </a:xfrm>
        </p:spPr>
        <p:txBody>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7" name="Zástupný symbol pro datum 6"/>
          <p:cNvSpPr>
            <a:spLocks noGrp="1"/>
          </p:cNvSpPr>
          <p:nvPr>
            <p:ph type="dt" sz="half" idx="10"/>
          </p:nvPr>
        </p:nvSpPr>
        <p:spPr/>
        <p:txBody>
          <a:bodyPr/>
          <a:lstStyle/>
          <a:p>
            <a:fld id="{ECAF4212-6013-4BDE-BCCC-04B63E5B0D67}" type="datetimeFigureOut">
              <a:rPr lang="en-GB" smtClean="0"/>
              <a:t>22/09/2025</a:t>
            </a:fld>
            <a:endParaRPr lang="en-GB"/>
          </a:p>
        </p:txBody>
      </p:sp>
      <p:sp>
        <p:nvSpPr>
          <p:cNvPr id="8" name="Zástupný symbol pro zápatí 7"/>
          <p:cNvSpPr>
            <a:spLocks noGrp="1"/>
          </p:cNvSpPr>
          <p:nvPr>
            <p:ph type="ftr" sz="quarter" idx="11"/>
          </p:nvPr>
        </p:nvSpPr>
        <p:spPr/>
        <p:txBody>
          <a:bodyPr/>
          <a:lstStyle/>
          <a:p>
            <a:endParaRPr lang="en-GB"/>
          </a:p>
        </p:txBody>
      </p:sp>
      <p:sp>
        <p:nvSpPr>
          <p:cNvPr id="9" name="Zástupný symbol pro číslo snímku 8"/>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538501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datum 2"/>
          <p:cNvSpPr>
            <a:spLocks noGrp="1"/>
          </p:cNvSpPr>
          <p:nvPr>
            <p:ph type="dt" sz="half" idx="10"/>
          </p:nvPr>
        </p:nvSpPr>
        <p:spPr/>
        <p:txBody>
          <a:bodyPr/>
          <a:lstStyle/>
          <a:p>
            <a:fld id="{ECAF4212-6013-4BDE-BCCC-04B63E5B0D67}" type="datetimeFigureOut">
              <a:rPr lang="en-GB" smtClean="0"/>
              <a:t>22/09/2025</a:t>
            </a:fld>
            <a:endParaRPr lang="en-GB"/>
          </a:p>
        </p:txBody>
      </p:sp>
      <p:sp>
        <p:nvSpPr>
          <p:cNvPr id="4" name="Zástupný symbol pro zápatí 3"/>
          <p:cNvSpPr>
            <a:spLocks noGrp="1"/>
          </p:cNvSpPr>
          <p:nvPr>
            <p:ph type="ftr" sz="quarter" idx="11"/>
          </p:nvPr>
        </p:nvSpPr>
        <p:spPr/>
        <p:txBody>
          <a:bodyPr/>
          <a:lstStyle/>
          <a:p>
            <a:endParaRPr lang="en-GB"/>
          </a:p>
        </p:txBody>
      </p:sp>
      <p:sp>
        <p:nvSpPr>
          <p:cNvPr id="5" name="Zástupný symbol pro číslo snímku 4"/>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612964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p:cNvSpPr>
            <a:spLocks noGrp="1"/>
          </p:cNvSpPr>
          <p:nvPr>
            <p:ph type="dt" sz="half" idx="10"/>
          </p:nvPr>
        </p:nvSpPr>
        <p:spPr/>
        <p:txBody>
          <a:bodyPr/>
          <a:lstStyle/>
          <a:p>
            <a:fld id="{ECAF4212-6013-4BDE-BCCC-04B63E5B0D67}" type="datetimeFigureOut">
              <a:rPr lang="en-GB" smtClean="0"/>
              <a:t>22/09/2025</a:t>
            </a:fld>
            <a:endParaRPr lang="en-GB"/>
          </a:p>
        </p:txBody>
      </p:sp>
      <p:sp>
        <p:nvSpPr>
          <p:cNvPr id="3" name="Zástupný symbol pro zápatí 2"/>
          <p:cNvSpPr>
            <a:spLocks noGrp="1"/>
          </p:cNvSpPr>
          <p:nvPr>
            <p:ph type="ftr" sz="quarter" idx="11"/>
          </p:nvPr>
        </p:nvSpPr>
        <p:spPr/>
        <p:txBody>
          <a:bodyPr/>
          <a:lstStyle/>
          <a:p>
            <a:endParaRPr lang="en-GB"/>
          </a:p>
        </p:txBody>
      </p:sp>
      <p:sp>
        <p:nvSpPr>
          <p:cNvPr id="4" name="Zástupný symbol pro číslo snímku 3"/>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214132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GB"/>
          </a:p>
        </p:txBody>
      </p:sp>
      <p:sp>
        <p:nvSpPr>
          <p:cNvPr id="3" name="Zástupný symbol pro obsah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GB" smtClean="0"/>
              <a:t>22/09/2025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1946458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839788" y="457200"/>
            <a:ext cx="3932237" cy="1600200"/>
          </a:xfrm>
        </p:spPr>
        <p:txBody>
          <a:bodyPr anchor="b"/>
          <a:lstStyle>
            <a:lvl1pPr>
              <a:defRPr sz="3200"/>
            </a:lvl1pPr>
          </a:lstStyle>
          <a:p>
            <a:r>
              <a:rPr lang="cs-CZ"/>
              <a:t>Kliknutím lze upravit styl.</a:t>
            </a:r>
            <a:endParaRPr lang="en-GB"/>
          </a:p>
        </p:txBody>
      </p:sp>
      <p:sp>
        <p:nvSpPr>
          <p:cNvPr id="3" name="Zástupný symbol pro obrázek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Zástupný symbol pro tex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Upravte styly předlohy textu.</a:t>
            </a:r>
          </a:p>
        </p:txBody>
      </p:sp>
      <p:sp>
        <p:nvSpPr>
          <p:cNvPr id="5" name="Zástupný symbol pro datum 4"/>
          <p:cNvSpPr>
            <a:spLocks noGrp="1"/>
          </p:cNvSpPr>
          <p:nvPr>
            <p:ph type="dt" sz="half" idx="10"/>
          </p:nvPr>
        </p:nvSpPr>
        <p:spPr/>
        <p:txBody>
          <a:bodyPr/>
          <a:lstStyle/>
          <a:p>
            <a:fld id="{ECAF4212-6013-4BDE-BCCC-04B63E5B0D67}" type="datetimeFigureOut">
              <a:rPr lang="en-GB" smtClean="0"/>
              <a:t>22/09/2025</a:t>
            </a:fld>
            <a:endParaRPr lang="en-GB"/>
          </a:p>
        </p:txBody>
      </p:sp>
      <p:sp>
        <p:nvSpPr>
          <p:cNvPr id="6" name="Zástupný symbol pro zápatí 5"/>
          <p:cNvSpPr>
            <a:spLocks noGrp="1"/>
          </p:cNvSpPr>
          <p:nvPr>
            <p:ph type="ftr" sz="quarter" idx="11"/>
          </p:nvPr>
        </p:nvSpPr>
        <p:spPr/>
        <p:txBody>
          <a:bodyPr/>
          <a:lstStyle/>
          <a:p>
            <a:endParaRPr lang="en-GB"/>
          </a:p>
        </p:txBody>
      </p:sp>
      <p:sp>
        <p:nvSpPr>
          <p:cNvPr id="7" name="Zástupný symbol pro číslo snímku 6"/>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62105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a:t>Kliknutím lze upravit styl.</a:t>
            </a:r>
            <a:endParaRPr lang="en-GB"/>
          </a:p>
        </p:txBody>
      </p:sp>
      <p:sp>
        <p:nvSpPr>
          <p:cNvPr id="3" name="Zástupný symbol pro svislý text 2"/>
          <p:cNvSpPr>
            <a:spLocks noGrp="1"/>
          </p:cNvSpPr>
          <p:nvPr>
            <p:ph type="body" orient="vert" idx="1"/>
          </p:nvPr>
        </p:nvSpPr>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2045586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8724900" y="365125"/>
            <a:ext cx="2628900" cy="5811838"/>
          </a:xfrm>
        </p:spPr>
        <p:txBody>
          <a:bodyPr vert="eaVert"/>
          <a:lstStyle/>
          <a:p>
            <a:r>
              <a:rPr lang="cs-CZ"/>
              <a:t>Kliknutím lze upravit styl.</a:t>
            </a:r>
            <a:endParaRPr lang="en-GB"/>
          </a:p>
        </p:txBody>
      </p:sp>
      <p:sp>
        <p:nvSpPr>
          <p:cNvPr id="3" name="Zástupný symbol pro svislý text 2"/>
          <p:cNvSpPr>
            <a:spLocks noGrp="1"/>
          </p:cNvSpPr>
          <p:nvPr>
            <p:ph type="body" orient="vert" idx="1"/>
          </p:nvPr>
        </p:nvSpPr>
        <p:spPr>
          <a:xfrm>
            <a:off x="838200" y="365125"/>
            <a:ext cx="7734300" cy="5811838"/>
          </a:xfrm>
        </p:spPr>
        <p:txBody>
          <a:bodyPr vert="eaVert"/>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10"/>
          </p:nvPr>
        </p:nvSpPr>
        <p:spPr/>
        <p:txBody>
          <a:body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11"/>
          </p:nvPr>
        </p:nvSpPr>
        <p:spPr/>
        <p:txBody>
          <a:bodyPr/>
          <a:lstStyle/>
          <a:p>
            <a:endParaRPr lang="en-GB"/>
          </a:p>
        </p:txBody>
      </p:sp>
      <p:sp>
        <p:nvSpPr>
          <p:cNvPr id="6" name="Zástupný symbol pro číslo snímku 5"/>
          <p:cNvSpPr>
            <a:spLocks noGrp="1"/>
          </p:cNvSpPr>
          <p:nvPr>
            <p:ph type="sldNum" sz="quarter" idx="12"/>
          </p:nvPr>
        </p:nvSpPr>
        <p:spPr/>
        <p:txBody>
          <a:bodyPr/>
          <a:lstStyle/>
          <a:p>
            <a:fld id="{25333724-9734-45D8-98F4-49CB6251B12F}" type="slidenum">
              <a:rPr lang="en-GB" smtClean="0"/>
              <a:t>‹#›</a:t>
            </a:fld>
            <a:endParaRPr lang="en-GB"/>
          </a:p>
        </p:txBody>
      </p:sp>
    </p:spTree>
    <p:extLst>
      <p:ext uri="{BB962C8B-B14F-4D97-AF65-F5344CB8AC3E}">
        <p14:creationId xmlns:p14="http://schemas.microsoft.com/office/powerpoint/2010/main" val="32091272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nadpis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endParaRPr lang="en-GB"/>
          </a:p>
        </p:txBody>
      </p:sp>
      <p:sp>
        <p:nvSpPr>
          <p:cNvPr id="3" name="Zástupný symbol pro tex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Upravte styly předlohy textu.</a:t>
            </a:r>
          </a:p>
          <a:p>
            <a:pPr lvl="1"/>
            <a:r>
              <a:rPr lang="cs-CZ"/>
              <a:t>Druhá úroveň</a:t>
            </a:r>
          </a:p>
          <a:p>
            <a:pPr lvl="2"/>
            <a:r>
              <a:rPr lang="cs-CZ"/>
              <a:t>Třetí úroveň</a:t>
            </a:r>
          </a:p>
          <a:p>
            <a:pPr lvl="3"/>
            <a:r>
              <a:rPr lang="cs-CZ"/>
              <a:t>Čtvrtá úroveň</a:t>
            </a:r>
          </a:p>
          <a:p>
            <a:pPr lvl="4"/>
            <a:r>
              <a:rPr lang="cs-CZ"/>
              <a:t>Pátá úroveň</a:t>
            </a:r>
            <a:endParaRPr lang="en-GB"/>
          </a:p>
        </p:txBody>
      </p:sp>
      <p:sp>
        <p:nvSpPr>
          <p:cNvPr id="4" name="Zástupný symbol pro datum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AF4212-6013-4BDE-BCCC-04B63E5B0D67}" type="datetimeFigureOut">
              <a:rPr lang="en-GB" smtClean="0"/>
              <a:t>22/09/2025</a:t>
            </a:fld>
            <a:endParaRPr lang="en-GB"/>
          </a:p>
        </p:txBody>
      </p:sp>
      <p:sp>
        <p:nvSpPr>
          <p:cNvPr id="5" name="Zástupný symbol pro zápatí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Zástupný symbol pro číslo snímk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333724-9734-45D8-98F4-49CB6251B12F}" type="slidenum">
              <a:rPr lang="en-GB" smtClean="0"/>
              <a:t>‹#›</a:t>
            </a:fld>
            <a:endParaRPr lang="en-GB"/>
          </a:p>
        </p:txBody>
      </p:sp>
    </p:spTree>
    <p:extLst>
      <p:ext uri="{BB962C8B-B14F-4D97-AF65-F5344CB8AC3E}">
        <p14:creationId xmlns:p14="http://schemas.microsoft.com/office/powerpoint/2010/main" val="169809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esktop.github.com/" TargetMode="Externa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 Id="rId3" Type="http://schemas.openxmlformats.org/officeDocument/2006/relationships/hyperlink" Target="https://git-scm.com/book/en/v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jpeg"/><Relationship Id="rId3" Type="http://schemas.openxmlformats.org/officeDocument/2006/relationships/image" Target="../media/image3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 Id="rId3"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 Id="rId3" Type="http://schemas.openxmlformats.org/officeDocument/2006/relationships/image" Target="../media/image4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36.png"/><Relationship Id="rId4" Type="http://schemas.openxmlformats.org/officeDocument/2006/relationships/notesSlide" Target="../notesSlides/notesSlid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filip-jezek.github.io/"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oursera.org/learn/introduction-git-github" TargetMode="External"/><Relationship Id="rId3" Type="http://schemas.openxmlformats.org/officeDocument/2006/relationships/hyperlink" Target="https://git-scm.com/book/en/v2" TargetMode="External"/><Relationship Id="rId4" Type="http://schemas.openxmlformats.org/officeDocument/2006/relationships/hyperlink" Target="https://docs.github.com/en/desktop" TargetMode="External"/><Relationship Id="rId5" Type="http://schemas.openxmlformats.org/officeDocument/2006/relationships/hyperlink" Target="https://docs.github.com/e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conventionalcommits.org/en/v1.0.0/"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uperuser.com/questions/186857/how-do-i-edit-text-files-in-the-windows-command-prompt" TargetMode="External"/><Relationship Id="rId3" Type="http://schemas.openxmlformats.org/officeDocument/2006/relationships/hyperlink" Target="https://git-scm.com/doc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mailto:fjezek@umich.edu" TargetMode="External"/><Relationship Id="rId3" Type="http://schemas.openxmlformats.org/officeDocument/2006/relationships/image" Target="../media/image52.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1.png"/><Relationship Id="rId3" Type="http://schemas.openxmlformats.org/officeDocument/2006/relationships/image" Target="../media/imported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1.jpeg"/><Relationship Id="rId3" Type="http://schemas.openxmlformats.org/officeDocument/2006/relationships/image" Target="../media/imported2.jpeg"/><Relationship Id="rId4" Type="http://schemas.openxmlformats.org/officeDocument/2006/relationships/image" Target="../media/imported3.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4.jpeg"/><Relationship Id="rId3" Type="http://schemas.openxmlformats.org/officeDocument/2006/relationships/image" Target="../media/imported5.jpeg"/><Relationship Id="rId4" Type="http://schemas.openxmlformats.org/officeDocument/2006/relationships/image" Target="../media/imported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7.jpeg"/><Relationship Id="rId3" Type="http://schemas.openxmlformats.org/officeDocument/2006/relationships/image" Target="../media/imported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enodo.org/" TargetMode="External"/><Relationship Id="rId3" Type="http://schemas.openxmlformats.org/officeDocument/2006/relationships/image" Target="../media/imported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ported8.jpeg"/><Relationship Id="rId3" Type="http://schemas.openxmlformats.org/officeDocument/2006/relationships/image" Target="../media/imported9.jpeg"/><Relationship Id="rId4" Type="http://schemas.openxmlformats.org/officeDocument/2006/relationships/image" Target="../media/imported6.png"/><Relationship Id="rId5" Type="http://schemas.openxmlformats.org/officeDocument/2006/relationships/image" Target="../media/imported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ported8.png"/><Relationship Id="rId3" Type="http://schemas.openxmlformats.org/officeDocument/2006/relationships/image" Target="../media/imported9.png"/><Relationship Id="rId4" Type="http://schemas.openxmlformats.org/officeDocument/2006/relationships/image" Target="../media/imported10.png"/><Relationship Id="rId5" Type="http://schemas.openxmlformats.org/officeDocument/2006/relationships/image" Target="../media/imported11.png"/><Relationship Id="rId6" Type="http://schemas.openxmlformats.org/officeDocument/2006/relationships/image" Target="../media/imported12.png"/><Relationship Id="rId7" Type="http://schemas.openxmlformats.org/officeDocument/2006/relationships/image" Target="../media/imported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ported1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ctrTitle"/>
          </p:nvPr>
        </p:nvSpPr>
        <p:spPr/>
        <p:txBody>
          <a:bodyPr/>
          <a:lstStyle/>
          <a:p>
            <a:r>
              <a:rPr lang="en-US" dirty="0"/>
              <a:t>Use  </a:t>
            </a:r>
            <a:r>
              <a:rPr lang="en-US" dirty="0" err="1"/>
              <a:t>Git</a:t>
            </a:r>
            <a:endParaRPr lang="en-GB" dirty="0"/>
          </a:p>
        </p:txBody>
      </p:sp>
      <p:sp>
        <p:nvSpPr>
          <p:cNvPr id="5" name="Podnadpis 4"/>
          <p:cNvSpPr>
            <a:spLocks noGrp="1"/>
          </p:cNvSpPr>
          <p:nvPr>
            <p:ph type="subTitle" idx="1"/>
          </p:nvPr>
        </p:nvSpPr>
        <p:spPr/>
        <p:txBody>
          <a:bodyPr/>
          <a:lstStyle/>
          <a:p>
            <a:r>
              <a:rPr lang="en-US" dirty="0"/>
              <a:t>Or any other v</a:t>
            </a:r>
            <a:r>
              <a:rPr lang="cs-CZ" dirty="0" err="1"/>
              <a:t>ersion</a:t>
            </a:r>
            <a:r>
              <a:rPr lang="cs-CZ" dirty="0"/>
              <a:t> </a:t>
            </a:r>
            <a:r>
              <a:rPr lang="cs-CZ" dirty="0" err="1"/>
              <a:t>control</a:t>
            </a:r>
            <a:r>
              <a:rPr lang="cs-CZ" dirty="0"/>
              <a:t> </a:t>
            </a:r>
            <a:r>
              <a:rPr lang="cs-CZ" dirty="0" err="1"/>
              <a:t>system</a:t>
            </a:r>
            <a:endParaRPr lang="en-GB" dirty="0"/>
          </a:p>
        </p:txBody>
      </p:sp>
    </p:spTree>
    <p:extLst>
      <p:ext uri="{BB962C8B-B14F-4D97-AF65-F5344CB8AC3E}">
        <p14:creationId xmlns:p14="http://schemas.microsoft.com/office/powerpoint/2010/main" val="21487203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Got GitHub desktop?</a:t>
            </a:r>
            <a:endParaRPr lang="en-GB" dirty="0"/>
          </a:p>
        </p:txBody>
      </p:sp>
      <p:sp>
        <p:nvSpPr>
          <p:cNvPr id="3" name="Zástupný symbol pro obsah 2"/>
          <p:cNvSpPr>
            <a:spLocks noGrp="1"/>
          </p:cNvSpPr>
          <p:nvPr>
            <p:ph idx="1"/>
          </p:nvPr>
        </p:nvSpPr>
        <p:spPr>
          <a:xfrm>
            <a:off x="838199" y="1825625"/>
            <a:ext cx="5638101" cy="4351338"/>
          </a:xfrm>
        </p:spPr>
        <p:txBody>
          <a:bodyPr>
            <a:normAutofit/>
          </a:bodyPr>
          <a:lstStyle/>
          <a:p>
            <a:r>
              <a:rPr lang="en-US" dirty="0">
                <a:hlinkClick r:id="rId2"/>
              </a:rPr>
              <a:t>https://desktop.github.com/</a:t>
            </a:r>
            <a:r>
              <a:rPr lang="en-US" dirty="0"/>
              <a:t> </a:t>
            </a:r>
          </a:p>
          <a:p>
            <a:r>
              <a:rPr lang="en-US" dirty="0"/>
              <a:t>Simple and lightweight</a:t>
            </a:r>
          </a:p>
          <a:p>
            <a:r>
              <a:rPr lang="en-US" dirty="0"/>
              <a:t>Does not allow for all the </a:t>
            </a:r>
            <a:r>
              <a:rPr lang="en-US" dirty="0" err="1"/>
              <a:t>Git</a:t>
            </a:r>
            <a:r>
              <a:rPr lang="en-US" dirty="0"/>
              <a:t> complexity</a:t>
            </a:r>
          </a:p>
          <a:p>
            <a:r>
              <a:rPr lang="en-US" dirty="0"/>
              <a:t>(Or choose a client of your own)</a:t>
            </a:r>
          </a:p>
          <a:p>
            <a:endParaRPr lang="en-US" dirty="0"/>
          </a:p>
          <a:p>
            <a:r>
              <a:rPr lang="en-US" dirty="0"/>
              <a:t>Set up a GitHub account and sign in</a:t>
            </a:r>
          </a:p>
          <a:p>
            <a:endParaRPr lang="en-GB" dirty="0"/>
          </a:p>
        </p:txBody>
      </p:sp>
      <p:pic>
        <p:nvPicPr>
          <p:cNvPr id="5" name="Obrázek 4"/>
          <p:cNvPicPr>
            <a:picLocks noChangeAspect="1"/>
          </p:cNvPicPr>
          <p:nvPr/>
        </p:nvPicPr>
        <p:blipFill>
          <a:blip r:embed="rId3"/>
          <a:stretch>
            <a:fillRect/>
          </a:stretch>
        </p:blipFill>
        <p:spPr>
          <a:xfrm>
            <a:off x="6330657" y="2735685"/>
            <a:ext cx="5861343" cy="4029673"/>
          </a:xfrm>
          <a:prstGeom prst="rect">
            <a:avLst/>
          </a:prstGeom>
        </p:spPr>
      </p:pic>
    </p:spTree>
    <p:extLst>
      <p:ext uri="{BB962C8B-B14F-4D97-AF65-F5344CB8AC3E}">
        <p14:creationId xmlns:p14="http://schemas.microsoft.com/office/powerpoint/2010/main" val="36472743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Hands on</a:t>
            </a:r>
            <a:endParaRPr lang="en-GB" dirty="0"/>
          </a:p>
        </p:txBody>
      </p:sp>
      <p:sp>
        <p:nvSpPr>
          <p:cNvPr id="5" name="Zástupný symbol pro text 4"/>
          <p:cNvSpPr>
            <a:spLocks noGrp="1"/>
          </p:cNvSpPr>
          <p:nvPr>
            <p:ph type="body" idx="1"/>
          </p:nvPr>
        </p:nvSpPr>
        <p:spPr/>
        <p:txBody>
          <a:bodyPr/>
          <a:lstStyle/>
          <a:p>
            <a:endParaRPr lang="en-GB"/>
          </a:p>
        </p:txBody>
      </p:sp>
    </p:spTree>
    <p:extLst>
      <p:ext uri="{BB962C8B-B14F-4D97-AF65-F5344CB8AC3E}">
        <p14:creationId xmlns:p14="http://schemas.microsoft.com/office/powerpoint/2010/main" val="1893452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First commit, where we initialize</a:t>
            </a:r>
          </a:p>
        </p:txBody>
      </p:sp>
      <p:sp>
        <p:nvSpPr>
          <p:cNvPr id="3" name="Zástupný symbol pro obsah 2"/>
          <p:cNvSpPr>
            <a:spLocks noGrp="1"/>
          </p:cNvSpPr>
          <p:nvPr>
            <p:ph idx="1"/>
          </p:nvPr>
        </p:nvSpPr>
        <p:spPr/>
        <p:txBody>
          <a:bodyPr>
            <a:normAutofit/>
          </a:bodyPr>
          <a:lstStyle/>
          <a:p>
            <a:r>
              <a:rPr lang="en-US" dirty="0"/>
              <a:t>Initialize a new repository</a:t>
            </a:r>
          </a:p>
          <a:p>
            <a:r>
              <a:rPr lang="en-US" dirty="0"/>
              <a:t>Add a readme</a:t>
            </a:r>
            <a:r>
              <a:rPr lang="en-US" b="1" i="1" dirty="0"/>
              <a:t>.md</a:t>
            </a:r>
            <a:r>
              <a:rPr lang="en-US" dirty="0"/>
              <a:t> file, write down the “Hello world”  line</a:t>
            </a:r>
          </a:p>
          <a:p>
            <a:r>
              <a:rPr lang="en-US" dirty="0" err="1"/>
              <a:t>Git</a:t>
            </a:r>
            <a:r>
              <a:rPr lang="en-US" dirty="0"/>
              <a:t> commit</a:t>
            </a:r>
          </a:p>
          <a:p>
            <a:pPr lvl="1"/>
            <a:r>
              <a:rPr lang="en-US" dirty="0"/>
              <a:t>Staging level</a:t>
            </a:r>
          </a:p>
          <a:p>
            <a:pPr lvl="1"/>
            <a:r>
              <a:rPr lang="en-US" b="1" dirty="0"/>
              <a:t>Commit message</a:t>
            </a:r>
          </a:p>
        </p:txBody>
      </p:sp>
      <p:pic>
        <p:nvPicPr>
          <p:cNvPr id="4" name="Picture 2" descr="Working tree, staging area, and Git direc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236" y="3312092"/>
            <a:ext cx="6428763" cy="3543856"/>
          </a:xfrm>
          <a:prstGeom prst="rect">
            <a:avLst/>
          </a:prstGeom>
          <a:noFill/>
          <a:extLst>
            <a:ext uri="{909E8E84-426E-40DD-AFC4-6F175D3DCCD1}">
              <a14:hiddenFill xmlns:a14="http://schemas.microsoft.com/office/drawing/2010/main">
                <a:solidFill>
                  <a:srgbClr val="FFFFFF"/>
                </a:solidFill>
              </a14:hiddenFill>
            </a:ext>
          </a:extLst>
        </p:spPr>
      </p:pic>
      <p:sp>
        <p:nvSpPr>
          <p:cNvPr id="5" name="Obdélník 4"/>
          <p:cNvSpPr/>
          <p:nvPr/>
        </p:nvSpPr>
        <p:spPr>
          <a:xfrm>
            <a:off x="8977617" y="6570506"/>
            <a:ext cx="3290709" cy="369332"/>
          </a:xfrm>
          <a:prstGeom prst="rect">
            <a:avLst/>
          </a:prstGeom>
        </p:spPr>
        <p:txBody>
          <a:bodyPr wrap="none">
            <a:spAutoFit/>
          </a:bodyPr>
          <a:lstStyle/>
          <a:p>
            <a:r>
              <a:rPr lang="en-GB" dirty="0">
                <a:hlinkClick r:id="rId3"/>
              </a:rPr>
              <a:t>https://git-scm.com/book/en/v2</a:t>
            </a:r>
            <a:r>
              <a:rPr lang="en-GB" dirty="0"/>
              <a:t> </a:t>
            </a:r>
          </a:p>
        </p:txBody>
      </p:sp>
    </p:spTree>
    <p:extLst>
      <p:ext uri="{BB962C8B-B14F-4D97-AF65-F5344CB8AC3E}">
        <p14:creationId xmlns:p14="http://schemas.microsoft.com/office/powerpoint/2010/main" val="16761183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Second commit, where we extend and ignore</a:t>
            </a:r>
          </a:p>
        </p:txBody>
      </p:sp>
      <p:sp>
        <p:nvSpPr>
          <p:cNvPr id="3" name="Zástupný symbol pro obsah 2"/>
          <p:cNvSpPr>
            <a:spLocks noGrp="1"/>
          </p:cNvSpPr>
          <p:nvPr>
            <p:ph idx="1"/>
          </p:nvPr>
        </p:nvSpPr>
        <p:spPr/>
        <p:txBody>
          <a:bodyPr>
            <a:normAutofit/>
          </a:bodyPr>
          <a:lstStyle/>
          <a:p>
            <a:r>
              <a:rPr lang="en-US" dirty="0"/>
              <a:t>Add a line to the readme.md below the hello world:</a:t>
            </a:r>
            <a:br>
              <a:rPr lang="en-US" dirty="0"/>
            </a:br>
            <a:r>
              <a:rPr lang="en-US" dirty="0"/>
              <a:t>“This is our testing repository”</a:t>
            </a:r>
          </a:p>
          <a:p>
            <a:r>
              <a:rPr lang="en-US" dirty="0"/>
              <a:t>Add </a:t>
            </a:r>
            <a:r>
              <a:rPr lang="en-US" b="1" dirty="0"/>
              <a:t>data/topsecretfile.md</a:t>
            </a:r>
          </a:p>
          <a:p>
            <a:r>
              <a:rPr lang="en-US" dirty="0"/>
              <a:t>Add </a:t>
            </a:r>
            <a:r>
              <a:rPr lang="en-US" b="1" dirty="0" err="1"/>
              <a:t>generatedfile.mat</a:t>
            </a:r>
            <a:endParaRPr lang="en-US" b="1" dirty="0"/>
          </a:p>
          <a:p>
            <a:r>
              <a:rPr lang="en-US" dirty="0"/>
              <a:t>Add .</a:t>
            </a:r>
            <a:r>
              <a:rPr lang="en-US" dirty="0" err="1"/>
              <a:t>gitignore</a:t>
            </a:r>
            <a:r>
              <a:rPr lang="en-US" dirty="0"/>
              <a:t> file</a:t>
            </a:r>
          </a:p>
          <a:p>
            <a:pPr lvl="1"/>
            <a:r>
              <a:rPr lang="en-US" dirty="0"/>
              <a:t>Data/</a:t>
            </a:r>
          </a:p>
          <a:p>
            <a:pPr lvl="1"/>
            <a:r>
              <a:rPr lang="en-US" dirty="0"/>
              <a:t>*.mat</a:t>
            </a:r>
          </a:p>
          <a:p>
            <a:r>
              <a:rPr lang="en-US" dirty="0"/>
              <a:t>Commit</a:t>
            </a:r>
          </a:p>
          <a:p>
            <a:r>
              <a:rPr lang="en-US" dirty="0"/>
              <a:t>Push (publish)</a:t>
            </a:r>
          </a:p>
        </p:txBody>
      </p:sp>
      <p:pic>
        <p:nvPicPr>
          <p:cNvPr id="4" name="Obrázek 3"/>
          <p:cNvPicPr>
            <a:picLocks noChangeAspect="1"/>
          </p:cNvPicPr>
          <p:nvPr/>
        </p:nvPicPr>
        <p:blipFill>
          <a:blip r:embed="rId2"/>
          <a:stretch>
            <a:fillRect/>
          </a:stretch>
        </p:blipFill>
        <p:spPr>
          <a:xfrm>
            <a:off x="8985822" y="2357437"/>
            <a:ext cx="3206178" cy="4500563"/>
          </a:xfrm>
          <a:prstGeom prst="rect">
            <a:avLst/>
          </a:prstGeom>
        </p:spPr>
      </p:pic>
    </p:spTree>
    <p:extLst>
      <p:ext uri="{BB962C8B-B14F-4D97-AF65-F5344CB8AC3E}">
        <p14:creationId xmlns:p14="http://schemas.microsoft.com/office/powerpoint/2010/main" val="1133855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Order Warning Signs for Workplace Safety">
            <a:extLst>
              <a:ext uri="{FF2B5EF4-FFF2-40B4-BE49-F238E27FC236}">
                <a16:creationId xmlns:a16="http://schemas.microsoft.com/office/drawing/2014/main" id="{DA246BDB-2223-6A0A-7DC8-F8E66FD77E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0717" y="315912"/>
            <a:ext cx="3019425" cy="3019425"/>
          </a:xfrm>
          <a:prstGeom prst="rect">
            <a:avLst/>
          </a:prstGeom>
          <a:noFill/>
          <a:extLst>
            <a:ext uri="{909E8E84-426E-40DD-AFC4-6F175D3DCCD1}">
              <a14:hiddenFill xmlns:a14="http://schemas.microsoft.com/office/drawing/2010/main">
                <a:solidFill>
                  <a:srgbClr val="FFFFFF"/>
                </a:solidFill>
              </a14:hiddenFill>
            </a:ext>
          </a:extLst>
        </p:spPr>
      </p:pic>
      <p:sp>
        <p:nvSpPr>
          <p:cNvPr id="4" name="Nadpis 3"/>
          <p:cNvSpPr>
            <a:spLocks noGrp="1"/>
          </p:cNvSpPr>
          <p:nvPr>
            <p:ph type="title"/>
          </p:nvPr>
        </p:nvSpPr>
        <p:spPr/>
        <p:txBody>
          <a:bodyPr/>
          <a:lstStyle/>
          <a:p>
            <a:r>
              <a:rPr lang="en-US" dirty="0"/>
              <a:t>.</a:t>
            </a:r>
            <a:r>
              <a:rPr lang="en-US" dirty="0" err="1"/>
              <a:t>gitignore</a:t>
            </a:r>
            <a:endParaRPr lang="en-GB" dirty="0"/>
          </a:p>
        </p:txBody>
      </p:sp>
      <p:sp>
        <p:nvSpPr>
          <p:cNvPr id="5" name="Zástupný symbol pro obsah 4"/>
          <p:cNvSpPr>
            <a:spLocks noGrp="1"/>
          </p:cNvSpPr>
          <p:nvPr>
            <p:ph sz="half" idx="1"/>
          </p:nvPr>
        </p:nvSpPr>
        <p:spPr/>
        <p:txBody>
          <a:bodyPr>
            <a:normAutofit fontScale="92500" lnSpcReduction="20000"/>
          </a:bodyPr>
          <a:lstStyle/>
          <a:p>
            <a:r>
              <a:rPr lang="en-US" dirty="0"/>
              <a:t>Commit only the sources, not the products!</a:t>
            </a:r>
          </a:p>
          <a:p>
            <a:pPr lvl="1"/>
            <a:r>
              <a:rPr lang="en-US" dirty="0"/>
              <a:t>NO output and intermediate files</a:t>
            </a:r>
          </a:p>
          <a:p>
            <a:pPr lvl="1"/>
            <a:r>
              <a:rPr lang="en-US" dirty="0"/>
              <a:t>NO secret data not to be shared</a:t>
            </a:r>
          </a:p>
          <a:p>
            <a:endParaRPr lang="en-US" dirty="0"/>
          </a:p>
          <a:p>
            <a:r>
              <a:rPr lang="en-US" dirty="0"/>
              <a:t>=&gt; Ignore staging</a:t>
            </a:r>
          </a:p>
          <a:p>
            <a:r>
              <a:rPr lang="en-US" dirty="0"/>
              <a:t>.</a:t>
            </a:r>
            <a:r>
              <a:rPr lang="en-US" dirty="0" err="1"/>
              <a:t>gitignore</a:t>
            </a:r>
            <a:endParaRPr lang="en-US" dirty="0"/>
          </a:p>
          <a:p>
            <a:pPr lvl="1"/>
            <a:r>
              <a:rPr lang="en-US" dirty="0"/>
              <a:t>A specialized file stores what should be ignored at staging</a:t>
            </a:r>
          </a:p>
          <a:p>
            <a:pPr lvl="1"/>
            <a:r>
              <a:rPr lang="en-US" dirty="0"/>
              <a:t>also versioned, can be ignored :)</a:t>
            </a:r>
          </a:p>
          <a:p>
            <a:pPr lvl="1"/>
            <a:r>
              <a:rPr lang="en-US" dirty="0"/>
              <a:t>In any folder</a:t>
            </a:r>
          </a:p>
          <a:p>
            <a:pPr lvl="1"/>
            <a:r>
              <a:rPr lang="en-US" dirty="0"/>
              <a:t>Names: topsecretfile.txt</a:t>
            </a:r>
          </a:p>
          <a:p>
            <a:pPr lvl="1"/>
            <a:r>
              <a:rPr lang="en-US" dirty="0"/>
              <a:t>Wildcards: /*.mat</a:t>
            </a:r>
            <a:endParaRPr lang="en-GB" dirty="0"/>
          </a:p>
        </p:txBody>
      </p:sp>
      <p:sp>
        <p:nvSpPr>
          <p:cNvPr id="2" name="Content Placeholder 1">
            <a:extLst>
              <a:ext uri="{FF2B5EF4-FFF2-40B4-BE49-F238E27FC236}">
                <a16:creationId xmlns:a16="http://schemas.microsoft.com/office/drawing/2014/main" id="{64AFC9A9-802F-15B6-1E21-404506DB641D}"/>
              </a:ext>
            </a:extLst>
          </p:cNvPr>
          <p:cNvSpPr>
            <a:spLocks noGrp="1"/>
          </p:cNvSpPr>
          <p:nvPr>
            <p:ph sz="half" idx="2"/>
          </p:nvPr>
        </p:nvSpPr>
        <p:spPr>
          <a:xfrm>
            <a:off x="6172200" y="2980591"/>
            <a:ext cx="3736731" cy="3196371"/>
          </a:xfrm>
        </p:spPr>
        <p:txBody>
          <a:bodyPr>
            <a:normAutofit fontScale="92500" lnSpcReduction="20000"/>
          </a:bodyPr>
          <a:lstStyle/>
          <a:p>
            <a:pPr marL="0" indent="0" algn="ctr">
              <a:buNone/>
            </a:pPr>
            <a:r>
              <a:rPr lang="en-US" dirty="0"/>
              <a:t>IGNORED FILES LIVE ONLY IN YOUR FOLDER</a:t>
            </a:r>
          </a:p>
          <a:p>
            <a:endParaRPr lang="en-US" dirty="0"/>
          </a:p>
          <a:p>
            <a:r>
              <a:rPr lang="en-US" dirty="0"/>
              <a:t>NO DISCARD</a:t>
            </a:r>
          </a:p>
          <a:p>
            <a:r>
              <a:rPr lang="en-US" dirty="0"/>
              <a:t>NO REVERT</a:t>
            </a:r>
          </a:p>
          <a:p>
            <a:r>
              <a:rPr lang="en-US" dirty="0"/>
              <a:t>NO CONTROL ON BRANCH SWITCH</a:t>
            </a:r>
          </a:p>
          <a:p>
            <a:endParaRPr lang="en-US" dirty="0"/>
          </a:p>
          <a:p>
            <a:pPr marL="0" indent="0">
              <a:buNone/>
            </a:pPr>
            <a:endParaRPr lang="en-US" dirty="0"/>
          </a:p>
          <a:p>
            <a:endParaRPr lang="en-GB" dirty="0"/>
          </a:p>
          <a:p>
            <a:endParaRPr lang="en-US" dirty="0"/>
          </a:p>
        </p:txBody>
      </p:sp>
      <p:pic>
        <p:nvPicPr>
          <p:cNvPr id="1028" name="Picture 4" descr="No Turning Back Stock Photo - Alamy">
            <a:extLst>
              <a:ext uri="{FF2B5EF4-FFF2-40B4-BE49-F238E27FC236}">
                <a16:creationId xmlns:a16="http://schemas.microsoft.com/office/drawing/2014/main" id="{5E7088EF-EFD5-ECB0-6C7A-AC6F84E8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1331" y="3221463"/>
            <a:ext cx="1685925" cy="2714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57330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Third commit, where we mess up</a:t>
            </a:r>
          </a:p>
        </p:txBody>
      </p:sp>
      <p:sp>
        <p:nvSpPr>
          <p:cNvPr id="3" name="Zástupný symbol pro obsah 2"/>
          <p:cNvSpPr>
            <a:spLocks noGrp="1"/>
          </p:cNvSpPr>
          <p:nvPr>
            <p:ph idx="1"/>
          </p:nvPr>
        </p:nvSpPr>
        <p:spPr>
          <a:xfrm>
            <a:off x="838200" y="1825625"/>
            <a:ext cx="5336097" cy="4351338"/>
          </a:xfrm>
        </p:spPr>
        <p:txBody>
          <a:bodyPr>
            <a:normAutofit fontScale="85000" lnSpcReduction="10000"/>
          </a:bodyPr>
          <a:lstStyle/>
          <a:p>
            <a:r>
              <a:rPr lang="en-US" dirty="0"/>
              <a:t>Delete the content of the readme.md</a:t>
            </a:r>
          </a:p>
          <a:p>
            <a:pPr lvl="1"/>
            <a:r>
              <a:rPr lang="en-US" dirty="0"/>
              <a:t>Revert</a:t>
            </a:r>
          </a:p>
          <a:p>
            <a:r>
              <a:rPr lang="en-US" dirty="0"/>
              <a:t>Mess up again and commit</a:t>
            </a:r>
          </a:p>
          <a:p>
            <a:pPr lvl="1"/>
            <a:r>
              <a:rPr lang="en-US" dirty="0"/>
              <a:t>Undo commit (if it was not pushed)</a:t>
            </a:r>
          </a:p>
          <a:p>
            <a:pPr lvl="2"/>
            <a:r>
              <a:rPr lang="en-US" dirty="0"/>
              <a:t>The files stay modified</a:t>
            </a:r>
          </a:p>
          <a:p>
            <a:pPr lvl="1"/>
            <a:r>
              <a:rPr lang="en-US" dirty="0"/>
              <a:t>Reset to… (if it was not pushed)</a:t>
            </a:r>
          </a:p>
          <a:p>
            <a:pPr lvl="2"/>
            <a:r>
              <a:rPr lang="en-US" dirty="0"/>
              <a:t>The files get reset too</a:t>
            </a:r>
          </a:p>
          <a:p>
            <a:r>
              <a:rPr lang="en-US" dirty="0"/>
              <a:t>Push</a:t>
            </a:r>
          </a:p>
          <a:p>
            <a:pPr lvl="1"/>
            <a:r>
              <a:rPr lang="en-US" dirty="0"/>
              <a:t>Revert the commit (not always possible)</a:t>
            </a:r>
          </a:p>
          <a:p>
            <a:pPr lvl="1"/>
            <a:r>
              <a:rPr lang="en-US" dirty="0"/>
              <a:t>View file on GitHub to get previous version (always there)</a:t>
            </a:r>
          </a:p>
          <a:p>
            <a:pPr lvl="1"/>
            <a:r>
              <a:rPr lang="en-US" dirty="0"/>
              <a:t>Make a branch on previous commit (Full working state)</a:t>
            </a:r>
          </a:p>
          <a:p>
            <a:endParaRPr lang="en-GB" dirty="0"/>
          </a:p>
        </p:txBody>
      </p:sp>
      <p:pic>
        <p:nvPicPr>
          <p:cNvPr id="4" name="Obrázek 3"/>
          <p:cNvPicPr>
            <a:picLocks noChangeAspect="1"/>
          </p:cNvPicPr>
          <p:nvPr/>
        </p:nvPicPr>
        <p:blipFill>
          <a:blip r:embed="rId2"/>
          <a:stretch>
            <a:fillRect/>
          </a:stretch>
        </p:blipFill>
        <p:spPr>
          <a:xfrm>
            <a:off x="6096001" y="2723626"/>
            <a:ext cx="6096000" cy="4191000"/>
          </a:xfrm>
          <a:prstGeom prst="rect">
            <a:avLst/>
          </a:prstGeom>
        </p:spPr>
      </p:pic>
    </p:spTree>
    <p:extLst>
      <p:ext uri="{BB962C8B-B14F-4D97-AF65-F5344CB8AC3E}">
        <p14:creationId xmlns:p14="http://schemas.microsoft.com/office/powerpoint/2010/main" val="34664073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8D8189-71C8-D339-3229-652EA77C5343}"/>
              </a:ext>
            </a:extLst>
          </p:cNvPr>
          <p:cNvSpPr>
            <a:spLocks noGrp="1"/>
          </p:cNvSpPr>
          <p:nvPr>
            <p:ph type="title"/>
          </p:nvPr>
        </p:nvSpPr>
        <p:spPr/>
        <p:txBody>
          <a:bodyPr/>
          <a:lstStyle/>
          <a:p>
            <a:r>
              <a:rPr lang="en-US" dirty="0"/>
              <a:t>That’s it!</a:t>
            </a:r>
          </a:p>
        </p:txBody>
      </p:sp>
      <p:sp>
        <p:nvSpPr>
          <p:cNvPr id="5" name="Text Placeholder 4">
            <a:extLst>
              <a:ext uri="{FF2B5EF4-FFF2-40B4-BE49-F238E27FC236}">
                <a16:creationId xmlns:a16="http://schemas.microsoft.com/office/drawing/2014/main" id="{71483F7D-3080-12A8-3F0F-C1FC1428E812}"/>
              </a:ext>
            </a:extLst>
          </p:cNvPr>
          <p:cNvSpPr>
            <a:spLocks noGrp="1"/>
          </p:cNvSpPr>
          <p:nvPr>
            <p:ph type="body" idx="1"/>
          </p:nvPr>
        </p:nvSpPr>
        <p:spPr/>
        <p:txBody>
          <a:bodyPr/>
          <a:lstStyle/>
          <a:p>
            <a:r>
              <a:rPr lang="en-US" dirty="0"/>
              <a:t>… let’s see some advanced stuff with branching!</a:t>
            </a:r>
          </a:p>
        </p:txBody>
      </p:sp>
    </p:spTree>
    <p:extLst>
      <p:ext uri="{BB962C8B-B14F-4D97-AF65-F5344CB8AC3E}">
        <p14:creationId xmlns:p14="http://schemas.microsoft.com/office/powerpoint/2010/main" val="37191187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Fourth commit, where we branch</a:t>
            </a:r>
          </a:p>
        </p:txBody>
      </p:sp>
      <p:sp>
        <p:nvSpPr>
          <p:cNvPr id="3" name="Zástupný symbol pro obsah 2"/>
          <p:cNvSpPr>
            <a:spLocks noGrp="1"/>
          </p:cNvSpPr>
          <p:nvPr>
            <p:ph idx="1"/>
          </p:nvPr>
        </p:nvSpPr>
        <p:spPr/>
        <p:txBody>
          <a:bodyPr wrap="square">
            <a:normAutofit/>
          </a:bodyPr>
          <a:lstStyle/>
          <a:p>
            <a:pPr/>
            <a:r>
              <a:rPr sz="1600"/>
              <a:t>We want to add something </a:t>
            </a:r>
            <a:r>
              <a:rPr b="1" sz="1600"/>
              <a:t>without touching the working version</a:t>
            </a:r>
          </a:p>
          <a:p>
            <a:pPr>
              <a:defRPr sz="700"/>
            </a:pPr>
          </a:p>
          <a:p>
            <a:pPr/>
            <a:r>
              <a:rPr b="1" sz="1600"/>
              <a:t>Branch ▸ New branch…</a:t>
            </a:r>
            <a:r>
              <a:rPr sz="1600"/>
              <a:t> → call it </a:t>
            </a:r>
            <a:r>
              <a:rPr sz="1600">
                <a:latin typeface="Consolas"/>
              </a:rPr>
              <a:t>add-wisdom</a:t>
            </a:r>
            <a:r>
              <a:rPr sz="1600"/>
              <a:t>, based on </a:t>
            </a:r>
            <a:r>
              <a:rPr sz="1600">
                <a:latin typeface="Consolas"/>
              </a:rPr>
              <a:t>main</a:t>
            </a:r>
          </a:p>
          <a:p>
            <a:pPr/>
            <a:r>
              <a:rPr sz="1600"/>
              <a:t>Add a file </a:t>
            </a:r>
            <a:r>
              <a:rPr sz="1600">
                <a:latin typeface="Consolas"/>
              </a:rPr>
              <a:t>wisdom.md</a:t>
            </a:r>
            <a:r>
              <a:rPr sz="1600"/>
              <a:t> with one line of wisdom in it</a:t>
            </a:r>
          </a:p>
          <a:p>
            <a:pPr/>
            <a:r>
              <a:rPr sz="1600"/>
              <a:t>Commit → </a:t>
            </a:r>
            <a:r>
              <a:rPr b="1" sz="1600"/>
              <a:t>Publish branch</a:t>
            </a:r>
          </a:p>
          <a:p>
            <a:pPr>
              <a:defRPr sz="700"/>
            </a:pPr>
          </a:p>
          <a:p>
            <a:pPr/>
            <a:r>
              <a:rPr sz="1600"/>
              <a:t>The branch shown in the top bar is the one you are </a:t>
            </a:r>
            <a:r>
              <a:rPr b="1" sz="1600"/>
              <a:t>standing on</a:t>
            </a:r>
            <a:r>
              <a:rPr sz="1600"/>
              <a:t>:</a:t>
            </a:r>
          </a:p>
          <a:p>
            <a:pPr lvl="1"/>
            <a:r>
              <a:rPr sz="1500"/>
              <a:t>Switch back to </a:t>
            </a:r>
            <a:r>
              <a:rPr sz="1500">
                <a:latin typeface="Consolas"/>
              </a:rPr>
              <a:t>main</a:t>
            </a:r>
            <a:r>
              <a:rPr sz="1500"/>
              <a:t> — </a:t>
            </a:r>
            <a:r>
              <a:rPr sz="1500">
                <a:latin typeface="Consolas"/>
              </a:rPr>
              <a:t>wisdom.md</a:t>
            </a:r>
            <a:r>
              <a:rPr sz="1500"/>
              <a:t> disappears from the folder</a:t>
            </a:r>
          </a:p>
          <a:p>
            <a:pPr lvl="1"/>
            <a:r>
              <a:rPr sz="1500"/>
              <a:t>Switch to </a:t>
            </a:r>
            <a:r>
              <a:rPr sz="1500">
                <a:latin typeface="Consolas"/>
              </a:rPr>
              <a:t>add-wisdom</a:t>
            </a:r>
            <a:r>
              <a:rPr sz="1500"/>
              <a:t> — it is back</a:t>
            </a:r>
          </a:p>
          <a:p>
            <a:pPr lvl="1"/>
            <a:r>
              <a:rPr b="1" sz="1500"/>
              <a:t>The files on your disk follow the branch.</a:t>
            </a:r>
            <a:r>
              <a:rPr sz="1500"/>
              <a:t> Nothing was deleted.</a:t>
            </a:r>
          </a:p>
        </p:txBody>
      </p:sp>
    </p:spTree>
    <p:extLst>
      <p:ext uri="{BB962C8B-B14F-4D97-AF65-F5344CB8AC3E}">
        <p14:creationId xmlns:p14="http://schemas.microsoft.com/office/powerpoint/2010/main" val="1530051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Sixth commit, where we experiment</a:t>
            </a:r>
            <a:endParaRPr lang="en-GB" dirty="0"/>
          </a:p>
        </p:txBody>
      </p:sp>
      <p:sp>
        <p:nvSpPr>
          <p:cNvPr id="3" name="Zástupný symbol pro obsah 2"/>
          <p:cNvSpPr>
            <a:spLocks noGrp="1"/>
          </p:cNvSpPr>
          <p:nvPr>
            <p:ph idx="1"/>
          </p:nvPr>
        </p:nvSpPr>
        <p:spPr>
          <a:xfrm>
            <a:off x="838200" y="1825625"/>
            <a:ext cx="5257800" cy="4351338"/>
          </a:xfrm>
        </p:spPr>
        <p:txBody>
          <a:bodyPr wrap="square">
            <a:normAutofit/>
          </a:bodyPr>
          <a:lstStyle/>
          <a:p>
            <a:pPr/>
            <a:r>
              <a:rPr sz="1600"/>
              <a:t>Now something riskier: a different greeting — but only as an </a:t>
            </a:r>
            <a:r>
              <a:rPr b="1" sz="1600"/>
              <a:t>experiment</a:t>
            </a:r>
          </a:p>
          <a:p>
            <a:pPr>
              <a:defRPr sz="700"/>
            </a:pPr>
          </a:p>
          <a:p>
            <a:pPr/>
            <a:r>
              <a:rPr b="1" sz="1600"/>
              <a:t>Branch ▸ New branch…</a:t>
            </a:r>
            <a:r>
              <a:rPr sz="1600"/>
              <a:t> → </a:t>
            </a:r>
            <a:r>
              <a:rPr sz="1600">
                <a:latin typeface="Consolas"/>
              </a:rPr>
              <a:t>greeting-na</a:t>
            </a:r>
            <a:r>
              <a:rPr sz="1600"/>
              <a:t>, based on </a:t>
            </a:r>
            <a:r>
              <a:rPr sz="1600">
                <a:latin typeface="Consolas"/>
              </a:rPr>
              <a:t>main</a:t>
            </a:r>
          </a:p>
          <a:p>
            <a:pPr/>
            <a:r>
              <a:rPr sz="1600"/>
              <a:t>In </a:t>
            </a:r>
            <a:r>
              <a:rPr sz="1600">
                <a:latin typeface="Consolas"/>
              </a:rPr>
              <a:t>readme.md</a:t>
            </a:r>
            <a:r>
              <a:rPr sz="1600"/>
              <a:t>, change “Hello world” to </a:t>
            </a:r>
            <a:r>
              <a:rPr b="1" sz="1600"/>
              <a:t>“Hello North America”</a:t>
            </a:r>
          </a:p>
          <a:p>
            <a:pPr/>
            <a:r>
              <a:rPr sz="1600"/>
              <a:t>Commit. Publish the branch.</a:t>
            </a:r>
          </a:p>
          <a:p>
            <a:pPr>
              <a:defRPr sz="700"/>
            </a:pPr>
          </a:p>
          <a:p>
            <a:pPr/>
            <a:r>
              <a:rPr sz="1600"/>
              <a:t>Your </a:t>
            </a:r>
            <a:r>
              <a:rPr sz="1600">
                <a:latin typeface="Consolas"/>
              </a:rPr>
              <a:t>main</a:t>
            </a:r>
            <a:r>
              <a:rPr sz="1600"/>
              <a:t> is untouched and still works.</a:t>
            </a:r>
          </a:p>
          <a:p>
            <a:pPr lvl="1"/>
            <a:r>
              <a:rPr sz="1500"/>
              <a:t>That is the entire point of a branch: somewhere to be wrong safely.</a:t>
            </a:r>
          </a:p>
        </p:txBody>
      </p:sp>
      <p:pic>
        <p:nvPicPr>
          <p:cNvPr id="5" name="Obrázek 4"/>
          <p:cNvPicPr>
            <a:picLocks noChangeAspect="1"/>
          </p:cNvPicPr>
          <p:nvPr/>
        </p:nvPicPr>
        <p:blipFill>
          <a:blip r:embed="rId2"/>
          <a:stretch>
            <a:fillRect/>
          </a:stretch>
        </p:blipFill>
        <p:spPr>
          <a:xfrm>
            <a:off x="6087376" y="2642196"/>
            <a:ext cx="6104624" cy="4196929"/>
          </a:xfrm>
          <a:prstGeom prst="rect">
            <a:avLst/>
          </a:prstGeom>
        </p:spPr>
      </p:pic>
    </p:spTree>
    <p:extLst>
      <p:ext uri="{BB962C8B-B14F-4D97-AF65-F5344CB8AC3E}">
        <p14:creationId xmlns:p14="http://schemas.microsoft.com/office/powerpoint/2010/main" val="293867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6183E-3D0A-3E46-8E37-1C561697A382}"/>
              </a:ext>
            </a:extLst>
          </p:cNvPr>
          <p:cNvSpPr>
            <a:spLocks noGrp="1"/>
          </p:cNvSpPr>
          <p:nvPr>
            <p:ph type="title"/>
          </p:nvPr>
        </p:nvSpPr>
        <p:spPr/>
        <p:txBody>
          <a:bodyPr/>
          <a:lstStyle/>
          <a:p>
            <a:r>
              <a:rPr lang="en-US" dirty="0"/>
              <a:t>Let’s use </a:t>
            </a:r>
            <a:r>
              <a:rPr lang="en-US" dirty="0" err="1"/>
              <a:t>Matlab</a:t>
            </a:r>
            <a:r>
              <a:rPr lang="en-US" dirty="0"/>
              <a:t> to see the branches</a:t>
            </a:r>
          </a:p>
        </p:txBody>
      </p:sp>
      <p:sp>
        <p:nvSpPr>
          <p:cNvPr id="3" name="Content Placeholder 2">
            <a:extLst>
              <a:ext uri="{FF2B5EF4-FFF2-40B4-BE49-F238E27FC236}">
                <a16:creationId xmlns:a16="http://schemas.microsoft.com/office/drawing/2014/main" id="{F467CA1F-E6CF-A347-30CB-206D93DF2CEA}"/>
              </a:ext>
            </a:extLst>
          </p:cNvPr>
          <p:cNvSpPr>
            <a:spLocks noGrp="1"/>
          </p:cNvSpPr>
          <p:nvPr>
            <p:ph sz="half" idx="1"/>
          </p:nvPr>
        </p:nvSpPr>
        <p:spPr>
          <a:xfrm>
            <a:off x="838200" y="1825625"/>
            <a:ext cx="5970814" cy="4351338"/>
          </a:xfrm>
        </p:spPr>
        <p:txBody>
          <a:bodyPr/>
          <a:lstStyle/>
          <a:p>
            <a:r>
              <a:rPr lang="en-US" dirty="0"/>
              <a:t>Navigate to the folder in </a:t>
            </a:r>
            <a:r>
              <a:rPr lang="en-US" dirty="0" err="1"/>
              <a:t>Matlab</a:t>
            </a:r>
            <a:endParaRPr lang="en-US" dirty="0"/>
          </a:p>
          <a:p>
            <a:r>
              <a:rPr lang="en-US" dirty="0"/>
              <a:t>Right-click – Source control - Branches</a:t>
            </a:r>
          </a:p>
        </p:txBody>
      </p:sp>
      <p:pic>
        <p:nvPicPr>
          <p:cNvPr id="8" name="Content Placeholder 7">
            <a:extLst>
              <a:ext uri="{FF2B5EF4-FFF2-40B4-BE49-F238E27FC236}">
                <a16:creationId xmlns:a16="http://schemas.microsoft.com/office/drawing/2014/main" id="{E64D5683-9A1C-8839-6F7F-D2D44438D63D}"/>
              </a:ext>
            </a:extLst>
          </p:cNvPr>
          <p:cNvPicPr>
            <a:picLocks noGrp="1" noChangeAspect="1"/>
          </p:cNvPicPr>
          <p:nvPr>
            <p:ph sz="half" idx="2"/>
          </p:nvPr>
        </p:nvPicPr>
        <p:blipFill>
          <a:blip r:embed="rId2"/>
          <a:stretch>
            <a:fillRect/>
          </a:stretch>
        </p:blipFill>
        <p:spPr>
          <a:xfrm>
            <a:off x="7197248" y="1825625"/>
            <a:ext cx="4307161" cy="4351338"/>
          </a:xfrm>
        </p:spPr>
      </p:pic>
      <p:pic>
        <p:nvPicPr>
          <p:cNvPr id="10" name="Picture 9">
            <a:extLst>
              <a:ext uri="{FF2B5EF4-FFF2-40B4-BE49-F238E27FC236}">
                <a16:creationId xmlns:a16="http://schemas.microsoft.com/office/drawing/2014/main" id="{C0BA0E07-E741-1EB6-534A-6B85BEA47F7C}"/>
              </a:ext>
            </a:extLst>
          </p:cNvPr>
          <p:cNvPicPr>
            <a:picLocks noChangeAspect="1"/>
          </p:cNvPicPr>
          <p:nvPr/>
        </p:nvPicPr>
        <p:blipFill>
          <a:blip r:embed="rId3"/>
          <a:stretch>
            <a:fillRect/>
          </a:stretch>
        </p:blipFill>
        <p:spPr>
          <a:xfrm>
            <a:off x="1019456" y="3657470"/>
            <a:ext cx="3152210" cy="2835405"/>
          </a:xfrm>
          <a:prstGeom prst="rect">
            <a:avLst/>
          </a:prstGeom>
        </p:spPr>
      </p:pic>
    </p:spTree>
    <p:extLst>
      <p:ext uri="{BB962C8B-B14F-4D97-AF65-F5344CB8AC3E}">
        <p14:creationId xmlns:p14="http://schemas.microsoft.com/office/powerpoint/2010/main" val="1816637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Fifth commit, where we merge — the easy one</a:t>
            </a:r>
            <a:endParaRPr lang="en-GB" dirty="0"/>
          </a:p>
        </p:txBody>
      </p:sp>
      <p:sp>
        <p:nvSpPr>
          <p:cNvPr id="3" name="Zástupný symbol pro obsah 2"/>
          <p:cNvSpPr>
            <a:spLocks noGrp="1"/>
          </p:cNvSpPr>
          <p:nvPr>
            <p:ph idx="1"/>
          </p:nvPr>
        </p:nvSpPr>
        <p:spPr>
          <a:xfrm>
            <a:off x="838200" y="1632857"/>
            <a:ext cx="5513614" cy="4544106"/>
          </a:xfrm>
        </p:spPr>
        <p:txBody>
          <a:bodyPr wrap="square">
            <a:normAutofit/>
          </a:bodyPr>
          <a:lstStyle/>
          <a:p>
            <a:pPr/>
            <a:r>
              <a:rPr sz="1600"/>
              <a:t>The wisdom turned out fine. Bring it into </a:t>
            </a:r>
            <a:r>
              <a:rPr sz="1600">
                <a:latin typeface="Consolas"/>
              </a:rPr>
              <a:t>main</a:t>
            </a:r>
            <a:r>
              <a:rPr sz="1600"/>
              <a:t>.</a:t>
            </a:r>
          </a:p>
          <a:p>
            <a:pPr>
              <a:defRPr sz="700"/>
            </a:pPr>
          </a:p>
          <a:p>
            <a:pPr/>
            <a:r>
              <a:rPr sz="1600"/>
              <a:t>Switch to </a:t>
            </a:r>
            <a:r>
              <a:rPr sz="1600">
                <a:latin typeface="Consolas"/>
              </a:rPr>
              <a:t>main</a:t>
            </a:r>
          </a:p>
          <a:p>
            <a:pPr/>
            <a:r>
              <a:rPr b="1" sz="1600"/>
              <a:t>Branch ▸ Merge into current branch…</a:t>
            </a:r>
            <a:r>
              <a:rPr sz="1600"/>
              <a:t> → pick </a:t>
            </a:r>
            <a:r>
              <a:rPr sz="1600">
                <a:latin typeface="Consolas"/>
              </a:rPr>
              <a:t>add-wisdom</a:t>
            </a:r>
          </a:p>
          <a:p>
            <a:pPr/>
            <a:r>
              <a:rPr sz="1600"/>
              <a:t>No conflict — nobody touched those lines on </a:t>
            </a:r>
            <a:r>
              <a:rPr sz="1600">
                <a:latin typeface="Consolas"/>
              </a:rPr>
              <a:t>main</a:t>
            </a:r>
            <a:r>
              <a:rPr sz="1600"/>
              <a:t>, so Git just does it</a:t>
            </a:r>
          </a:p>
          <a:p>
            <a:pPr/>
            <a:r>
              <a:rPr sz="1600"/>
              <a:t>Push</a:t>
            </a:r>
          </a:p>
          <a:p>
            <a:pPr>
              <a:defRPr sz="700"/>
            </a:pPr>
          </a:p>
          <a:p>
            <a:pPr/>
            <a:r>
              <a:rPr sz="1600">
                <a:latin typeface="Consolas"/>
              </a:rPr>
              <a:t>add-wisdom</a:t>
            </a:r>
            <a:r>
              <a:rPr sz="1600"/>
              <a:t> has done its job. You may delete it — </a:t>
            </a:r>
            <a:r>
              <a:rPr b="1" sz="1600"/>
              <a:t>the commits stay in main</a:t>
            </a:r>
            <a:r>
              <a:rPr sz="1600"/>
              <a:t>.</a:t>
            </a:r>
          </a:p>
          <a:p>
            <a:pPr>
              <a:defRPr sz="700"/>
            </a:pPr>
          </a:p>
          <a:p>
            <a:pPr/>
            <a:r>
              <a:rPr b="1" sz="1600"/>
              <a:t>This is what a normal merge looks like.</a:t>
            </a:r>
            <a:r>
              <a:rPr sz="1600"/>
              <a:t> Most of them are this boring.</a:t>
            </a:r>
          </a:p>
        </p:txBody>
      </p:sp>
      <p:pic>
        <p:nvPicPr>
          <p:cNvPr id="4" name="Obrázek 3"/>
          <p:cNvPicPr>
            <a:picLocks noChangeAspect="1"/>
          </p:cNvPicPr>
          <p:nvPr/>
        </p:nvPicPr>
        <p:blipFill>
          <a:blip r:embed="rId2"/>
          <a:stretch>
            <a:fillRect/>
          </a:stretch>
        </p:blipFill>
        <p:spPr>
          <a:xfrm>
            <a:off x="6097016" y="2667699"/>
            <a:ext cx="6094983" cy="4190301"/>
          </a:xfrm>
          <a:prstGeom prst="rect">
            <a:avLst/>
          </a:prstGeom>
        </p:spPr>
      </p:pic>
      <p:pic>
        <p:nvPicPr>
          <p:cNvPr id="5" name="Obrázek 4"/>
          <p:cNvPicPr>
            <a:picLocks noChangeAspect="1"/>
          </p:cNvPicPr>
          <p:nvPr/>
        </p:nvPicPr>
        <p:blipFill>
          <a:blip r:embed="rId3"/>
          <a:stretch>
            <a:fillRect/>
          </a:stretch>
        </p:blipFill>
        <p:spPr>
          <a:xfrm>
            <a:off x="837184" y="2968730"/>
            <a:ext cx="3884234" cy="1930441"/>
          </a:xfrm>
          <a:prstGeom prst="rect">
            <a:avLst/>
          </a:prstGeom>
        </p:spPr>
      </p:pic>
      <p:pic>
        <p:nvPicPr>
          <p:cNvPr id="6" name="Obrázek 5"/>
          <p:cNvPicPr>
            <a:picLocks noChangeAspect="1"/>
          </p:cNvPicPr>
          <p:nvPr/>
        </p:nvPicPr>
        <p:blipFill>
          <a:blip r:embed="rId4"/>
          <a:stretch>
            <a:fillRect/>
          </a:stretch>
        </p:blipFill>
        <p:spPr>
          <a:xfrm>
            <a:off x="837184" y="4997027"/>
            <a:ext cx="3194214" cy="1746340"/>
          </a:xfrm>
          <a:prstGeom prst="rect">
            <a:avLst/>
          </a:prstGeom>
        </p:spPr>
      </p:pic>
    </p:spTree>
    <p:extLst>
      <p:ext uri="{BB962C8B-B14F-4D97-AF65-F5344CB8AC3E}">
        <p14:creationId xmlns:p14="http://schemas.microsoft.com/office/powerpoint/2010/main" val="2189975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Seventh commit, where we diverge</a:t>
            </a:r>
            <a:endParaRPr lang="en-GB" dirty="0"/>
          </a:p>
        </p:txBody>
      </p:sp>
      <p:sp>
        <p:nvSpPr>
          <p:cNvPr id="3" name="Zástupný symbol pro obsah 2"/>
          <p:cNvSpPr>
            <a:spLocks noGrp="1"/>
          </p:cNvSpPr>
          <p:nvPr>
            <p:ph idx="1"/>
          </p:nvPr>
        </p:nvSpPr>
        <p:spPr>
          <a:xfrm>
            <a:off x="838200" y="1825625"/>
            <a:ext cx="5257800" cy="4351338"/>
          </a:xfrm>
        </p:spPr>
        <p:txBody>
          <a:bodyPr wrap="square">
            <a:normAutofit/>
          </a:bodyPr>
          <a:lstStyle/>
          <a:p>
            <a:pPr/>
            <a:r>
              <a:rPr sz="1600"/>
              <a:t>Meanwhile, life goes on the main line.</a:t>
            </a:r>
          </a:p>
          <a:p>
            <a:pPr>
              <a:defRPr sz="700"/>
            </a:pPr>
          </a:p>
          <a:p>
            <a:pPr/>
            <a:r>
              <a:rPr sz="1600"/>
              <a:t>Switch to </a:t>
            </a:r>
            <a:r>
              <a:rPr sz="1600">
                <a:latin typeface="Consolas"/>
              </a:rPr>
              <a:t>main</a:t>
            </a:r>
          </a:p>
          <a:p>
            <a:pPr/>
            <a:r>
              <a:rPr sz="1600"/>
              <a:t>Change </a:t>
            </a:r>
            <a:r>
              <a:rPr b="1" sz="1600"/>
              <a:t>the same greeting line</a:t>
            </a:r>
            <a:r>
              <a:rPr sz="1600"/>
              <a:t> to </a:t>
            </a:r>
            <a:r>
              <a:rPr b="1" sz="1600"/>
              <a:t>“Good afternoon, Europe”</a:t>
            </a:r>
          </a:p>
          <a:p>
            <a:pPr/>
            <a:r>
              <a:rPr sz="1600"/>
              <a:t>Commit</a:t>
            </a:r>
          </a:p>
          <a:p>
            <a:pPr>
              <a:defRPr sz="700"/>
            </a:pPr>
          </a:p>
          <a:p>
            <a:pPr/>
            <a:r>
              <a:rPr sz="1600"/>
              <a:t>Now the same line says two different things on two branches.</a:t>
            </a:r>
          </a:p>
          <a:p>
            <a:pPr lvl="1"/>
            <a:r>
              <a:rPr sz="1500"/>
              <a:t>This is a </a:t>
            </a:r>
            <a:r>
              <a:rPr b="1" sz="1500"/>
              <a:t>concurrent change</a:t>
            </a:r>
            <a:r>
              <a:rPr sz="1500"/>
              <a:t>, not an addition</a:t>
            </a:r>
          </a:p>
          <a:p>
            <a:pPr lvl="1"/>
            <a:r>
              <a:rPr sz="1500"/>
              <a:t>Git merges additions and deletions by itself all day long</a:t>
            </a:r>
          </a:p>
          <a:p>
            <a:pPr lvl="1"/>
            <a:r>
              <a:rPr sz="1500"/>
              <a:t>But here it genuinely cannot know which one you meant — so it will ask</a:t>
            </a:r>
          </a:p>
        </p:txBody>
      </p:sp>
      <p:pic>
        <p:nvPicPr>
          <p:cNvPr id="4" name="Obrázek 3"/>
          <p:cNvPicPr>
            <a:picLocks noChangeAspect="1"/>
          </p:cNvPicPr>
          <p:nvPr/>
        </p:nvPicPr>
        <p:blipFill>
          <a:blip r:embed="rId2"/>
          <a:stretch>
            <a:fillRect/>
          </a:stretch>
        </p:blipFill>
        <p:spPr>
          <a:xfrm>
            <a:off x="6096000" y="1333500"/>
            <a:ext cx="6096000" cy="4191000"/>
          </a:xfrm>
          <a:prstGeom prst="rect">
            <a:avLst/>
          </a:prstGeom>
        </p:spPr>
      </p:pic>
      <p:pic>
        <p:nvPicPr>
          <p:cNvPr id="5" name="Obrázek 4"/>
          <p:cNvPicPr>
            <a:picLocks noChangeAspect="1"/>
          </p:cNvPicPr>
          <p:nvPr/>
        </p:nvPicPr>
        <p:blipFill rotWithShape="1">
          <a:blip r:embed="rId3"/>
          <a:srcRect b="32504"/>
          <a:stretch/>
        </p:blipFill>
        <p:spPr>
          <a:xfrm>
            <a:off x="6264181" y="4454903"/>
            <a:ext cx="5635925" cy="2139193"/>
          </a:xfrm>
          <a:prstGeom prst="rect">
            <a:avLst/>
          </a:prstGeom>
        </p:spPr>
      </p:pic>
    </p:spTree>
    <p:extLst>
      <p:ext uri="{BB962C8B-B14F-4D97-AF65-F5344CB8AC3E}">
        <p14:creationId xmlns:p14="http://schemas.microsoft.com/office/powerpoint/2010/main" val="303760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rázek 5"/>
          <p:cNvPicPr>
            <a:picLocks noChangeAspect="1"/>
          </p:cNvPicPr>
          <p:nvPr/>
        </p:nvPicPr>
        <p:blipFill>
          <a:blip r:embed="rId2"/>
          <a:stretch>
            <a:fillRect/>
          </a:stretch>
        </p:blipFill>
        <p:spPr>
          <a:xfrm>
            <a:off x="6096000" y="1308864"/>
            <a:ext cx="6167668" cy="4240272"/>
          </a:xfrm>
          <a:prstGeom prst="rect">
            <a:avLst/>
          </a:prstGeom>
        </p:spPr>
      </p:pic>
      <p:sp>
        <p:nvSpPr>
          <p:cNvPr id="2" name="Nadpis 1"/>
          <p:cNvSpPr>
            <a:spLocks noGrp="1"/>
          </p:cNvSpPr>
          <p:nvPr>
            <p:ph type="title"/>
          </p:nvPr>
        </p:nvSpPr>
        <p:spPr/>
        <p:txBody>
          <a:bodyPr/>
          <a:lstStyle/>
          <a:p>
            <a:r>
              <a:t>Eighth commit, where we conflict and resolve</a:t>
            </a:r>
            <a:endParaRPr lang="en-GB" dirty="0"/>
          </a:p>
        </p:txBody>
      </p:sp>
      <p:sp>
        <p:nvSpPr>
          <p:cNvPr id="3" name="Zástupný symbol pro obsah 2"/>
          <p:cNvSpPr>
            <a:spLocks noGrp="1"/>
          </p:cNvSpPr>
          <p:nvPr>
            <p:ph idx="1"/>
          </p:nvPr>
        </p:nvSpPr>
        <p:spPr>
          <a:xfrm>
            <a:off x="838200" y="1825625"/>
            <a:ext cx="5344486" cy="4482896"/>
          </a:xfrm>
        </p:spPr>
        <p:txBody>
          <a:bodyPr wrap="square">
            <a:normAutofit/>
          </a:bodyPr>
          <a:lstStyle/>
          <a:p>
            <a:pPr/>
            <a:r>
              <a:rPr sz="1600"/>
              <a:t>Bring main's change into the experiment:</a:t>
            </a:r>
          </a:p>
          <a:p>
            <a:pPr lvl="1"/>
            <a:r>
              <a:rPr sz="1500"/>
              <a:t>Switch to </a:t>
            </a:r>
            <a:r>
              <a:rPr sz="1500">
                <a:latin typeface="Consolas"/>
              </a:rPr>
              <a:t>greeting-na</a:t>
            </a:r>
            <a:r>
              <a:rPr sz="1500"/>
              <a:t> → </a:t>
            </a:r>
            <a:r>
              <a:rPr b="1" sz="1500"/>
              <a:t>Branch ▸ Merge into current branch…</a:t>
            </a:r>
            <a:r>
              <a:rPr sz="1500"/>
              <a:t> → pick </a:t>
            </a:r>
            <a:r>
              <a:rPr sz="1500">
                <a:latin typeface="Consolas"/>
              </a:rPr>
              <a:t>main</a:t>
            </a:r>
          </a:p>
          <a:p>
            <a:pPr>
              <a:defRPr sz="700"/>
            </a:pPr>
          </a:p>
          <a:p>
            <a:pPr/>
            <a:r>
              <a:rPr sz="1600"/>
              <a:t>Git stops and writes both versions into the file:</a:t>
            </a:r>
          </a:p>
          <a:p>
            <a:pPr lvl="1"/>
            <a:r>
              <a:rPr sz="1500">
                <a:latin typeface="Consolas"/>
              </a:rPr>
              <a:t>&lt;&lt;&lt;&lt;&lt;&lt;&lt; HEAD</a:t>
            </a:r>
          </a:p>
          <a:p>
            <a:pPr lvl="1"/>
            <a:r>
              <a:rPr sz="1500">
                <a:latin typeface="Consolas"/>
              </a:rPr>
              <a:t>Hello North America</a:t>
            </a:r>
          </a:p>
          <a:p>
            <a:pPr lvl="1"/>
            <a:r>
              <a:rPr sz="1500">
                <a:latin typeface="Consolas"/>
              </a:rPr>
              <a:t>=======</a:t>
            </a:r>
          </a:p>
          <a:p>
            <a:pPr lvl="1"/>
            <a:r>
              <a:rPr sz="1500">
                <a:latin typeface="Consolas"/>
              </a:rPr>
              <a:t>Good afternoon, Europe</a:t>
            </a:r>
          </a:p>
          <a:p>
            <a:pPr lvl="1"/>
            <a:r>
              <a:rPr sz="1500">
                <a:latin typeface="Consolas"/>
              </a:rPr>
              <a:t>&gt;&gt;&gt;&gt;&gt;&gt;&gt; main</a:t>
            </a:r>
          </a:p>
          <a:p>
            <a:pPr>
              <a:defRPr sz="700"/>
            </a:pPr>
          </a:p>
          <a:p>
            <a:pPr/>
            <a:r>
              <a:rPr sz="1600"/>
              <a:t>Open the file, </a:t>
            </a:r>
            <a:r>
              <a:rPr b="1" sz="1600"/>
              <a:t>delete the markers, leave the text you want</a:t>
            </a:r>
            <a:r>
              <a:rPr sz="1600"/>
              <a:t> —</a:t>
            </a:r>
          </a:p>
          <a:p>
            <a:pPr lvl="1"/>
            <a:r>
              <a:rPr sz="1500"/>
              <a:t>e.g. “Hello Europe and North America”</a:t>
            </a:r>
          </a:p>
          <a:p>
            <a:pPr/>
            <a:r>
              <a:rPr sz="1600"/>
              <a:t>Then commit the merge.</a:t>
            </a:r>
          </a:p>
          <a:p>
            <a:pPr/>
            <a:r>
              <a:rPr sz="1600"/>
              <a:t>GitHub Desktop offers to open VS Code, which adds </a:t>
            </a:r>
            <a:r>
              <a:rPr i="1" sz="1600"/>
              <a:t>Accept current / incoming / both</a:t>
            </a:r>
            <a:r>
              <a:rPr sz="1600"/>
              <a:t> buttons.</a:t>
            </a:r>
          </a:p>
        </p:txBody>
      </p:sp>
      <p:pic>
        <p:nvPicPr>
          <p:cNvPr id="5" name="Obrázek 4"/>
          <p:cNvPicPr>
            <a:picLocks noChangeAspect="1"/>
          </p:cNvPicPr>
          <p:nvPr/>
        </p:nvPicPr>
        <p:blipFill>
          <a:blip r:embed="rId3"/>
          <a:stretch>
            <a:fillRect/>
          </a:stretch>
        </p:blipFill>
        <p:spPr>
          <a:xfrm>
            <a:off x="7694982" y="5082315"/>
            <a:ext cx="2969704" cy="1574350"/>
          </a:xfrm>
          <a:prstGeom prst="rect">
            <a:avLst/>
          </a:prstGeom>
        </p:spPr>
      </p:pic>
    </p:spTree>
    <p:extLst>
      <p:ext uri="{BB962C8B-B14F-4D97-AF65-F5344CB8AC3E}">
        <p14:creationId xmlns:p14="http://schemas.microsoft.com/office/powerpoint/2010/main" val="1744820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Create a pull request</a:t>
            </a:r>
            <a:endParaRPr lang="en-GB" dirty="0"/>
          </a:p>
        </p:txBody>
      </p:sp>
      <p:sp>
        <p:nvSpPr>
          <p:cNvPr id="3" name="Zástupný symbol pro obsah 2"/>
          <p:cNvSpPr>
            <a:spLocks noGrp="1"/>
          </p:cNvSpPr>
          <p:nvPr>
            <p:ph sz="half" idx="1"/>
          </p:nvPr>
        </p:nvSpPr>
        <p:spPr>
          <a:xfrm>
            <a:off x="838200" y="1825625"/>
            <a:ext cx="5181600" cy="2272715"/>
          </a:xfrm>
        </p:spPr>
        <p:txBody>
          <a:bodyPr wrap="square">
            <a:normAutofit/>
          </a:bodyPr>
          <a:lstStyle/>
          <a:p>
            <a:pPr/>
            <a:r>
              <a:rPr sz="1600">
                <a:latin typeface="Consolas"/>
              </a:rPr>
              <a:t>greeting-na</a:t>
            </a:r>
            <a:r>
              <a:rPr sz="1600"/>
              <a:t> is now newer and better than </a:t>
            </a:r>
            <a:r>
              <a:rPr sz="1600">
                <a:latin typeface="Consolas"/>
              </a:rPr>
              <a:t>main</a:t>
            </a:r>
            <a:r>
              <a:rPr sz="1600"/>
              <a:t> everywhere</a:t>
            </a:r>
          </a:p>
          <a:p>
            <a:pPr>
              <a:defRPr sz="700"/>
            </a:pPr>
          </a:p>
          <a:p>
            <a:pPr/>
            <a:r>
              <a:rPr sz="1600"/>
              <a:t>The GitHub way: we </a:t>
            </a:r>
            <a:r>
              <a:rPr b="1" sz="1600"/>
              <a:t>ask</a:t>
            </a:r>
            <a:r>
              <a:rPr sz="1600"/>
              <a:t> to merge </a:t>
            </a:r>
            <a:r>
              <a:rPr sz="1600">
                <a:latin typeface="Consolas"/>
              </a:rPr>
              <a:t>greeting-na</a:t>
            </a:r>
            <a:r>
              <a:rPr sz="1600"/>
              <a:t> into </a:t>
            </a:r>
            <a:r>
              <a:rPr sz="1600">
                <a:latin typeface="Consolas"/>
              </a:rPr>
              <a:t>main</a:t>
            </a:r>
          </a:p>
          <a:p>
            <a:pPr lvl="1"/>
            <a:r>
              <a:rPr sz="1500"/>
              <a:t>GitHub Desktop: </a:t>
            </a:r>
            <a:r>
              <a:rPr i="1" sz="1500"/>
              <a:t>Branch ▸ Create pull request</a:t>
            </a:r>
          </a:p>
          <a:p>
            <a:pPr lvl="1"/>
            <a:r>
              <a:rPr sz="1500"/>
              <a:t>…or publish, then create the pull request on github.com</a:t>
            </a:r>
          </a:p>
          <a:p>
            <a:pPr>
              <a:defRPr sz="700"/>
            </a:pPr>
          </a:p>
          <a:p>
            <a:pPr/>
            <a:r>
              <a:rPr sz="1600"/>
              <a:t>GitHub reports </a:t>
            </a:r>
            <a:r>
              <a:rPr b="1" sz="1600"/>
              <a:t>no conflicts</a:t>
            </a:r>
            <a:r>
              <a:rPr sz="1600"/>
              <a:t> — we already merged </a:t>
            </a:r>
            <a:r>
              <a:rPr sz="1600">
                <a:latin typeface="Consolas"/>
              </a:rPr>
              <a:t>main</a:t>
            </a:r>
            <a:r>
              <a:rPr sz="1600"/>
              <a:t> in, in the last step</a:t>
            </a:r>
          </a:p>
          <a:p>
            <a:pPr>
              <a:defRPr sz="700"/>
            </a:pPr>
          </a:p>
          <a:p>
            <a:pPr/>
            <a:r>
              <a:rPr b="1" sz="1600"/>
              <a:t>DO NOT MERGE YET</a:t>
            </a:r>
            <a:r>
              <a:rPr sz="1600"/>
              <a:t> — one more thing to show.</a:t>
            </a:r>
          </a:p>
        </p:txBody>
      </p:sp>
      <p:sp>
        <p:nvSpPr>
          <p:cNvPr id="7" name="Content Placeholder 6">
            <a:extLst>
              <a:ext uri="{FF2B5EF4-FFF2-40B4-BE49-F238E27FC236}">
                <a16:creationId xmlns:a16="http://schemas.microsoft.com/office/drawing/2014/main" id="{F6235AD2-3242-85CB-29E6-B0F28809A602}"/>
              </a:ext>
            </a:extLst>
          </p:cNvPr>
          <p:cNvSpPr>
            <a:spLocks noGrp="1"/>
          </p:cNvSpPr>
          <p:nvPr>
            <p:ph sz="half" idx="2"/>
          </p:nvPr>
        </p:nvSpPr>
        <p:spPr/>
        <p:txBody>
          <a:bodyPr>
            <a:normAutofit fontScale="62500" lnSpcReduction="20000"/>
          </a:bodyPr>
          <a:lstStyle/>
          <a:p>
            <a:r>
              <a:rPr lang="en-US" dirty="0"/>
              <a:t>N</a:t>
            </a:r>
            <a:r>
              <a:rPr lang="cs-CZ" dirty="0"/>
              <a:t>o conflicts, already newer</a:t>
            </a:r>
            <a:endParaRPr lang="en-US" dirty="0"/>
          </a:p>
          <a:p>
            <a:r>
              <a:rPr lang="en-US" b="1" dirty="0"/>
              <a:t>DO NOT MERGE YET</a:t>
            </a:r>
          </a:p>
          <a:p>
            <a:endParaRPr lang="en-US" dirty="0"/>
          </a:p>
        </p:txBody>
      </p:sp>
      <p:pic>
        <p:nvPicPr>
          <p:cNvPr id="4" name="Obrázek 3"/>
          <p:cNvPicPr>
            <a:picLocks noChangeAspect="1"/>
          </p:cNvPicPr>
          <p:nvPr/>
        </p:nvPicPr>
        <p:blipFill>
          <a:blip r:embed="rId2"/>
          <a:stretch>
            <a:fillRect/>
          </a:stretch>
        </p:blipFill>
        <p:spPr>
          <a:xfrm>
            <a:off x="6972299" y="3981014"/>
            <a:ext cx="3823607" cy="2732024"/>
          </a:xfrm>
          <a:prstGeom prst="rect">
            <a:avLst/>
          </a:prstGeom>
        </p:spPr>
      </p:pic>
      <p:pic>
        <p:nvPicPr>
          <p:cNvPr id="6" name="Picture 5">
            <a:extLst>
              <a:ext uri="{FF2B5EF4-FFF2-40B4-BE49-F238E27FC236}">
                <a16:creationId xmlns:a16="http://schemas.microsoft.com/office/drawing/2014/main" id="{F2E88C4D-2505-2DFE-07F3-C76F99724B15}"/>
              </a:ext>
            </a:extLst>
          </p:cNvPr>
          <p:cNvPicPr>
            <a:picLocks noChangeAspect="1"/>
          </p:cNvPicPr>
          <p:nvPr/>
        </p:nvPicPr>
        <p:blipFill>
          <a:blip r:embed="rId3"/>
          <a:stretch>
            <a:fillRect/>
          </a:stretch>
        </p:blipFill>
        <p:spPr>
          <a:xfrm>
            <a:off x="1546425" y="4393827"/>
            <a:ext cx="2685398" cy="2400853"/>
          </a:xfrm>
          <a:prstGeom prst="rect">
            <a:avLst/>
          </a:prstGeom>
        </p:spPr>
      </p:pic>
    </p:spTree>
    <p:extLst>
      <p:ext uri="{BB962C8B-B14F-4D97-AF65-F5344CB8AC3E}">
        <p14:creationId xmlns:p14="http://schemas.microsoft.com/office/powerpoint/2010/main" val="797171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4C23E-85D2-B572-2777-0AB8CFD2CDDE}"/>
              </a:ext>
            </a:extLst>
          </p:cNvPr>
          <p:cNvSpPr>
            <a:spLocks noGrp="1"/>
          </p:cNvSpPr>
          <p:nvPr>
            <p:ph type="title"/>
          </p:nvPr>
        </p:nvSpPr>
        <p:spPr/>
        <p:txBody>
          <a:bodyPr/>
          <a:lstStyle/>
          <a:p>
            <a:r>
              <a:t>Ninth commit — updating a pull request</a:t>
            </a:r>
          </a:p>
        </p:txBody>
      </p:sp>
      <p:sp>
        <p:nvSpPr>
          <p:cNvPr id="3" name="Content Placeholder 2">
            <a:extLst>
              <a:ext uri="{FF2B5EF4-FFF2-40B4-BE49-F238E27FC236}">
                <a16:creationId xmlns:a16="http://schemas.microsoft.com/office/drawing/2014/main" id="{6EE44585-3391-C9C2-D23A-EEBE228F31E8}"/>
              </a:ext>
            </a:extLst>
          </p:cNvPr>
          <p:cNvSpPr>
            <a:spLocks noGrp="1"/>
          </p:cNvSpPr>
          <p:nvPr>
            <p:ph sz="half" idx="1"/>
          </p:nvPr>
        </p:nvSpPr>
        <p:spPr/>
        <p:txBody>
          <a:bodyPr wrap="square">
            <a:normAutofit/>
          </a:bodyPr>
          <a:lstStyle/>
          <a:p>
            <a:pPr/>
            <a:r>
              <a:rPr sz="1600"/>
              <a:t>A pull request is </a:t>
            </a:r>
            <a:r>
              <a:rPr b="1" sz="1600"/>
              <a:t>a whole branch</a:t>
            </a:r>
            <a:r>
              <a:rPr sz="1600"/>
              <a:t>, not a fixed set of changes</a:t>
            </a:r>
          </a:p>
          <a:p>
            <a:pPr>
              <a:defRPr sz="700"/>
            </a:pPr>
          </a:p>
          <a:p>
            <a:pPr/>
            <a:r>
              <a:rPr sz="1600"/>
              <a:t>So: still on </a:t>
            </a:r>
            <a:r>
              <a:rPr sz="1600">
                <a:latin typeface="Consolas"/>
              </a:rPr>
              <a:t>greeting-na</a:t>
            </a:r>
            <a:r>
              <a:rPr sz="1600"/>
              <a:t>, add another line to </a:t>
            </a:r>
            <a:r>
              <a:rPr sz="1600">
                <a:latin typeface="Consolas"/>
              </a:rPr>
              <a:t>wisdom.md</a:t>
            </a:r>
          </a:p>
          <a:p>
            <a:pPr/>
            <a:r>
              <a:rPr sz="1600"/>
              <a:t>Commit</a:t>
            </a:r>
          </a:p>
          <a:p>
            <a:pPr/>
            <a:r>
              <a:rPr b="1" sz="1600"/>
              <a:t>Push</a:t>
            </a:r>
          </a:p>
          <a:p>
            <a:pPr>
              <a:defRPr sz="700"/>
            </a:pPr>
          </a:p>
          <a:p>
            <a:pPr/>
            <a:r>
              <a:rPr sz="1600"/>
              <a:t>Reload the pull request on github.com — the new commit is already in it</a:t>
            </a:r>
          </a:p>
          <a:p>
            <a:pPr lvl="1"/>
            <a:r>
              <a:rPr sz="1500"/>
              <a:t>This is how review works: you push fixes, the same PR updates</a:t>
            </a:r>
          </a:p>
          <a:p>
            <a:pPr>
              <a:defRPr sz="700"/>
            </a:pPr>
          </a:p>
          <a:p>
            <a:pPr/>
            <a:r>
              <a:rPr sz="1600"/>
              <a:t>Now merge it.</a:t>
            </a:r>
          </a:p>
        </p:txBody>
      </p:sp>
      <p:sp>
        <p:nvSpPr>
          <p:cNvPr id="4" name="Content Placeholder 3">
            <a:extLst>
              <a:ext uri="{FF2B5EF4-FFF2-40B4-BE49-F238E27FC236}">
                <a16:creationId xmlns:a16="http://schemas.microsoft.com/office/drawing/2014/main" id="{10EFF5D9-4169-3367-D05F-1A49A6540986}"/>
              </a:ext>
            </a:extLst>
          </p:cNvPr>
          <p:cNvSpPr>
            <a:spLocks noGrp="1"/>
          </p:cNvSpPr>
          <p:nvPr>
            <p:ph sz="half" idx="2"/>
          </p:nvPr>
        </p:nvSpPr>
        <p:spPr/>
        <p:txBody>
          <a:bodyPr/>
          <a:lstStyle/>
          <a:p>
            <a:endParaRPr lang="en-US" dirty="0"/>
          </a:p>
        </p:txBody>
      </p:sp>
    </p:spTree>
    <p:extLst>
      <p:ext uri="{BB962C8B-B14F-4D97-AF65-F5344CB8AC3E}">
        <p14:creationId xmlns:p14="http://schemas.microsoft.com/office/powerpoint/2010/main" val="1169758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dirty="0" err="1"/>
              <a:t>Tenth</a:t>
            </a:r>
            <a:r>
              <a:rPr lang="cs-CZ" dirty="0"/>
              <a:t> </a:t>
            </a:r>
            <a:r>
              <a:rPr lang="cs-CZ" dirty="0" err="1"/>
              <a:t>commit</a:t>
            </a:r>
            <a:r>
              <a:rPr lang="cs-CZ" dirty="0"/>
              <a:t> </a:t>
            </a:r>
            <a:r>
              <a:rPr lang="cs-CZ" dirty="0" err="1"/>
              <a:t>is</a:t>
            </a:r>
            <a:r>
              <a:rPr lang="cs-CZ" dirty="0"/>
              <a:t> </a:t>
            </a:r>
            <a:r>
              <a:rPr lang="cs-CZ" dirty="0" err="1"/>
              <a:t>an</a:t>
            </a:r>
            <a:r>
              <a:rPr lang="cs-CZ" dirty="0"/>
              <a:t> </a:t>
            </a:r>
            <a:r>
              <a:rPr lang="cs-CZ" dirty="0" err="1"/>
              <a:t>assignment</a:t>
            </a:r>
            <a:endParaRPr lang="en-GB" dirty="0"/>
          </a:p>
        </p:txBody>
      </p:sp>
      <p:sp>
        <p:nvSpPr>
          <p:cNvPr id="3" name="Zástupný symbol pro obsah 2"/>
          <p:cNvSpPr>
            <a:spLocks noGrp="1"/>
          </p:cNvSpPr>
          <p:nvPr>
            <p:ph idx="1"/>
          </p:nvPr>
        </p:nvSpPr>
        <p:spPr/>
        <p:txBody>
          <a:bodyPr wrap="square">
            <a:normAutofit/>
          </a:bodyPr>
          <a:lstStyle/>
          <a:p>
            <a:pPr/>
            <a:r>
              <a:rPr b="1" sz="1600"/>
              <a:t>Fork</a:t>
            </a:r>
            <a:r>
              <a:rPr sz="1600"/>
              <a:t> github.com/beards-lab/Phys520 to your own account</a:t>
            </a:r>
          </a:p>
          <a:p>
            <a:pPr/>
            <a:r>
              <a:rPr b="1" sz="1600"/>
              <a:t>Clone your fork</a:t>
            </a:r>
            <a:r>
              <a:rPr sz="1600"/>
              <a:t> (File ▸ Clone repository)</a:t>
            </a:r>
          </a:p>
          <a:p>
            <a:pPr/>
            <a:r>
              <a:rPr sz="1600"/>
              <a:t>Create </a:t>
            </a:r>
            <a:r>
              <a:rPr sz="1600">
                <a:latin typeface="Consolas"/>
              </a:rPr>
              <a:t>initials_your-nick-name.md</a:t>
            </a:r>
            <a:r>
              <a:rPr sz="1600"/>
              <a:t> in the </a:t>
            </a:r>
            <a:r>
              <a:rPr sz="1600">
                <a:latin typeface="Consolas"/>
              </a:rPr>
              <a:t>01_GitTutorial</a:t>
            </a:r>
            <a:r>
              <a:rPr sz="1600"/>
              <a:t> folder</a:t>
            </a:r>
          </a:p>
          <a:p>
            <a:pPr lvl="1"/>
            <a:r>
              <a:rPr sz="1500"/>
              <a:t>e.g. </a:t>
            </a:r>
            <a:r>
              <a:rPr sz="1500">
                <a:latin typeface="Consolas"/>
              </a:rPr>
              <a:t>FJ_jez.md</a:t>
            </a:r>
          </a:p>
          <a:p>
            <a:pPr/>
            <a:r>
              <a:rPr sz="1600"/>
              <a:t>Write down what you</a:t>
            </a:r>
          </a:p>
          <a:p>
            <a:pPr lvl="1"/>
            <a:r>
              <a:rPr sz="1500"/>
              <a:t>1) like about GitHub   2) dislike about GitHub   3) at least one question</a:t>
            </a:r>
          </a:p>
          <a:p>
            <a:pPr/>
            <a:r>
              <a:rPr sz="1600"/>
              <a:t>Commit, push, and issue a </a:t>
            </a:r>
            <a:r>
              <a:rPr b="1" sz="1600"/>
              <a:t>pull request</a:t>
            </a:r>
          </a:p>
          <a:p>
            <a:pPr>
              <a:defRPr sz="700"/>
            </a:pPr>
          </a:p>
          <a:p>
            <a:pPr/>
            <a:r>
              <a:rPr sz="1600"/>
              <a:t>Already a collaborator? Then clone directly, but push a </a:t>
            </a:r>
            <a:r>
              <a:rPr b="1" sz="1600"/>
              <a:t>branch</a:t>
            </a:r>
            <a:r>
              <a:rPr sz="1600"/>
              <a:t>, not </a:t>
            </a:r>
            <a:r>
              <a:rPr sz="1600">
                <a:latin typeface="Consolas"/>
              </a:rPr>
              <a:t>main</a:t>
            </a:r>
            <a:r>
              <a:rPr sz="1600"/>
              <a:t>.</a:t>
            </a:r>
          </a:p>
          <a:p>
            <a:pPr>
              <a:defRPr sz="700"/>
            </a:pPr>
          </a:p>
          <a:p>
            <a:pPr/>
            <a:r>
              <a:rPr b="1" sz="1600"/>
              <a:t>Bonus:</a:t>
            </a:r>
            <a:r>
              <a:rPr sz="1600"/>
              <a:t> retrieve the hidden message from the repository.</a:t>
            </a:r>
          </a:p>
        </p:txBody>
      </p:sp>
    </p:spTree>
    <p:extLst>
      <p:ext uri="{BB962C8B-B14F-4D97-AF65-F5344CB8AC3E}">
        <p14:creationId xmlns:p14="http://schemas.microsoft.com/office/powerpoint/2010/main" val="469567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Check-out a repos</a:t>
            </a:r>
            <a:endParaRPr lang="en-GB" dirty="0"/>
          </a:p>
        </p:txBody>
      </p:sp>
      <p:sp>
        <p:nvSpPr>
          <p:cNvPr id="3" name="Zástupný symbol pro obsah 2"/>
          <p:cNvSpPr>
            <a:spLocks noGrp="1"/>
          </p:cNvSpPr>
          <p:nvPr>
            <p:ph idx="1"/>
          </p:nvPr>
        </p:nvSpPr>
        <p:spPr/>
        <p:txBody>
          <a:bodyPr/>
          <a:lstStyle/>
          <a:p>
            <a:r>
              <a:rPr lang="cs-CZ" dirty="0" err="1"/>
              <a:t>File</a:t>
            </a:r>
            <a:r>
              <a:rPr lang="cs-CZ" dirty="0"/>
              <a:t> – Clon</a:t>
            </a:r>
            <a:r>
              <a:rPr lang="en-US" dirty="0"/>
              <a:t>e Repository - URL</a:t>
            </a:r>
            <a:endParaRPr lang="cs-CZ" dirty="0"/>
          </a:p>
          <a:p>
            <a:r>
              <a:rPr lang="cs-CZ" dirty="0" err="1"/>
              <a:t>Remember</a:t>
            </a:r>
            <a:r>
              <a:rPr lang="cs-CZ" dirty="0"/>
              <a:t> to </a:t>
            </a:r>
            <a:r>
              <a:rPr lang="cs-CZ" dirty="0" err="1"/>
              <a:t>keep</a:t>
            </a:r>
            <a:r>
              <a:rPr lang="cs-CZ" dirty="0"/>
              <a:t> </a:t>
            </a:r>
            <a:r>
              <a:rPr lang="en-US" dirty="0"/>
              <a:t>your fork </a:t>
            </a:r>
            <a:r>
              <a:rPr lang="cs-CZ" dirty="0"/>
              <a:t>in </a:t>
            </a:r>
            <a:r>
              <a:rPr lang="cs-CZ" dirty="0" err="1"/>
              <a:t>sync</a:t>
            </a:r>
            <a:r>
              <a:rPr lang="cs-CZ" dirty="0"/>
              <a:t>!</a:t>
            </a:r>
          </a:p>
          <a:p>
            <a:r>
              <a:rPr lang="cs-CZ" dirty="0" err="1"/>
              <a:t>Branch</a:t>
            </a:r>
            <a:r>
              <a:rPr lang="cs-CZ" dirty="0"/>
              <a:t> – </a:t>
            </a:r>
            <a:r>
              <a:rPr lang="cs-CZ" dirty="0" err="1"/>
              <a:t>merge</a:t>
            </a:r>
            <a:r>
              <a:rPr lang="cs-CZ" dirty="0"/>
              <a:t> </a:t>
            </a:r>
            <a:r>
              <a:rPr lang="cs-CZ" dirty="0" err="1"/>
              <a:t>into</a:t>
            </a:r>
            <a:r>
              <a:rPr lang="cs-CZ" dirty="0"/>
              <a:t> </a:t>
            </a:r>
            <a:r>
              <a:rPr lang="cs-CZ" dirty="0" err="1"/>
              <a:t>current</a:t>
            </a:r>
            <a:r>
              <a:rPr lang="cs-CZ" dirty="0"/>
              <a:t> – </a:t>
            </a:r>
            <a:r>
              <a:rPr lang="cs-CZ" b="1" dirty="0" err="1"/>
              <a:t>upstream</a:t>
            </a:r>
            <a:r>
              <a:rPr lang="cs-CZ" b="1" dirty="0"/>
              <a:t>/</a:t>
            </a:r>
            <a:r>
              <a:rPr lang="cs-CZ" dirty="0"/>
              <a:t>master</a:t>
            </a:r>
          </a:p>
          <a:p>
            <a:r>
              <a:rPr lang="cs-CZ" dirty="0"/>
              <a:t>… </a:t>
            </a:r>
            <a:r>
              <a:rPr lang="cs-CZ" dirty="0" err="1"/>
              <a:t>or</a:t>
            </a:r>
            <a:endParaRPr lang="en-GB" dirty="0"/>
          </a:p>
        </p:txBody>
      </p:sp>
      <p:pic>
        <p:nvPicPr>
          <p:cNvPr id="5" name="Obrázek 4"/>
          <p:cNvPicPr>
            <a:picLocks noChangeAspect="1"/>
          </p:cNvPicPr>
          <p:nvPr/>
        </p:nvPicPr>
        <p:blipFill>
          <a:blip r:embed="rId2"/>
          <a:stretch>
            <a:fillRect/>
          </a:stretch>
        </p:blipFill>
        <p:spPr>
          <a:xfrm>
            <a:off x="2156602" y="4253261"/>
            <a:ext cx="8428367" cy="2440118"/>
          </a:xfrm>
          <a:prstGeom prst="rect">
            <a:avLst/>
          </a:prstGeom>
        </p:spPr>
      </p:pic>
    </p:spTree>
    <p:extLst>
      <p:ext uri="{BB962C8B-B14F-4D97-AF65-F5344CB8AC3E}">
        <p14:creationId xmlns:p14="http://schemas.microsoft.com/office/powerpoint/2010/main" val="9206366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Beyond the basics</a:t>
            </a:r>
            <a:endParaRPr lang="en-GB" dirty="0"/>
          </a:p>
        </p:txBody>
      </p:sp>
      <p:sp>
        <p:nvSpPr>
          <p:cNvPr id="4" name="Zástupný symbol pro text 3"/>
          <p:cNvSpPr>
            <a:spLocks noGrp="1"/>
          </p:cNvSpPr>
          <p:nvPr>
            <p:ph type="body" idx="1"/>
          </p:nvPr>
        </p:nvSpPr>
        <p:spPr/>
        <p:txBody>
          <a:bodyPr/>
          <a:lstStyle/>
          <a:p>
            <a:endParaRPr lang="en-GB"/>
          </a:p>
        </p:txBody>
      </p:sp>
    </p:spTree>
    <p:extLst>
      <p:ext uri="{BB962C8B-B14F-4D97-AF65-F5344CB8AC3E}">
        <p14:creationId xmlns:p14="http://schemas.microsoft.com/office/powerpoint/2010/main" val="3169088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752C-6A14-B912-158E-9379D7C0909D}"/>
              </a:ext>
            </a:extLst>
          </p:cNvPr>
          <p:cNvSpPr>
            <a:spLocks noGrp="1"/>
          </p:cNvSpPr>
          <p:nvPr>
            <p:ph type="title"/>
          </p:nvPr>
        </p:nvSpPr>
        <p:spPr/>
        <p:txBody>
          <a:bodyPr/>
          <a:lstStyle/>
          <a:p>
            <a:r>
              <a:rPr lang="cs-CZ" dirty="0"/>
              <a:t>Gist</a:t>
            </a:r>
            <a:endParaRPr lang="en-US" dirty="0"/>
          </a:p>
        </p:txBody>
      </p:sp>
      <p:sp>
        <p:nvSpPr>
          <p:cNvPr id="3" name="Content Placeholder 2">
            <a:extLst>
              <a:ext uri="{FF2B5EF4-FFF2-40B4-BE49-F238E27FC236}">
                <a16:creationId xmlns:a16="http://schemas.microsoft.com/office/drawing/2014/main" id="{3C8DA478-A408-7747-A052-1C262C360A43}"/>
              </a:ext>
            </a:extLst>
          </p:cNvPr>
          <p:cNvSpPr>
            <a:spLocks noGrp="1"/>
          </p:cNvSpPr>
          <p:nvPr>
            <p:ph sz="half" idx="1"/>
          </p:nvPr>
        </p:nvSpPr>
        <p:spPr/>
        <p:txBody>
          <a:bodyPr/>
          <a:lstStyle/>
          <a:p>
            <a:r>
              <a:rPr lang="cs-CZ" dirty="0"/>
              <a:t>GitHub service</a:t>
            </a:r>
          </a:p>
          <a:p>
            <a:endParaRPr lang="cs-CZ" dirty="0"/>
          </a:p>
          <a:p>
            <a:r>
              <a:rPr lang="cs-CZ" dirty="0"/>
              <a:t>Fast sharing of code snippets – just send a link</a:t>
            </a:r>
          </a:p>
          <a:p>
            <a:r>
              <a:rPr lang="cs-CZ" dirty="0"/>
              <a:t>Everything is git-versioned</a:t>
            </a:r>
            <a:endParaRPr lang="en-US" dirty="0"/>
          </a:p>
        </p:txBody>
      </p:sp>
      <p:pic>
        <p:nvPicPr>
          <p:cNvPr id="8" name="Content Placeholder 7">
            <a:extLst>
              <a:ext uri="{FF2B5EF4-FFF2-40B4-BE49-F238E27FC236}">
                <a16:creationId xmlns:a16="http://schemas.microsoft.com/office/drawing/2014/main" id="{E50106AB-1357-CB54-93AB-CEFF4DA30066}"/>
              </a:ext>
            </a:extLst>
          </p:cNvPr>
          <p:cNvPicPr>
            <a:picLocks noGrp="1" noChangeAspect="1"/>
          </p:cNvPicPr>
          <p:nvPr>
            <p:ph sz="half" idx="2"/>
          </p:nvPr>
        </p:nvPicPr>
        <p:blipFill>
          <a:blip r:embed="rId2"/>
          <a:stretch>
            <a:fillRect/>
          </a:stretch>
        </p:blipFill>
        <p:spPr>
          <a:xfrm>
            <a:off x="6172200" y="2328158"/>
            <a:ext cx="5181600" cy="3346272"/>
          </a:xfrm>
        </p:spPr>
      </p:pic>
    </p:spTree>
    <p:extLst>
      <p:ext uri="{BB962C8B-B14F-4D97-AF65-F5344CB8AC3E}">
        <p14:creationId xmlns:p14="http://schemas.microsoft.com/office/powerpoint/2010/main" val="11229974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Tags, releases</a:t>
            </a:r>
            <a:endParaRPr lang="en-GB" dirty="0"/>
          </a:p>
        </p:txBody>
      </p:sp>
      <p:sp>
        <p:nvSpPr>
          <p:cNvPr id="3" name="Zástupný symbol pro obsah 2"/>
          <p:cNvSpPr>
            <a:spLocks noGrp="1"/>
          </p:cNvSpPr>
          <p:nvPr>
            <p:ph idx="1"/>
          </p:nvPr>
        </p:nvSpPr>
        <p:spPr/>
        <p:txBody>
          <a:bodyPr/>
          <a:lstStyle/>
          <a:p>
            <a:r>
              <a:rPr lang="en-US" dirty="0"/>
              <a:t>An “immutable” pointers in time</a:t>
            </a:r>
          </a:p>
          <a:p>
            <a:r>
              <a:rPr lang="en-US" dirty="0"/>
              <a:t>You release a paper, </a:t>
            </a:r>
            <a:br>
              <a:rPr lang="en-US" dirty="0"/>
            </a:br>
            <a:r>
              <a:rPr lang="en-US" dirty="0"/>
              <a:t>you submit a thesis – Tag it!</a:t>
            </a:r>
            <a:endParaRPr lang="en-GB" dirty="0"/>
          </a:p>
        </p:txBody>
      </p:sp>
      <p:pic>
        <p:nvPicPr>
          <p:cNvPr id="6" name="Obrázek 5"/>
          <p:cNvPicPr>
            <a:picLocks noChangeAspect="1"/>
          </p:cNvPicPr>
          <p:nvPr/>
        </p:nvPicPr>
        <p:blipFill>
          <a:blip r:embed="rId2"/>
          <a:stretch>
            <a:fillRect/>
          </a:stretch>
        </p:blipFill>
        <p:spPr>
          <a:xfrm>
            <a:off x="0" y="3429000"/>
            <a:ext cx="8124711" cy="5574126"/>
          </a:xfrm>
          <a:prstGeom prst="rect">
            <a:avLst/>
          </a:prstGeom>
        </p:spPr>
      </p:pic>
      <p:pic>
        <p:nvPicPr>
          <p:cNvPr id="4" name="Obrázek 3"/>
          <p:cNvPicPr>
            <a:picLocks noChangeAspect="1"/>
          </p:cNvPicPr>
          <p:nvPr/>
        </p:nvPicPr>
        <p:blipFill>
          <a:blip r:embed="rId3"/>
          <a:stretch>
            <a:fillRect/>
          </a:stretch>
        </p:blipFill>
        <p:spPr>
          <a:xfrm>
            <a:off x="6096000" y="2159422"/>
            <a:ext cx="6096000" cy="4698578"/>
          </a:xfrm>
          <a:prstGeom prst="rect">
            <a:avLst/>
          </a:prstGeom>
        </p:spPr>
      </p:pic>
    </p:spTree>
    <p:extLst>
      <p:ext uri="{BB962C8B-B14F-4D97-AF65-F5344CB8AC3E}">
        <p14:creationId xmlns:p14="http://schemas.microsoft.com/office/powerpoint/2010/main" val="1224354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a:t>
            </a:r>
            <a:endParaRPr lang="en-GB" dirty="0"/>
          </a:p>
        </p:txBody>
      </p:sp>
      <p:sp>
        <p:nvSpPr>
          <p:cNvPr id="3" name="Zástupný symbol pro obsah 2"/>
          <p:cNvSpPr>
            <a:spLocks noGrp="1"/>
          </p:cNvSpPr>
          <p:nvPr>
            <p:ph idx="1"/>
          </p:nvPr>
        </p:nvSpPr>
        <p:spPr/>
        <p:txBody>
          <a:bodyPr/>
          <a:lstStyle/>
          <a:p>
            <a:r>
              <a:rPr lang="en-US" dirty="0"/>
              <a:t>GitHub is more than a source code repository</a:t>
            </a:r>
          </a:p>
          <a:p>
            <a:r>
              <a:rPr lang="en-US" dirty="0"/>
              <a:t>GitHub Desktop allows only basic workflow</a:t>
            </a:r>
          </a:p>
          <a:p>
            <a:r>
              <a:rPr lang="en-US" dirty="0"/>
              <a:t>Some functionality of GitHub Desktop taken over to GitHub web itself</a:t>
            </a:r>
            <a:endParaRPr lang="en-GB" dirty="0"/>
          </a:p>
          <a:p>
            <a:endParaRPr lang="en-GB" dirty="0"/>
          </a:p>
        </p:txBody>
      </p:sp>
    </p:spTree>
    <p:extLst>
      <p:ext uri="{BB962C8B-B14F-4D97-AF65-F5344CB8AC3E}">
        <p14:creationId xmlns:p14="http://schemas.microsoft.com/office/powerpoint/2010/main" val="1164588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Tidy up</a:t>
            </a:r>
            <a:endParaRPr lang="en-GB" dirty="0"/>
          </a:p>
        </p:txBody>
      </p:sp>
      <p:sp>
        <p:nvSpPr>
          <p:cNvPr id="3" name="Zástupný symbol pro obsah 2"/>
          <p:cNvSpPr>
            <a:spLocks noGrp="1"/>
          </p:cNvSpPr>
          <p:nvPr>
            <p:ph idx="1"/>
          </p:nvPr>
        </p:nvSpPr>
        <p:spPr/>
        <p:txBody>
          <a:bodyPr/>
          <a:lstStyle/>
          <a:p>
            <a:r>
              <a:rPr lang="en-US" dirty="0"/>
              <a:t>Squish commits into one</a:t>
            </a:r>
          </a:p>
          <a:p>
            <a:r>
              <a:rPr lang="en-US" dirty="0"/>
              <a:t>Make default (e.g. “main”) branch</a:t>
            </a:r>
          </a:p>
          <a:p>
            <a:r>
              <a:rPr lang="en-US" dirty="0"/>
              <a:t>Add Readme.md</a:t>
            </a:r>
          </a:p>
          <a:p>
            <a:r>
              <a:rPr lang="en-US" dirty="0"/>
              <a:t>Format the .md files with markdown</a:t>
            </a:r>
          </a:p>
          <a:p>
            <a:r>
              <a:rPr lang="en-US" dirty="0"/>
              <a:t>Add a license</a:t>
            </a:r>
          </a:p>
          <a:p>
            <a:r>
              <a:rPr lang="en-US" dirty="0"/>
              <a:t>Maintain .</a:t>
            </a:r>
            <a:r>
              <a:rPr lang="en-US" dirty="0" err="1"/>
              <a:t>gitignore</a:t>
            </a:r>
            <a:endParaRPr lang="en-US" dirty="0"/>
          </a:p>
          <a:p>
            <a:endParaRPr lang="en-GB" dirty="0"/>
          </a:p>
        </p:txBody>
      </p:sp>
    </p:spTree>
    <p:extLst>
      <p:ext uri="{BB962C8B-B14F-4D97-AF65-F5344CB8AC3E}">
        <p14:creationId xmlns:p14="http://schemas.microsoft.com/office/powerpoint/2010/main" val="37330671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err="1"/>
              <a:t>Git</a:t>
            </a:r>
            <a:r>
              <a:rPr lang="en-US" dirty="0"/>
              <a:t> blame</a:t>
            </a:r>
            <a:endParaRPr lang="en-GB" dirty="0"/>
          </a:p>
        </p:txBody>
      </p:sp>
      <p:sp>
        <p:nvSpPr>
          <p:cNvPr id="3" name="Zástupný symbol pro obsah 2"/>
          <p:cNvSpPr>
            <a:spLocks noGrp="1"/>
          </p:cNvSpPr>
          <p:nvPr>
            <p:ph idx="1"/>
          </p:nvPr>
        </p:nvSpPr>
        <p:spPr/>
        <p:txBody>
          <a:bodyPr/>
          <a:lstStyle/>
          <a:p>
            <a:r>
              <a:rPr lang="cs-CZ" dirty="0"/>
              <a:t>Show </a:t>
            </a:r>
            <a:r>
              <a:rPr lang="cs-CZ" dirty="0" err="1"/>
              <a:t>what</a:t>
            </a:r>
            <a:r>
              <a:rPr lang="cs-CZ" dirty="0"/>
              <a:t> line </a:t>
            </a:r>
            <a:r>
              <a:rPr lang="cs-CZ" dirty="0" err="1"/>
              <a:t>comes</a:t>
            </a:r>
            <a:r>
              <a:rPr lang="cs-CZ" dirty="0"/>
              <a:t> </a:t>
            </a:r>
            <a:r>
              <a:rPr lang="cs-CZ" dirty="0" err="1"/>
              <a:t>from</a:t>
            </a:r>
            <a:r>
              <a:rPr lang="cs-CZ" dirty="0"/>
              <a:t> </a:t>
            </a:r>
            <a:r>
              <a:rPr lang="cs-CZ" dirty="0" err="1"/>
              <a:t>which</a:t>
            </a:r>
            <a:r>
              <a:rPr lang="cs-CZ" dirty="0"/>
              <a:t> </a:t>
            </a:r>
            <a:r>
              <a:rPr lang="cs-CZ" dirty="0" err="1"/>
              <a:t>commit</a:t>
            </a:r>
            <a:endParaRPr lang="cs-CZ" dirty="0"/>
          </a:p>
          <a:p>
            <a:endParaRPr lang="cs-CZ" dirty="0"/>
          </a:p>
          <a:p>
            <a:r>
              <a:rPr lang="cs-CZ" dirty="0"/>
              <a:t>Handy </a:t>
            </a:r>
            <a:r>
              <a:rPr lang="cs-CZ" dirty="0" err="1"/>
              <a:t>when</a:t>
            </a:r>
            <a:r>
              <a:rPr lang="cs-CZ" dirty="0"/>
              <a:t> debugging </a:t>
            </a:r>
            <a:r>
              <a:rPr lang="cs-CZ" dirty="0" err="1"/>
              <a:t>history</a:t>
            </a:r>
            <a:endParaRPr lang="cs-CZ" dirty="0"/>
          </a:p>
          <a:p>
            <a:r>
              <a:rPr lang="cs-CZ" dirty="0" err="1"/>
              <a:t>Navigate</a:t>
            </a:r>
            <a:r>
              <a:rPr lang="cs-CZ" dirty="0"/>
              <a:t> to a </a:t>
            </a:r>
            <a:r>
              <a:rPr lang="cs-CZ" dirty="0" err="1"/>
              <a:t>file</a:t>
            </a:r>
            <a:r>
              <a:rPr lang="cs-CZ" dirty="0"/>
              <a:t> in </a:t>
            </a:r>
            <a:r>
              <a:rPr lang="cs-CZ" dirty="0" err="1"/>
              <a:t>GitHub</a:t>
            </a:r>
            <a:r>
              <a:rPr lang="cs-CZ" dirty="0"/>
              <a:t>, </a:t>
            </a:r>
            <a:r>
              <a:rPr lang="cs-CZ" dirty="0" err="1"/>
              <a:t>select</a:t>
            </a:r>
            <a:r>
              <a:rPr lang="cs-CZ" dirty="0"/>
              <a:t> </a:t>
            </a:r>
            <a:r>
              <a:rPr lang="cs-CZ" dirty="0" err="1"/>
              <a:t>blame</a:t>
            </a:r>
            <a:endParaRPr lang="en-GB" dirty="0"/>
          </a:p>
        </p:txBody>
      </p:sp>
      <p:pic>
        <p:nvPicPr>
          <p:cNvPr id="4" name="Obrázek 3"/>
          <p:cNvPicPr>
            <a:picLocks noChangeAspect="1"/>
          </p:cNvPicPr>
          <p:nvPr/>
        </p:nvPicPr>
        <p:blipFill>
          <a:blip r:embed="rId2"/>
          <a:stretch>
            <a:fillRect/>
          </a:stretch>
        </p:blipFill>
        <p:spPr>
          <a:xfrm>
            <a:off x="1912689" y="3869791"/>
            <a:ext cx="8090527" cy="2988209"/>
          </a:xfrm>
          <a:prstGeom prst="rect">
            <a:avLst/>
          </a:prstGeom>
        </p:spPr>
      </p:pic>
    </p:spTree>
    <p:extLst>
      <p:ext uri="{BB962C8B-B14F-4D97-AF65-F5344CB8AC3E}">
        <p14:creationId xmlns:p14="http://schemas.microsoft.com/office/powerpoint/2010/main" val="2529789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t>Reflog — your safety net</a:t>
            </a:r>
            <a:endParaRPr lang="en-GB" dirty="0"/>
          </a:p>
        </p:txBody>
      </p:sp>
      <p:sp>
        <p:nvSpPr>
          <p:cNvPr id="3" name="Zástupný symbol pro obsah 2"/>
          <p:cNvSpPr>
            <a:spLocks noGrp="1"/>
          </p:cNvSpPr>
          <p:nvPr>
            <p:ph idx="1"/>
          </p:nvPr>
        </p:nvSpPr>
        <p:spPr/>
        <p:txBody>
          <a:bodyPr wrap="square">
            <a:normAutofit/>
          </a:bodyPr>
          <a:lstStyle/>
          <a:p>
            <a:pPr/>
            <a:r>
              <a:rPr sz="1600">
                <a:latin typeface="Consolas"/>
              </a:rPr>
              <a:t>git reflog</a:t>
            </a:r>
            <a:r>
              <a:rPr sz="1600"/>
              <a:t> lists </a:t>
            </a:r>
            <a:r>
              <a:rPr b="1" sz="1600"/>
              <a:t>every commit HEAD has pointed at</a:t>
            </a:r>
            <a:r>
              <a:rPr sz="1600"/>
              <a:t> on your machine, ~90 days back</a:t>
            </a:r>
          </a:p>
          <a:p>
            <a:pPr>
              <a:defRPr sz="700"/>
            </a:pPr>
          </a:p>
          <a:p>
            <a:pPr/>
            <a:r>
              <a:rPr sz="1600"/>
              <a:t>It is how you come back from a bad </a:t>
            </a:r>
            <a:r>
              <a:rPr sz="1600">
                <a:latin typeface="Consolas"/>
              </a:rPr>
              <a:t>reset</a:t>
            </a:r>
            <a:r>
              <a:rPr sz="1600"/>
              <a:t>, a deleted branch, a botched rebase</a:t>
            </a:r>
          </a:p>
          <a:p>
            <a:pPr lvl="1"/>
            <a:r>
              <a:rPr sz="1500"/>
              <a:t>Find the hash of the last good state, then </a:t>
            </a:r>
            <a:r>
              <a:rPr sz="1500">
                <a:latin typeface="Consolas"/>
              </a:rPr>
              <a:t>git switch -c rescue &lt;hash&gt;</a:t>
            </a:r>
          </a:p>
          <a:p>
            <a:pPr>
              <a:defRPr sz="700"/>
            </a:pPr>
          </a:p>
          <a:p>
            <a:pPr/>
            <a:r>
              <a:rPr b="1" sz="1600"/>
              <a:t>It is local.</a:t>
            </a:r>
            <a:r>
              <a:rPr sz="1600"/>
              <a:t> Not on GitHub, not shared, and it works exactly the same for private repositories as for public ones.</a:t>
            </a:r>
          </a:p>
          <a:p>
            <a:pPr>
              <a:defRPr sz="700"/>
            </a:pPr>
          </a:p>
          <a:p>
            <a:pPr/>
            <a:r>
              <a:rPr sz="1600"/>
              <a:t>Not to be confused with GitHub's </a:t>
            </a:r>
            <a:r>
              <a:rPr b="1" sz="1600"/>
              <a:t>/network</a:t>
            </a:r>
            <a:r>
              <a:rPr sz="1600"/>
              <a:t> graph, which draws the forks and branches of a </a:t>
            </a:r>
            <a:r>
              <a:rPr i="1" sz="1600"/>
              <a:t>public</a:t>
            </a:r>
            <a:r>
              <a:rPr sz="1600"/>
              <a:t> repository — a different thing entirely.</a:t>
            </a:r>
          </a:p>
          <a:p>
            <a:pPr>
              <a:defRPr sz="700"/>
            </a:pPr>
          </a:p>
          <a:p>
            <a:pPr/>
            <a:r>
              <a:rPr sz="1600"/>
              <a:t>GitHub Desktop has no reflog button. This one needs the command line.</a:t>
            </a:r>
          </a:p>
        </p:txBody>
      </p:sp>
      <p:pic>
        <p:nvPicPr>
          <p:cNvPr id="4" name="Obrázek 3"/>
          <p:cNvPicPr>
            <a:picLocks noChangeAspect="1"/>
          </p:cNvPicPr>
          <p:nvPr/>
        </p:nvPicPr>
        <p:blipFill>
          <a:blip r:embed="rId2"/>
          <a:stretch>
            <a:fillRect/>
          </a:stretch>
        </p:blipFill>
        <p:spPr>
          <a:xfrm>
            <a:off x="713065" y="2989263"/>
            <a:ext cx="8469254" cy="3652108"/>
          </a:xfrm>
          <a:prstGeom prst="rect">
            <a:avLst/>
          </a:prstGeom>
        </p:spPr>
      </p:pic>
      <p:pic>
        <p:nvPicPr>
          <p:cNvPr id="5" name="Obrázek 4"/>
          <p:cNvPicPr>
            <a:picLocks noChangeAspect="1"/>
          </p:cNvPicPr>
          <p:nvPr/>
        </p:nvPicPr>
        <p:blipFill>
          <a:blip r:embed="rId3"/>
          <a:stretch>
            <a:fillRect/>
          </a:stretch>
        </p:blipFill>
        <p:spPr>
          <a:xfrm>
            <a:off x="8211107" y="62685"/>
            <a:ext cx="3884234" cy="1930441"/>
          </a:xfrm>
          <a:prstGeom prst="rect">
            <a:avLst/>
          </a:prstGeom>
        </p:spPr>
      </p:pic>
    </p:spTree>
    <p:extLst>
      <p:ext uri="{BB962C8B-B14F-4D97-AF65-F5344CB8AC3E}">
        <p14:creationId xmlns:p14="http://schemas.microsoft.com/office/powerpoint/2010/main" val="169843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GitHub pages</a:t>
            </a:r>
            <a:endParaRPr lang="en-GB" dirty="0"/>
          </a:p>
        </p:txBody>
      </p:sp>
      <p:sp>
        <p:nvSpPr>
          <p:cNvPr id="3" name="Zástupný symbol pro obsah 2"/>
          <p:cNvSpPr>
            <a:spLocks noGrp="1"/>
          </p:cNvSpPr>
          <p:nvPr>
            <p:ph idx="1"/>
          </p:nvPr>
        </p:nvSpPr>
        <p:spPr/>
        <p:txBody>
          <a:bodyPr/>
          <a:lstStyle/>
          <a:p>
            <a:r>
              <a:rPr lang="en-US" dirty="0"/>
              <a:t>Free hosting</a:t>
            </a:r>
          </a:p>
          <a:p>
            <a:r>
              <a:rPr lang="en-US" dirty="0"/>
              <a:t>Based on static pages, generated on each commit</a:t>
            </a:r>
            <a:endParaRPr lang="cs-CZ" dirty="0"/>
          </a:p>
          <a:p>
            <a:r>
              <a:rPr lang="cs-CZ" dirty="0" err="1"/>
              <a:t>E.g</a:t>
            </a:r>
            <a:r>
              <a:rPr lang="cs-CZ" dirty="0"/>
              <a:t>. </a:t>
            </a:r>
            <a:r>
              <a:rPr lang="cs-CZ" dirty="0">
                <a:hlinkClick r:id="rId2"/>
              </a:rPr>
              <a:t>https://filip-jezek.github.io/</a:t>
            </a:r>
            <a:r>
              <a:rPr lang="cs-CZ" dirty="0"/>
              <a:t> </a:t>
            </a:r>
            <a:endParaRPr lang="en-GB" dirty="0"/>
          </a:p>
        </p:txBody>
      </p:sp>
    </p:spTree>
    <p:extLst>
      <p:ext uri="{BB962C8B-B14F-4D97-AF65-F5344CB8AC3E}">
        <p14:creationId xmlns:p14="http://schemas.microsoft.com/office/powerpoint/2010/main" val="7976441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More resources</a:t>
            </a:r>
            <a:endParaRPr lang="en-GB" dirty="0"/>
          </a:p>
        </p:txBody>
      </p:sp>
      <p:sp>
        <p:nvSpPr>
          <p:cNvPr id="4" name="Zástupný symbol pro obsah 3"/>
          <p:cNvSpPr>
            <a:spLocks noGrp="1"/>
          </p:cNvSpPr>
          <p:nvPr>
            <p:ph idx="1"/>
          </p:nvPr>
        </p:nvSpPr>
        <p:spPr/>
        <p:txBody>
          <a:bodyPr/>
          <a:lstStyle/>
          <a:p>
            <a:r>
              <a:rPr lang="en-GB" dirty="0">
                <a:hlinkClick r:id="rId2"/>
              </a:rPr>
              <a:t>https://www.coursera.org/learn/introduction-git-github</a:t>
            </a:r>
            <a:endParaRPr lang="en-GB" dirty="0"/>
          </a:p>
          <a:p>
            <a:pPr lvl="1"/>
            <a:r>
              <a:rPr lang="en-US" dirty="0"/>
              <a:t>A free in-depth GitHub course, provided by Google</a:t>
            </a:r>
          </a:p>
          <a:p>
            <a:r>
              <a:rPr lang="en-GB" dirty="0">
                <a:hlinkClick r:id="rId3"/>
              </a:rPr>
              <a:t>https://git-scm.com/book/en/v2</a:t>
            </a:r>
            <a:r>
              <a:rPr lang="en-GB" dirty="0"/>
              <a:t> </a:t>
            </a:r>
          </a:p>
          <a:p>
            <a:pPr lvl="1"/>
            <a:r>
              <a:rPr lang="en-US" dirty="0"/>
              <a:t>Beginner to expert guide</a:t>
            </a:r>
          </a:p>
          <a:p>
            <a:r>
              <a:rPr lang="en-US" dirty="0">
                <a:hlinkClick r:id="rId4"/>
              </a:rPr>
              <a:t>https://docs.github.com/en/desktop</a:t>
            </a:r>
            <a:endParaRPr lang="en-US" dirty="0"/>
          </a:p>
          <a:p>
            <a:pPr lvl="1"/>
            <a:r>
              <a:rPr lang="en-US" dirty="0"/>
              <a:t>GitHub Desktop documentation</a:t>
            </a:r>
          </a:p>
          <a:p>
            <a:r>
              <a:rPr lang="en-GB" dirty="0">
                <a:hlinkClick r:id="rId5"/>
              </a:rPr>
              <a:t>https://docs.github.com/en</a:t>
            </a:r>
            <a:r>
              <a:rPr lang="en-GB" dirty="0"/>
              <a:t> </a:t>
            </a:r>
          </a:p>
          <a:p>
            <a:pPr lvl="1"/>
            <a:r>
              <a:rPr lang="en-US" dirty="0"/>
              <a:t>GitHub docs</a:t>
            </a:r>
            <a:endParaRPr lang="en-GB" dirty="0"/>
          </a:p>
          <a:p>
            <a:endParaRPr lang="en-US" dirty="0"/>
          </a:p>
          <a:p>
            <a:endParaRPr lang="en-GB" dirty="0"/>
          </a:p>
        </p:txBody>
      </p:sp>
    </p:spTree>
    <p:extLst>
      <p:ext uri="{BB962C8B-B14F-4D97-AF65-F5344CB8AC3E}">
        <p14:creationId xmlns:p14="http://schemas.microsoft.com/office/powerpoint/2010/main" val="918256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FF565-6144-3CDB-7ABA-8E9D62ED01FD}"/>
              </a:ext>
            </a:extLst>
          </p:cNvPr>
          <p:cNvSpPr>
            <a:spLocks noGrp="1"/>
          </p:cNvSpPr>
          <p:nvPr>
            <p:ph type="title"/>
          </p:nvPr>
        </p:nvSpPr>
        <p:spPr>
          <a:xfrm>
            <a:off x="822960" y="640080"/>
            <a:ext cx="10515600" cy="2194560"/>
          </a:xfrm>
        </p:spPr>
        <p:txBody>
          <a:bodyPr/>
          <a:lstStyle/>
          <a:p>
            <a:r>
              <a:t>QA — questions from previous years</a:t>
            </a:r>
            <a:endParaRPr lang="en-US" dirty="0"/>
          </a:p>
        </p:txBody>
      </p:sp>
      <p:sp>
        <p:nvSpPr>
          <p:cNvPr id="3" name="Content Placeholder 2">
            <a:extLst>
              <a:ext uri="{FF2B5EF4-FFF2-40B4-BE49-F238E27FC236}">
                <a16:creationId xmlns:a16="http://schemas.microsoft.com/office/drawing/2014/main" id="{C487E66B-B5A3-D450-6AF9-006BBAA7F06A}"/>
              </a:ext>
            </a:extLst>
          </p:cNvPr>
          <p:cNvSpPr>
            <a:spLocks noGrp="1"/>
          </p:cNvSpPr>
          <p:nvPr>
            <p:ph type="body" idx="1"/>
          </p:nvPr>
        </p:nvSpPr>
        <p:spPr>
          <a:xfrm>
            <a:off x="822960" y="3291840"/>
            <a:ext cx="10515600" cy="3017520"/>
          </a:xfrm>
        </p:spPr>
        <p:txBody>
          <a:bodyPr wrap="square">
            <a:noAutofit/>
          </a:bodyPr>
          <a:lstStyle/>
          <a:p>
            <a:pPr/>
            <a:r>
              <a:rPr sz="1400">
                <a:solidFill>
                  <a:srgbClr val="000000"/>
                </a:solidFill>
              </a:rPr>
              <a:t>Everything from here on is </a:t>
            </a:r>
            <a:r>
              <a:rPr b="1" sz="1400">
                <a:solidFill>
                  <a:srgbClr val="000000"/>
                </a:solidFill>
              </a:rPr>
              <a:t>reference, not lecture</a:t>
            </a:r>
            <a:r>
              <a:rPr sz="1400">
                <a:solidFill>
                  <a:srgbClr val="000000"/>
                </a:solidFill>
              </a:rPr>
              <a:t>.</a:t>
            </a:r>
          </a:p>
          <a:p>
            <a:pPr>
              <a:defRPr sz="700"/>
            </a:pPr>
          </a:p>
          <a:p>
            <a:pPr/>
            <a:r>
              <a:rPr sz="1400">
                <a:solidFill>
                  <a:srgbClr val="000000"/>
                </a:solidFill>
              </a:rPr>
              <a:t>Real questions asked by students in earlier runs of this class, with the answers.</a:t>
            </a:r>
          </a:p>
          <a:p>
            <a:pPr lvl="1"/>
            <a:r>
              <a:rPr sz="1300">
                <a:solidFill>
                  <a:srgbClr val="000000"/>
                </a:solidFill>
              </a:rPr>
              <a:t>Merging and conflicts · branching · tooling · GitHub · .gitignore · pull requests · publishing · repository size</a:t>
            </a:r>
          </a:p>
          <a:p>
            <a:pPr>
              <a:defRPr sz="700"/>
            </a:pPr>
          </a:p>
          <a:p>
            <a:pPr/>
            <a:r>
              <a:rPr b="1" sz="1400">
                <a:solidFill>
                  <a:srgbClr val="000000"/>
                </a:solidFill>
              </a:rPr>
              <a:t>Read it as homework.</a:t>
            </a:r>
            <a:r>
              <a:rPr sz="1400">
                <a:solidFill>
                  <a:srgbClr val="000000"/>
                </a:solidFill>
              </a:rPr>
              <a:t> If your question is not here, ask it — it goes on next year's slides.</a:t>
            </a:r>
          </a:p>
          <a:p>
            <a:pPr>
              <a:defRPr sz="700"/>
            </a:pPr>
          </a:p>
          <a:p>
            <a:pPr/>
            <a:r>
              <a:rPr sz="1400">
                <a:solidFill>
                  <a:srgbClr val="000000"/>
                </a:solidFill>
              </a:rPr>
              <a:t>“Something I like about GitHub is that it tracks the history of changes made well.</a:t>
            </a:r>
          </a:p>
          <a:p>
            <a:pPr/>
            <a:r>
              <a:rPr sz="1400">
                <a:solidFill>
                  <a:srgbClr val="000000"/>
                </a:solidFill>
              </a:rPr>
              <a:t>Something I dislike is that I don't know what I'm doing.”</a:t>
            </a:r>
          </a:p>
          <a:p>
            <a:pPr lvl="1"/>
            <a:r>
              <a:rPr sz="1300">
                <a:solidFill>
                  <a:srgbClr val="000000"/>
                </a:solidFill>
              </a:rPr>
              <a:t>— undisclosed participant, and the honest starting point for everybody</a:t>
            </a:r>
          </a:p>
        </p:txBody>
      </p:sp>
    </p:spTree>
    <p:extLst>
      <p:ext uri="{BB962C8B-B14F-4D97-AF65-F5344CB8AC3E}">
        <p14:creationId xmlns:p14="http://schemas.microsoft.com/office/powerpoint/2010/main" val="25036957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Hidden message</a:t>
            </a:r>
            <a:endParaRPr lang="en-GB" dirty="0"/>
          </a:p>
        </p:txBody>
      </p:sp>
      <p:sp>
        <p:nvSpPr>
          <p:cNvPr id="3" name="Zástupný symbol pro obsah 2"/>
          <p:cNvSpPr>
            <a:spLocks noGrp="1"/>
          </p:cNvSpPr>
          <p:nvPr>
            <p:ph idx="1"/>
          </p:nvPr>
        </p:nvSpPr>
        <p:spPr>
          <a:xfrm>
            <a:off x="838200" y="1825625"/>
            <a:ext cx="3782786" cy="4351338"/>
          </a:xfrm>
        </p:spPr>
        <p:txBody>
          <a:bodyPr>
            <a:normAutofit/>
          </a:bodyPr>
          <a:lstStyle/>
          <a:p>
            <a:r>
              <a:rPr lang="en-US" dirty="0"/>
              <a:t>See commit history or file blame</a:t>
            </a:r>
          </a:p>
          <a:p>
            <a:endParaRPr lang="en-US" dirty="0"/>
          </a:p>
          <a:p>
            <a:r>
              <a:rPr lang="en-US" dirty="0"/>
              <a:t>Takeaway: Everything that you commit and push CAN be found.</a:t>
            </a:r>
          </a:p>
          <a:p>
            <a:r>
              <a:rPr lang="en-US" dirty="0"/>
              <a:t>No need to be afraid of mistakes; </a:t>
            </a:r>
            <a:br>
              <a:rPr lang="en-US" dirty="0"/>
            </a:br>
            <a:r>
              <a:rPr lang="en-US" dirty="0"/>
              <a:t>but be careful with any secret / private data!</a:t>
            </a:r>
            <a:endParaRPr lang="en-GB" dirty="0"/>
          </a:p>
        </p:txBody>
      </p:sp>
      <p:pic>
        <p:nvPicPr>
          <p:cNvPr id="4" name="Obrázek 3"/>
          <p:cNvPicPr>
            <a:picLocks noChangeAspect="1"/>
          </p:cNvPicPr>
          <p:nvPr/>
        </p:nvPicPr>
        <p:blipFill>
          <a:blip r:embed="rId2"/>
          <a:stretch>
            <a:fillRect/>
          </a:stretch>
        </p:blipFill>
        <p:spPr>
          <a:xfrm>
            <a:off x="6083576" y="2686049"/>
            <a:ext cx="6108424" cy="4082143"/>
          </a:xfrm>
          <a:prstGeom prst="rect">
            <a:avLst/>
          </a:prstGeom>
        </p:spPr>
      </p:pic>
    </p:spTree>
    <p:extLst>
      <p:ext uri="{BB962C8B-B14F-4D97-AF65-F5344CB8AC3E}">
        <p14:creationId xmlns:p14="http://schemas.microsoft.com/office/powerpoint/2010/main" val="1334755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Merging and Conflicts</a:t>
            </a:r>
            <a:endParaRPr lang="en-GB" dirty="0"/>
          </a:p>
        </p:txBody>
      </p:sp>
      <p:sp>
        <p:nvSpPr>
          <p:cNvPr id="3" name="Zástupný symbol pro obsah 2"/>
          <p:cNvSpPr>
            <a:spLocks noGrp="1"/>
          </p:cNvSpPr>
          <p:nvPr>
            <p:ph idx="1"/>
          </p:nvPr>
        </p:nvSpPr>
        <p:spPr>
          <a:xfrm>
            <a:off x="838200" y="1825625"/>
            <a:ext cx="10515600" cy="4907684"/>
          </a:xfrm>
        </p:spPr>
        <p:txBody>
          <a:bodyPr>
            <a:normAutofit fontScale="47500" lnSpcReduction="20000"/>
          </a:bodyPr>
          <a:lstStyle/>
          <a:p>
            <a:r>
              <a:rPr lang="en-US" dirty="0"/>
              <a:t>If you make a branch and are working on adding a section of code in the middle of your original code and you want to merge, will you have a merge error? Or is there a way to shift down lines of you original code? That way your new code will be inserted in the proper location without replacing any original code.</a:t>
            </a:r>
          </a:p>
          <a:p>
            <a:pPr lvl="1"/>
            <a:r>
              <a:rPr lang="en-US" dirty="0"/>
              <a:t>I was demonstrating just an edge case, where we were editing the same line, thus the </a:t>
            </a:r>
            <a:r>
              <a:rPr lang="en-US" dirty="0" err="1"/>
              <a:t>Git</a:t>
            </a:r>
            <a:r>
              <a:rPr lang="en-US" dirty="0"/>
              <a:t> cant really decide what is better. But for a simple additions </a:t>
            </a:r>
            <a:r>
              <a:rPr lang="en-US" dirty="0" err="1"/>
              <a:t>inbetween</a:t>
            </a:r>
            <a:r>
              <a:rPr lang="en-US" dirty="0"/>
              <a:t> existing codes, the </a:t>
            </a:r>
            <a:r>
              <a:rPr lang="en-US" dirty="0" err="1"/>
              <a:t>Git</a:t>
            </a:r>
            <a:r>
              <a:rPr lang="en-US" dirty="0"/>
              <a:t> merges automatically.</a:t>
            </a:r>
          </a:p>
          <a:p>
            <a:r>
              <a:rPr lang="en-US" dirty="0"/>
              <a:t>sometimes it shows ”conflict” and couldn’t merge. What kind of things are conflicted to each other?</a:t>
            </a:r>
          </a:p>
          <a:p>
            <a:pPr lvl="1"/>
            <a:r>
              <a:rPr lang="en-US" dirty="0"/>
              <a:t>Conflict may happen during merging branches, when it can't be resolved automatically, that is when the same line has been edited on both branches and </a:t>
            </a:r>
            <a:r>
              <a:rPr lang="en-US" dirty="0" err="1"/>
              <a:t>Git</a:t>
            </a:r>
            <a:r>
              <a:rPr lang="en-US" dirty="0"/>
              <a:t> can't decide what should be kept. Otherwise all simple additions and deletes are applied (merged automatically). When files are conflicted, we have to resolve the conflicts before </a:t>
            </a:r>
            <a:r>
              <a:rPr lang="en-US" dirty="0" err="1"/>
              <a:t>copmleting</a:t>
            </a:r>
            <a:r>
              <a:rPr lang="en-US" dirty="0"/>
              <a:t> the merge. So, you could merge conflicts, you just have to oversee the operation and help the </a:t>
            </a:r>
            <a:r>
              <a:rPr lang="en-US" dirty="0" err="1"/>
              <a:t>Git</a:t>
            </a:r>
            <a:r>
              <a:rPr lang="en-US" dirty="0"/>
              <a:t> a bit.</a:t>
            </a:r>
          </a:p>
          <a:p>
            <a:r>
              <a:rPr lang="en-US" dirty="0"/>
              <a:t>Is there a way to make sure that no one else is working on the same file as you to avoid a merge error?</a:t>
            </a:r>
          </a:p>
          <a:p>
            <a:pPr lvl="1"/>
            <a:r>
              <a:rPr lang="en-US" dirty="0"/>
              <a:t>No tools will ever eradicate the need to communicate within the team.</a:t>
            </a:r>
          </a:p>
          <a:p>
            <a:pPr lvl="2"/>
            <a:r>
              <a:rPr lang="en-US" dirty="0"/>
              <a:t>make sure you commit and push as often as possible. Thus, your </a:t>
            </a:r>
            <a:r>
              <a:rPr lang="en-US" dirty="0" err="1"/>
              <a:t>collague</a:t>
            </a:r>
            <a:r>
              <a:rPr lang="en-US" dirty="0"/>
              <a:t> would have a most up-to date version, avoiding conflicts.</a:t>
            </a:r>
          </a:p>
          <a:p>
            <a:pPr lvl="2"/>
            <a:r>
              <a:rPr lang="en-US" dirty="0"/>
              <a:t>Split up the work, so it is not probable to overlap and finally,</a:t>
            </a:r>
          </a:p>
          <a:p>
            <a:pPr lvl="2"/>
            <a:r>
              <a:rPr lang="en-US" dirty="0"/>
              <a:t>do not be afraid of conflicts</a:t>
            </a:r>
          </a:p>
          <a:p>
            <a:r>
              <a:rPr lang="en-US" b="1" i="0" dirty="0">
                <a:solidFill>
                  <a:srgbClr val="333333"/>
                </a:solidFill>
                <a:effectLst/>
                <a:latin typeface="revert"/>
              </a:rPr>
              <a:t>Can you merge repositories? Would duplicated file names (such as a readme file) cause conflict if you can merge repositories?</a:t>
            </a:r>
          </a:p>
          <a:p>
            <a:pPr lvl="1"/>
            <a:r>
              <a:rPr lang="en-US" dirty="0">
                <a:solidFill>
                  <a:srgbClr val="333333"/>
                </a:solidFill>
                <a:latin typeface="revert"/>
              </a:rPr>
              <a:t>They could merge if they had same parent at some point (e.g. fork). From that point, same files would cause conflicts.</a:t>
            </a:r>
          </a:p>
          <a:p>
            <a:pPr lvl="1"/>
            <a:r>
              <a:rPr lang="en-US" dirty="0">
                <a:solidFill>
                  <a:srgbClr val="333333"/>
                </a:solidFill>
                <a:latin typeface="revert"/>
              </a:rPr>
              <a:t>But it would be easier to just add the files to one of them and resolve manually. KISS!</a:t>
            </a:r>
          </a:p>
          <a:p>
            <a:r>
              <a:rPr lang="en-US" b="1" i="0" dirty="0">
                <a:solidFill>
                  <a:srgbClr val="333333"/>
                </a:solidFill>
                <a:effectLst/>
                <a:latin typeface="revert"/>
              </a:rPr>
              <a:t>Is it possible to unmerge branches after the merged branches have been pushed?</a:t>
            </a:r>
          </a:p>
          <a:p>
            <a:pPr lvl="1"/>
            <a:r>
              <a:rPr lang="en-US" dirty="0">
                <a:solidFill>
                  <a:srgbClr val="333333"/>
                </a:solidFill>
                <a:latin typeface="revert"/>
              </a:rPr>
              <a:t>You can revert the Merge commit – this will revert the changes, but the branches are already merged. You can still switch to the other branch and continue there or start AGAIN from the point BEFORE you merged.</a:t>
            </a:r>
            <a:endParaRPr lang="en-US" i="0" dirty="0">
              <a:solidFill>
                <a:srgbClr val="333333"/>
              </a:solidFill>
              <a:effectLst/>
              <a:latin typeface="revert"/>
            </a:endParaRPr>
          </a:p>
          <a:p>
            <a:pPr lvl="0"/>
            <a:r>
              <a:rPr lang="en-US" dirty="0"/>
              <a:t>When we resolved the merge conflict, we manually deleted the conflict markers. In a more complex conflict, such as source code or data files, where correct resolutions may not be as obvious, is there a faster way to just accept all the changes from one branch and ignore the other, without having to manually delete the conflict markers?</a:t>
            </a:r>
            <a:endParaRPr lang="cs-CZ" dirty="0"/>
          </a:p>
          <a:p>
            <a:pPr lvl="1"/>
            <a:r>
              <a:rPr lang="en-US" dirty="0"/>
              <a:t>First, you do not have conflicts in data files – its usually not changing. Binary files can not be tracked line by line, just as a whole – so you need to choose either one. </a:t>
            </a:r>
            <a:r>
              <a:rPr lang="cs-CZ" dirty="0"/>
              <a:t>Some other tools (command line, tortoiseGit) can </a:t>
            </a:r>
            <a:r>
              <a:rPr lang="cs-CZ" i="1" dirty="0"/>
              <a:t>Resolve using mine</a:t>
            </a:r>
            <a:r>
              <a:rPr lang="cs-CZ" dirty="0"/>
              <a:t> / </a:t>
            </a:r>
            <a:r>
              <a:rPr lang="cs-CZ" i="1" dirty="0"/>
              <a:t>resolve using theirs</a:t>
            </a:r>
            <a:r>
              <a:rPr lang="cs-CZ" dirty="0"/>
              <a:t>. </a:t>
            </a:r>
            <a:r>
              <a:rPr lang="en-US" dirty="0"/>
              <a:t> </a:t>
            </a:r>
            <a:r>
              <a:rPr lang="cs-CZ" dirty="0"/>
              <a:t>Don</a:t>
            </a:r>
            <a:r>
              <a:rPr lang="en-US" dirty="0"/>
              <a:t>’t overuse branches, keep yourself updated regularly from your </a:t>
            </a:r>
            <a:r>
              <a:rPr lang="en-US" i="1" dirty="0"/>
              <a:t>origin</a:t>
            </a:r>
            <a:r>
              <a:rPr lang="en-US" dirty="0"/>
              <a:t> and you wont run into such problems.</a:t>
            </a:r>
          </a:p>
        </p:txBody>
      </p:sp>
    </p:spTree>
    <p:extLst>
      <p:ext uri="{BB962C8B-B14F-4D97-AF65-F5344CB8AC3E}">
        <p14:creationId xmlns:p14="http://schemas.microsoft.com/office/powerpoint/2010/main" val="26910405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F22D2-E198-0B7C-D98A-05B9DE73791D}"/>
              </a:ext>
            </a:extLst>
          </p:cNvPr>
          <p:cNvSpPr>
            <a:spLocks noGrp="1"/>
          </p:cNvSpPr>
          <p:nvPr>
            <p:ph type="title"/>
          </p:nvPr>
        </p:nvSpPr>
        <p:spPr/>
        <p:txBody>
          <a:bodyPr/>
          <a:lstStyle/>
          <a:p>
            <a:pPr lvl="0"/>
            <a:r>
              <a:rPr lang="cs-CZ" dirty="0"/>
              <a:t>Branching</a:t>
            </a:r>
            <a:endParaRPr lang="en-US" dirty="0"/>
          </a:p>
        </p:txBody>
      </p:sp>
      <p:sp>
        <p:nvSpPr>
          <p:cNvPr id="3" name="Content Placeholder 2">
            <a:extLst>
              <a:ext uri="{FF2B5EF4-FFF2-40B4-BE49-F238E27FC236}">
                <a16:creationId xmlns:a16="http://schemas.microsoft.com/office/drawing/2014/main" id="{E1F711A9-BA1F-70D9-1BD7-8F57F20E0021}"/>
              </a:ext>
            </a:extLst>
          </p:cNvPr>
          <p:cNvSpPr>
            <a:spLocks noGrp="1"/>
          </p:cNvSpPr>
          <p:nvPr>
            <p:ph idx="1"/>
          </p:nvPr>
        </p:nvSpPr>
        <p:spPr/>
        <p:txBody>
          <a:bodyPr>
            <a:normAutofit fontScale="92500"/>
          </a:bodyPr>
          <a:lstStyle/>
          <a:p>
            <a:pPr lvl="0"/>
            <a:r>
              <a:rPr lang="en-US" dirty="0"/>
              <a:t>How do I know when I should make a new branch instead of just committing to the main one?</a:t>
            </a:r>
            <a:endParaRPr lang="cs-CZ" dirty="0"/>
          </a:p>
          <a:p>
            <a:pPr lvl="1"/>
            <a:r>
              <a:rPr lang="cs-CZ" dirty="0"/>
              <a:t>If you want to mess around with your project, experiment, do something you might regret later... make a branch. If you go on with your project, just use the main. Typically, one person is working on new feature, while the other one is redoing the very core of the project – each can work separately. Once the core is redone, its merging time. Not very common in school projects. Keep it simple.</a:t>
            </a:r>
          </a:p>
          <a:p>
            <a:pPr lvl="0"/>
            <a:r>
              <a:rPr lang="en-US" dirty="0"/>
              <a:t>What are the best practices for organizing branches in a collaborative project?</a:t>
            </a:r>
            <a:endParaRPr lang="cs-CZ" dirty="0"/>
          </a:p>
          <a:p>
            <a:pPr lvl="1"/>
            <a:r>
              <a:rPr lang="cs-CZ" dirty="0"/>
              <a:t>This is not a trivial one. Mainly, use </a:t>
            </a:r>
            <a:r>
              <a:rPr lang="cs-CZ" i="1" dirty="0"/>
              <a:t>main </a:t>
            </a:r>
            <a:r>
              <a:rPr lang="cs-CZ" dirty="0"/>
              <a:t>branch for production and </a:t>
            </a:r>
            <a:r>
              <a:rPr lang="cs-CZ" i="1" dirty="0"/>
              <a:t>dev</a:t>
            </a:r>
            <a:r>
              <a:rPr lang="cs-CZ" dirty="0"/>
              <a:t> branch for new, unstable development. You *can* utilize separate branches for new features being developed – consider in a larger team. Keep it simple.</a:t>
            </a:r>
            <a:endParaRPr lang="cs-CZ" i="1" dirty="0"/>
          </a:p>
        </p:txBody>
      </p:sp>
    </p:spTree>
    <p:extLst>
      <p:ext uri="{BB962C8B-B14F-4D97-AF65-F5344CB8AC3E}">
        <p14:creationId xmlns:p14="http://schemas.microsoft.com/office/powerpoint/2010/main" val="15897421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adpis 5"/>
          <p:cNvSpPr>
            <a:spLocks noGrp="1"/>
          </p:cNvSpPr>
          <p:nvPr>
            <p:ph type="title"/>
          </p:nvPr>
        </p:nvSpPr>
        <p:spPr/>
        <p:txBody>
          <a:bodyPr/>
          <a:lstStyle/>
          <a:p>
            <a:r>
              <a:rPr lang="en-US" dirty="0" err="1"/>
              <a:t>Git</a:t>
            </a:r>
            <a:r>
              <a:rPr lang="en-US" dirty="0"/>
              <a:t> tooling</a:t>
            </a:r>
            <a:endParaRPr lang="en-GB" dirty="0"/>
          </a:p>
        </p:txBody>
      </p:sp>
      <p:sp>
        <p:nvSpPr>
          <p:cNvPr id="7" name="Zástupný symbol pro obsah 6"/>
          <p:cNvSpPr>
            <a:spLocks noGrp="1"/>
          </p:cNvSpPr>
          <p:nvPr>
            <p:ph idx="1"/>
          </p:nvPr>
        </p:nvSpPr>
        <p:spPr/>
        <p:txBody>
          <a:bodyPr>
            <a:normAutofit fontScale="55000" lnSpcReduction="20000"/>
          </a:bodyPr>
          <a:lstStyle/>
          <a:p>
            <a:r>
              <a:rPr lang="en-US" dirty="0"/>
              <a:t>Do we have to edit files that we save in our directory or can we make changes straight from our </a:t>
            </a:r>
            <a:r>
              <a:rPr lang="en-US" dirty="0" err="1"/>
              <a:t>github</a:t>
            </a:r>
            <a:r>
              <a:rPr lang="en-US" dirty="0"/>
              <a:t> account?</a:t>
            </a:r>
          </a:p>
          <a:p>
            <a:pPr lvl="1"/>
            <a:r>
              <a:rPr lang="en-US" dirty="0"/>
              <a:t>Actually, both is possible. To make some simple edits to e.g. readme file, it is totally fine to use the web interface. However, if you are programming python or </a:t>
            </a:r>
            <a:r>
              <a:rPr lang="en-US" dirty="0" err="1"/>
              <a:t>matlab</a:t>
            </a:r>
            <a:r>
              <a:rPr lang="en-US" dirty="0"/>
              <a:t>, and you already should be, you better use your local folder. This way you can see all your changes in the staging window, ready to commit (or roll back). Uploading your files from time to time is definitely not recommended (although better than nothing I guess). If you made some changes through github.com though, your </a:t>
            </a:r>
            <a:r>
              <a:rPr lang="en-US" dirty="0" err="1"/>
              <a:t>Git</a:t>
            </a:r>
            <a:r>
              <a:rPr lang="en-US" dirty="0"/>
              <a:t> client wont allow to **push** </a:t>
            </a:r>
            <a:r>
              <a:rPr lang="en-US" dirty="0" err="1"/>
              <a:t>untill</a:t>
            </a:r>
            <a:r>
              <a:rPr lang="en-US" dirty="0"/>
              <a:t> you **pull** all newer changes back to your local repository. This way it prevents any potential conflicts in the remote repository.</a:t>
            </a:r>
          </a:p>
          <a:p>
            <a:r>
              <a:rPr lang="en-US" dirty="0"/>
              <a:t>What is the name for the subject that stores many repos together? For example, in the </a:t>
            </a:r>
            <a:r>
              <a:rPr lang="en-US" dirty="0" err="1"/>
              <a:t>github</a:t>
            </a:r>
            <a:r>
              <a:rPr lang="en-US" dirty="0"/>
              <a:t> for the R package </a:t>
            </a:r>
            <a:r>
              <a:rPr lang="en-US" dirty="0" err="1"/>
              <a:t>tidyverse</a:t>
            </a:r>
            <a:r>
              <a:rPr lang="en-US" dirty="0"/>
              <a:t>, https://github.com/tidyverse, there are many repos belong to this page. Is this page a repo itself?</a:t>
            </a:r>
          </a:p>
          <a:p>
            <a:pPr lvl="1"/>
            <a:r>
              <a:rPr lang="en-US" dirty="0"/>
              <a:t>it is called organization. Organization could have a number of public or private repositories, similar to what an individual could have. See the difference in beards-lab: It unifies the collective effort under one brand, the commits are done by individuals (the team) though. You could have unlimited team members here so everyone could write access any of organizational repositories (or a subset of), as long as the organization and its repositories are public. Private repositories and unlimited collaborators are free; organizations pay only for advanced features</a:t>
            </a:r>
          </a:p>
          <a:p>
            <a:r>
              <a:rPr lang="en-US" dirty="0"/>
              <a:t>for an average programmer, how much GitHub </a:t>
            </a:r>
            <a:r>
              <a:rPr lang="en-US" dirty="0" err="1"/>
              <a:t>expeirnce</a:t>
            </a:r>
            <a:r>
              <a:rPr lang="en-US" dirty="0"/>
              <a:t> do I need?</a:t>
            </a:r>
          </a:p>
          <a:p>
            <a:pPr lvl="1"/>
            <a:r>
              <a:rPr lang="en-US" dirty="0"/>
              <a:t>The more the better :) Start using it on regular basis. Committing everyday, rolling back every week, being able to get a previous version, branching or merging once a month and doing some serious complicated operation once a year would take </a:t>
            </a:r>
            <a:r>
              <a:rPr lang="en-US" dirty="0" err="1"/>
              <a:t>imho</a:t>
            </a:r>
            <a:r>
              <a:rPr lang="en-US" dirty="0"/>
              <a:t> five years to get you fully professional. Concentrate on doing your job and use </a:t>
            </a:r>
            <a:r>
              <a:rPr lang="en-US" dirty="0" err="1"/>
              <a:t>git</a:t>
            </a:r>
            <a:r>
              <a:rPr lang="en-US" dirty="0"/>
              <a:t> just as you use an elevator - you usually just need to go to your fifth floor and back, </a:t>
            </a:r>
            <a:r>
              <a:rPr lang="en-US" dirty="0" err="1"/>
              <a:t>thats</a:t>
            </a:r>
            <a:r>
              <a:rPr lang="en-US" dirty="0"/>
              <a:t> about it. But if you are moving furniture, it comes really handy and I am pretty confident you will find a way when the need arises.</a:t>
            </a:r>
          </a:p>
          <a:p>
            <a:r>
              <a:rPr lang="en-US" b="1" i="0" dirty="0">
                <a:solidFill>
                  <a:srgbClr val="333333"/>
                </a:solidFill>
                <a:effectLst/>
                <a:latin typeface="revert"/>
              </a:rPr>
              <a:t>What other tools are there in </a:t>
            </a:r>
            <a:r>
              <a:rPr lang="en-US" b="1" i="0" dirty="0" err="1">
                <a:solidFill>
                  <a:srgbClr val="333333"/>
                </a:solidFill>
                <a:effectLst/>
                <a:latin typeface="revert"/>
              </a:rPr>
              <a:t>Github</a:t>
            </a:r>
            <a:r>
              <a:rPr lang="en-US" b="1" i="0" dirty="0">
                <a:solidFill>
                  <a:srgbClr val="333333"/>
                </a:solidFill>
                <a:effectLst/>
                <a:latin typeface="revert"/>
              </a:rPr>
              <a:t>? </a:t>
            </a:r>
            <a:endParaRPr lang="en-GB" b="1" i="0" dirty="0">
              <a:solidFill>
                <a:srgbClr val="333333"/>
              </a:solidFill>
              <a:effectLst/>
              <a:latin typeface="revert"/>
            </a:endParaRPr>
          </a:p>
          <a:p>
            <a:pPr lvl="1"/>
            <a:r>
              <a:rPr lang="en-GB" b="1" dirty="0">
                <a:solidFill>
                  <a:srgbClr val="333333"/>
                </a:solidFill>
                <a:latin typeface="revert"/>
              </a:rPr>
              <a:t>It is a large ecosystem – Issue tracker with project management (i.e. kanban cards) wiki, GitHub pages (statically generated through Jekyll), continuous integration – hooks on commits, e.g. compiling, running tests etc</a:t>
            </a:r>
            <a:endParaRPr lang="en-US" b="1" i="0" dirty="0">
              <a:solidFill>
                <a:srgbClr val="333333"/>
              </a:solidFill>
              <a:effectLst/>
              <a:latin typeface="revert"/>
            </a:endParaRPr>
          </a:p>
        </p:txBody>
      </p:sp>
    </p:spTree>
    <p:extLst>
      <p:ext uri="{BB962C8B-B14F-4D97-AF65-F5344CB8AC3E}">
        <p14:creationId xmlns:p14="http://schemas.microsoft.com/office/powerpoint/2010/main" val="6682709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FED5D-1B85-9BA1-214C-F9B50CFE2570}"/>
              </a:ext>
            </a:extLst>
          </p:cNvPr>
          <p:cNvSpPr>
            <a:spLocks noGrp="1"/>
          </p:cNvSpPr>
          <p:nvPr>
            <p:ph type="title"/>
          </p:nvPr>
        </p:nvSpPr>
        <p:spPr/>
        <p:txBody>
          <a:bodyPr/>
          <a:lstStyle/>
          <a:p>
            <a:pPr lvl="0"/>
            <a:r>
              <a:rPr lang="cs-CZ" dirty="0"/>
              <a:t>Github</a:t>
            </a:r>
            <a:endParaRPr lang="en-US" dirty="0"/>
          </a:p>
        </p:txBody>
      </p:sp>
      <p:sp>
        <p:nvSpPr>
          <p:cNvPr id="3" name="Content Placeholder 2">
            <a:extLst>
              <a:ext uri="{FF2B5EF4-FFF2-40B4-BE49-F238E27FC236}">
                <a16:creationId xmlns:a16="http://schemas.microsoft.com/office/drawing/2014/main" id="{B96ED331-E0A5-5D10-605D-37A7EEF9D809}"/>
              </a:ext>
            </a:extLst>
          </p:cNvPr>
          <p:cNvSpPr>
            <a:spLocks noGrp="1"/>
          </p:cNvSpPr>
          <p:nvPr>
            <p:ph idx="1"/>
          </p:nvPr>
        </p:nvSpPr>
        <p:spPr/>
        <p:txBody>
          <a:bodyPr/>
          <a:lstStyle/>
          <a:p>
            <a:pPr lvl="0"/>
            <a:r>
              <a:rPr lang="en-US" dirty="0"/>
              <a:t>Does git owe its dominance to its own merits or to the tooling that has been developed around it?</a:t>
            </a:r>
          </a:p>
          <a:p>
            <a:pPr lvl="1"/>
            <a:r>
              <a:rPr lang="en-US" dirty="0"/>
              <a:t>Due to its own merits and being open it was subsequently adopted by wide tooling. It started as a CLI tool, but adopted by </a:t>
            </a:r>
            <a:r>
              <a:rPr lang="en-US" dirty="0" err="1"/>
              <a:t>linux</a:t>
            </a:r>
            <a:r>
              <a:rPr lang="en-US" dirty="0"/>
              <a:t> </a:t>
            </a:r>
            <a:r>
              <a:rPr lang="en-US" dirty="0" err="1"/>
              <a:t>devs</a:t>
            </a:r>
            <a:r>
              <a:rPr lang="en-US" dirty="0"/>
              <a:t> from the very beginning. Big initial challenge resulted in great reputation.</a:t>
            </a:r>
            <a:endParaRPr lang="cs-CZ" dirty="0"/>
          </a:p>
          <a:p>
            <a:pPr lvl="0"/>
            <a:r>
              <a:rPr lang="en-US" dirty="0"/>
              <a:t>Is there an importance in having a good GitHub profile or track for future job applications/coding careers?</a:t>
            </a:r>
          </a:p>
          <a:p>
            <a:pPr lvl="1"/>
            <a:r>
              <a:rPr lang="en-US" dirty="0"/>
              <a:t>Of course! Some developers are even “investing” into their careers by contributing into community open-source projects. Where else would you go if you want to check if your new programmer has some experience?</a:t>
            </a:r>
          </a:p>
          <a:p>
            <a:pPr lvl="0"/>
            <a:endParaRPr lang="en-US" dirty="0"/>
          </a:p>
        </p:txBody>
      </p:sp>
    </p:spTree>
    <p:extLst>
      <p:ext uri="{BB962C8B-B14F-4D97-AF65-F5344CB8AC3E}">
        <p14:creationId xmlns:p14="http://schemas.microsoft.com/office/powerpoint/2010/main" val="3084151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a:t>
            </a:r>
            <a:r>
              <a:rPr lang="en-US" dirty="0" err="1"/>
              <a:t>GitIgnore</a:t>
            </a:r>
            <a:endParaRPr lang="en-GB" dirty="0"/>
          </a:p>
        </p:txBody>
      </p:sp>
      <p:sp>
        <p:nvSpPr>
          <p:cNvPr id="3" name="Zástupný symbol pro obsah 2"/>
          <p:cNvSpPr>
            <a:spLocks noGrp="1"/>
          </p:cNvSpPr>
          <p:nvPr>
            <p:ph idx="1"/>
          </p:nvPr>
        </p:nvSpPr>
        <p:spPr/>
        <p:txBody>
          <a:bodyPr/>
          <a:lstStyle/>
          <a:p>
            <a:r>
              <a:rPr lang="en-US" dirty="0"/>
              <a:t>I am using </a:t>
            </a:r>
            <a:r>
              <a:rPr lang="en-US" dirty="0" err="1"/>
              <a:t>MacOS</a:t>
            </a:r>
            <a:r>
              <a:rPr lang="en-US" dirty="0"/>
              <a:t>, is there any way to get rid of the .</a:t>
            </a:r>
            <a:r>
              <a:rPr lang="en-US" dirty="0" err="1"/>
              <a:t>DS_store</a:t>
            </a:r>
            <a:r>
              <a:rPr lang="en-US" dirty="0"/>
              <a:t> file that persists in my 'changes' to commit? I have already chosen to send it to the .</a:t>
            </a:r>
            <a:r>
              <a:rPr lang="en-US" dirty="0" err="1"/>
              <a:t>gitignore</a:t>
            </a:r>
            <a:r>
              <a:rPr lang="en-US" dirty="0"/>
              <a:t> file, but it did not fix the problem.</a:t>
            </a:r>
          </a:p>
          <a:p>
            <a:pPr lvl="1"/>
            <a:r>
              <a:rPr lang="en-US" dirty="0"/>
              <a:t>- adding .</a:t>
            </a:r>
            <a:r>
              <a:rPr lang="en-US" dirty="0" err="1"/>
              <a:t>DS_store</a:t>
            </a:r>
            <a:r>
              <a:rPr lang="en-US" dirty="0"/>
              <a:t> into .</a:t>
            </a:r>
            <a:r>
              <a:rPr lang="en-US" dirty="0" err="1"/>
              <a:t>gitignore</a:t>
            </a:r>
            <a:r>
              <a:rPr lang="en-US" dirty="0"/>
              <a:t> should do the trick. I have just updated the .</a:t>
            </a:r>
            <a:r>
              <a:rPr lang="en-US" dirty="0" err="1"/>
              <a:t>gitignore</a:t>
            </a:r>
            <a:r>
              <a:rPr lang="en-US" dirty="0"/>
              <a:t>, try pulling from **"upstream"** or fetching your github.com repository to match the upstream.</a:t>
            </a:r>
          </a:p>
          <a:p>
            <a:r>
              <a:rPr lang="en-US" b="1" i="0" dirty="0">
                <a:solidFill>
                  <a:srgbClr val="333333"/>
                </a:solidFill>
                <a:effectLst/>
                <a:latin typeface="revert"/>
              </a:rPr>
              <a:t>If I edit the </a:t>
            </a:r>
            <a:r>
              <a:rPr lang="en-US" b="1" i="0" dirty="0" err="1">
                <a:solidFill>
                  <a:srgbClr val="333333"/>
                </a:solidFill>
                <a:effectLst/>
                <a:latin typeface="revert"/>
              </a:rPr>
              <a:t>gitignore</a:t>
            </a:r>
            <a:r>
              <a:rPr lang="en-US" b="1" i="0" dirty="0">
                <a:solidFill>
                  <a:srgbClr val="333333"/>
                </a:solidFill>
                <a:effectLst/>
                <a:latin typeface="revert"/>
              </a:rPr>
              <a:t> file, I make some file visible and not visible. Why you said it was not reversible?</a:t>
            </a:r>
          </a:p>
          <a:p>
            <a:pPr lvl="1"/>
            <a:r>
              <a:rPr lang="en-US" dirty="0">
                <a:solidFill>
                  <a:srgbClr val="333333"/>
                </a:solidFill>
                <a:latin typeface="revert"/>
              </a:rPr>
              <a:t>Once committed, the file would always get change-tracked. You can delete it from the repo, commit and copy back – now it can be ignored and not tracked</a:t>
            </a:r>
            <a:endParaRPr lang="en-GB" dirty="0"/>
          </a:p>
        </p:txBody>
      </p:sp>
    </p:spTree>
    <p:extLst>
      <p:ext uri="{BB962C8B-B14F-4D97-AF65-F5344CB8AC3E}">
        <p14:creationId xmlns:p14="http://schemas.microsoft.com/office/powerpoint/2010/main" val="2113145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Pull requests</a:t>
            </a:r>
            <a:endParaRPr lang="en-GB" dirty="0"/>
          </a:p>
        </p:txBody>
      </p:sp>
      <p:sp>
        <p:nvSpPr>
          <p:cNvPr id="3" name="Zástupný symbol pro obsah 2"/>
          <p:cNvSpPr>
            <a:spLocks noGrp="1"/>
          </p:cNvSpPr>
          <p:nvPr>
            <p:ph idx="1"/>
          </p:nvPr>
        </p:nvSpPr>
        <p:spPr/>
        <p:txBody>
          <a:bodyPr>
            <a:normAutofit fontScale="85000" lnSpcReduction="20000"/>
          </a:bodyPr>
          <a:lstStyle/>
          <a:p>
            <a:r>
              <a:rPr lang="en-US" b="1" i="0" dirty="0">
                <a:solidFill>
                  <a:srgbClr val="333333"/>
                </a:solidFill>
                <a:effectLst/>
                <a:latin typeface="revert"/>
              </a:rPr>
              <a:t>How do I resolve conflicts in pull requests when working with a team?</a:t>
            </a:r>
          </a:p>
          <a:p>
            <a:pPr lvl="1"/>
            <a:r>
              <a:rPr lang="en-US" dirty="0"/>
              <a:t>The maintainer needs to resolve that, usually by noticing the issuer to merge the updated version and resolve himself</a:t>
            </a:r>
          </a:p>
          <a:p>
            <a:r>
              <a:rPr lang="en-US" dirty="0"/>
              <a:t>Can I request a pull for several files I changed together or I need to do it one by one?</a:t>
            </a:r>
          </a:p>
          <a:p>
            <a:pPr lvl="1"/>
            <a:r>
              <a:rPr lang="en-US" dirty="0"/>
              <a:t>- the pull request is actually a merge of your whole branch. So whatever you do in YOUR fork (your copy of my repository), be it one or dozen new files, edits and deletes, is contained in your pull request.</a:t>
            </a:r>
          </a:p>
          <a:p>
            <a:r>
              <a:rPr lang="en-US" dirty="0"/>
              <a:t>What is the social </a:t>
            </a:r>
            <a:r>
              <a:rPr lang="en-US" dirty="0" err="1"/>
              <a:t>ettiquite</a:t>
            </a:r>
            <a:r>
              <a:rPr lang="en-US" dirty="0"/>
              <a:t> for </a:t>
            </a:r>
            <a:r>
              <a:rPr lang="en-US" dirty="0" err="1"/>
              <a:t>submiting</a:t>
            </a:r>
            <a:r>
              <a:rPr lang="en-US" dirty="0"/>
              <a:t> bug fixes and edits to someone else's code in a shared project (so as not to be disrespectful).</a:t>
            </a:r>
          </a:p>
          <a:p>
            <a:pPr marL="457200" lvl="1" indent="0">
              <a:buNone/>
            </a:pPr>
            <a:r>
              <a:rPr lang="en-US" dirty="0"/>
              <a:t>1. Do not be a jerk.</a:t>
            </a:r>
            <a:br>
              <a:rPr lang="en-US" dirty="0"/>
            </a:br>
            <a:r>
              <a:rPr lang="en-US" dirty="0"/>
              <a:t>2. Publicly listing an issue / pull request / feature request is way better than emailing/contacting separately the author to do this and that and that you have found a major flaw / issue, feature request. People usually maintain their project through GH already, so do not cross the system. </a:t>
            </a:r>
            <a:br>
              <a:rPr lang="en-US" dirty="0"/>
            </a:br>
            <a:r>
              <a:rPr lang="en-US" dirty="0"/>
              <a:t>3. IF your motivation is to contribute to the project and make it better, go ahead and fear not.</a:t>
            </a:r>
          </a:p>
          <a:p>
            <a:endParaRPr lang="en-GB" dirty="0"/>
          </a:p>
        </p:txBody>
      </p:sp>
    </p:spTree>
    <p:extLst>
      <p:ext uri="{BB962C8B-B14F-4D97-AF65-F5344CB8AC3E}">
        <p14:creationId xmlns:p14="http://schemas.microsoft.com/office/powerpoint/2010/main" val="2038058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Publishing issues</a:t>
            </a:r>
            <a:endParaRPr lang="en-GB" dirty="0"/>
          </a:p>
        </p:txBody>
      </p:sp>
      <p:sp>
        <p:nvSpPr>
          <p:cNvPr id="3" name="Zástupný symbol pro obsah 2"/>
          <p:cNvSpPr>
            <a:spLocks noGrp="1"/>
          </p:cNvSpPr>
          <p:nvPr>
            <p:ph idx="1"/>
          </p:nvPr>
        </p:nvSpPr>
        <p:spPr/>
        <p:txBody>
          <a:bodyPr>
            <a:normAutofit fontScale="55000" lnSpcReduction="20000"/>
          </a:bodyPr>
          <a:lstStyle/>
          <a:p>
            <a:r>
              <a:rPr lang="en-US" dirty="0"/>
              <a:t>Is it alright to publish code that other people have contributed to?</a:t>
            </a:r>
          </a:p>
          <a:p>
            <a:pPr lvl="1"/>
            <a:r>
              <a:rPr lang="en-US" dirty="0"/>
              <a:t>Yes, as long as you respect the </a:t>
            </a:r>
            <a:r>
              <a:rPr lang="en-US" dirty="0" err="1"/>
              <a:t>licence</a:t>
            </a:r>
            <a:r>
              <a:rPr lang="en-US" dirty="0"/>
              <a:t>. Most of the repositories published at GitHub do have a </a:t>
            </a:r>
            <a:r>
              <a:rPr lang="en-US" dirty="0" err="1"/>
              <a:t>licence</a:t>
            </a:r>
            <a:r>
              <a:rPr lang="en-US" dirty="0"/>
              <a:t> file. This is mostly MIT (use as you want, even for commercial use) or variants of GNU </a:t>
            </a:r>
            <a:r>
              <a:rPr lang="en-US" dirty="0" err="1"/>
              <a:t>licence</a:t>
            </a:r>
            <a:r>
              <a:rPr lang="en-US" dirty="0"/>
              <a:t>. If someone contributes to your repository, she has to be comfortable with that license. On the other hand, you should acknowledge his co-authorship. - if you have some code that you worked on together with other people, you probably should agree on a </a:t>
            </a:r>
            <a:r>
              <a:rPr lang="en-US" dirty="0" err="1"/>
              <a:t>licence</a:t>
            </a:r>
            <a:r>
              <a:rPr lang="en-US" dirty="0"/>
              <a:t> of their contribution - be it MIT, GNU, some proprietary one or not to share at all.</a:t>
            </a:r>
          </a:p>
          <a:p>
            <a:r>
              <a:rPr lang="en-US" dirty="0"/>
              <a:t>Do tags exist only in GitHub, or are they a feature of </a:t>
            </a:r>
            <a:r>
              <a:rPr lang="en-US" dirty="0" err="1"/>
              <a:t>git</a:t>
            </a:r>
            <a:r>
              <a:rPr lang="en-US" dirty="0"/>
              <a:t> repositories (whether they are managed in GitHub or not)?</a:t>
            </a:r>
          </a:p>
          <a:p>
            <a:pPr lvl="1"/>
            <a:r>
              <a:rPr lang="en-US" dirty="0"/>
              <a:t>It is a general feature. You can right-click any commit in GH-</a:t>
            </a:r>
            <a:r>
              <a:rPr lang="en-US" dirty="0" err="1"/>
              <a:t>Destkop</a:t>
            </a:r>
            <a:r>
              <a:rPr lang="en-US" dirty="0"/>
              <a:t> and select Create Tag. Remember, that whatever you can do with **GitHub Desktop** (not using any web features), you can also do with ANY other </a:t>
            </a:r>
            <a:r>
              <a:rPr lang="en-US" dirty="0" err="1"/>
              <a:t>git</a:t>
            </a:r>
            <a:r>
              <a:rPr lang="en-US" dirty="0"/>
              <a:t> client (and usually more). Tag is just a pointer on a specific commit, immutable in time. Github.com then presents all the tags and releases nice and pretty.</a:t>
            </a:r>
          </a:p>
          <a:p>
            <a:r>
              <a:rPr lang="en-US" b="1" i="0" dirty="0">
                <a:solidFill>
                  <a:srgbClr val="333333"/>
                </a:solidFill>
                <a:effectLst/>
                <a:latin typeface="revert"/>
              </a:rPr>
              <a:t>Can you share a private repository (without making it public for everyone)?</a:t>
            </a:r>
          </a:p>
          <a:p>
            <a:pPr lvl="1"/>
            <a:r>
              <a:rPr lang="en-US" dirty="0">
                <a:solidFill>
                  <a:srgbClr val="333333"/>
                </a:solidFill>
                <a:latin typeface="revert"/>
              </a:rPr>
              <a:t>Sure! GitHub provides to add a collaborators to private repositories. You can have private repositories under institutional pages (e.g. beards-lab), which are accessible for the team only.</a:t>
            </a:r>
          </a:p>
          <a:p>
            <a:r>
              <a:rPr lang="en-US" b="1" i="0" dirty="0">
                <a:solidFill>
                  <a:srgbClr val="333333"/>
                </a:solidFill>
                <a:effectLst/>
                <a:latin typeface="revert"/>
              </a:rPr>
              <a:t>Can anyone clone my </a:t>
            </a:r>
            <a:r>
              <a:rPr lang="en-US" b="1" i="0" dirty="0" err="1">
                <a:solidFill>
                  <a:srgbClr val="333333"/>
                </a:solidFill>
                <a:effectLst/>
                <a:latin typeface="revert"/>
              </a:rPr>
              <a:t>respository</a:t>
            </a:r>
            <a:r>
              <a:rPr lang="en-US" b="1" i="0" dirty="0">
                <a:solidFill>
                  <a:srgbClr val="333333"/>
                </a:solidFill>
                <a:effectLst/>
                <a:latin typeface="revert"/>
              </a:rPr>
              <a:t>? How do I set permissions on who can access code I push to </a:t>
            </a:r>
            <a:r>
              <a:rPr lang="en-US" b="1" i="0" dirty="0" err="1">
                <a:solidFill>
                  <a:srgbClr val="333333"/>
                </a:solidFill>
                <a:effectLst/>
                <a:latin typeface="revert"/>
              </a:rPr>
              <a:t>Github</a:t>
            </a:r>
            <a:r>
              <a:rPr lang="en-US" b="1" i="0" dirty="0">
                <a:solidFill>
                  <a:srgbClr val="333333"/>
                </a:solidFill>
                <a:effectLst/>
                <a:latin typeface="revert"/>
              </a:rPr>
              <a:t>?</a:t>
            </a:r>
          </a:p>
          <a:p>
            <a:pPr lvl="1"/>
            <a:r>
              <a:rPr lang="en-US" b="0" i="0" dirty="0">
                <a:solidFill>
                  <a:srgbClr val="333333"/>
                </a:solidFill>
                <a:effectLst/>
                <a:latin typeface="revert"/>
              </a:rPr>
              <a:t>YES! That is the point! If you do not want to share, just set the repo to private. Once private, you can manage who gets the access. </a:t>
            </a:r>
          </a:p>
          <a:p>
            <a:r>
              <a:rPr lang="en-US" b="1" dirty="0"/>
              <a:t>I don't love the idea of 1 mistake with private information could result in major </a:t>
            </a:r>
            <a:r>
              <a:rPr lang="en-US" b="1" dirty="0" err="1"/>
              <a:t>major</a:t>
            </a:r>
            <a:r>
              <a:rPr lang="en-US" b="1" dirty="0"/>
              <a:t> problems due to how repositories work and being on various machines.</a:t>
            </a:r>
          </a:p>
          <a:p>
            <a:pPr lvl="1"/>
            <a:r>
              <a:rPr lang="en-GB" dirty="0"/>
              <a:t>You also do not let your credit card circle around - you simply do not put private info in the </a:t>
            </a:r>
            <a:r>
              <a:rPr lang="en-GB" i="1" dirty="0"/>
              <a:t>shared</a:t>
            </a:r>
            <a:r>
              <a:rPr lang="en-GB" dirty="0"/>
              <a:t> folder.</a:t>
            </a:r>
          </a:p>
          <a:p>
            <a:r>
              <a:rPr lang="en-US" b="1" dirty="0"/>
              <a:t>I am able to access the assignment repository, but is just anyone able to? Is posting to GitHub the making public part and anything that should be private is on the local?</a:t>
            </a:r>
          </a:p>
          <a:p>
            <a:pPr lvl="1"/>
            <a:r>
              <a:rPr lang="en-US" dirty="0"/>
              <a:t>Yes, since it is public. The private then is not seen by anyone. Forking something public makes it public too (can be reset in settings).</a:t>
            </a:r>
            <a:endParaRPr lang="en-GB" dirty="0"/>
          </a:p>
        </p:txBody>
      </p:sp>
    </p:spTree>
    <p:extLst>
      <p:ext uri="{BB962C8B-B14F-4D97-AF65-F5344CB8AC3E}">
        <p14:creationId xmlns:p14="http://schemas.microsoft.com/office/powerpoint/2010/main" val="14093739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5A49-9D47-ECFC-B49B-64F3EA13D0C7}"/>
              </a:ext>
            </a:extLst>
          </p:cNvPr>
          <p:cNvSpPr>
            <a:spLocks noGrp="1"/>
          </p:cNvSpPr>
          <p:nvPr>
            <p:ph type="title"/>
          </p:nvPr>
        </p:nvSpPr>
        <p:spPr/>
        <p:txBody>
          <a:bodyPr/>
          <a:lstStyle/>
          <a:p>
            <a:pPr lvl="0"/>
            <a:r>
              <a:rPr lang="cs-CZ" dirty="0"/>
              <a:t>Class</a:t>
            </a:r>
            <a:endParaRPr lang="en-US" dirty="0"/>
          </a:p>
        </p:txBody>
      </p:sp>
      <p:sp>
        <p:nvSpPr>
          <p:cNvPr id="3" name="Content Placeholder 2">
            <a:extLst>
              <a:ext uri="{FF2B5EF4-FFF2-40B4-BE49-F238E27FC236}">
                <a16:creationId xmlns:a16="http://schemas.microsoft.com/office/drawing/2014/main" id="{C6B3A32A-1F51-3911-3FDD-B9389D4BBFB9}"/>
              </a:ext>
            </a:extLst>
          </p:cNvPr>
          <p:cNvSpPr>
            <a:spLocks noGrp="1"/>
          </p:cNvSpPr>
          <p:nvPr>
            <p:ph idx="1"/>
          </p:nvPr>
        </p:nvSpPr>
        <p:spPr/>
        <p:txBody>
          <a:bodyPr>
            <a:normAutofit lnSpcReduction="10000"/>
          </a:bodyPr>
          <a:lstStyle/>
          <a:p>
            <a:pPr lvl="0"/>
            <a:r>
              <a:rPr lang="en-US" dirty="0"/>
              <a:t>For class projects, should we utilize **Conventional Commits** or keep messages simple and short?</a:t>
            </a:r>
          </a:p>
          <a:p>
            <a:pPr lvl="1"/>
            <a:r>
              <a:rPr lang="en-US" dirty="0"/>
              <a:t>This is a next-level question. If you are familiar with </a:t>
            </a:r>
            <a:r>
              <a:rPr lang="en-US" dirty="0">
                <a:hlinkClick r:id="rId2"/>
              </a:rPr>
              <a:t>conventionalcommits.org</a:t>
            </a:r>
            <a:r>
              <a:rPr lang="en-US" dirty="0"/>
              <a:t> go on, use it and teach your group!</a:t>
            </a:r>
            <a:endParaRPr lang="cs-CZ" dirty="0"/>
          </a:p>
          <a:p>
            <a:pPr lvl="0"/>
            <a:r>
              <a:rPr lang="en-US" dirty="0"/>
              <a:t>Can we use </a:t>
            </a:r>
            <a:r>
              <a:rPr lang="en-US" dirty="0" err="1"/>
              <a:t>gitlab</a:t>
            </a:r>
            <a:r>
              <a:rPr lang="en-US" dirty="0"/>
              <a:t> for repos in this class</a:t>
            </a:r>
          </a:p>
          <a:p>
            <a:pPr lvl="1"/>
            <a:r>
              <a:rPr lang="en-US" dirty="0"/>
              <a:t>You *can* use whatever works for you, using Git is encouraged, using GitHub was just demonstrated for its simplicity and widespread. </a:t>
            </a:r>
            <a:endParaRPr lang="cs-CZ" dirty="0"/>
          </a:p>
          <a:p>
            <a:pPr lvl="0"/>
            <a:r>
              <a:rPr lang="en-US" dirty="0"/>
              <a:t>What's the recommended workflow in using </a:t>
            </a:r>
            <a:r>
              <a:rPr lang="en-US" dirty="0" err="1"/>
              <a:t>Github</a:t>
            </a:r>
            <a:r>
              <a:rPr lang="en-US" dirty="0"/>
              <a:t> for this BIOINF 520 class.</a:t>
            </a:r>
          </a:p>
          <a:p>
            <a:pPr lvl="1"/>
            <a:r>
              <a:rPr lang="en-US" dirty="0"/>
              <a:t>You create your own repository with all the assignments and codes, committing regularly. Your future self will be proud of you. You do not even have to make it public!</a:t>
            </a:r>
          </a:p>
        </p:txBody>
      </p:sp>
    </p:spTree>
    <p:extLst>
      <p:ext uri="{BB962C8B-B14F-4D97-AF65-F5344CB8AC3E}">
        <p14:creationId xmlns:p14="http://schemas.microsoft.com/office/powerpoint/2010/main" val="28097709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Other</a:t>
            </a:r>
            <a:endParaRPr lang="en-GB" dirty="0"/>
          </a:p>
        </p:txBody>
      </p:sp>
      <p:sp>
        <p:nvSpPr>
          <p:cNvPr id="3" name="Zástupný symbol pro obsah 2"/>
          <p:cNvSpPr>
            <a:spLocks noGrp="1"/>
          </p:cNvSpPr>
          <p:nvPr>
            <p:ph idx="1"/>
          </p:nvPr>
        </p:nvSpPr>
        <p:spPr>
          <a:xfrm>
            <a:off x="838200" y="1825625"/>
            <a:ext cx="10515600" cy="4534078"/>
          </a:xfrm>
        </p:spPr>
        <p:txBody>
          <a:bodyPr>
            <a:normAutofit fontScale="55000" lnSpcReduction="20000"/>
          </a:bodyPr>
          <a:lstStyle/>
          <a:p>
            <a:r>
              <a:rPr lang="en-US" dirty="0"/>
              <a:t>Why does </a:t>
            </a:r>
            <a:r>
              <a:rPr lang="en-US" dirty="0" err="1"/>
              <a:t>git</a:t>
            </a:r>
            <a:r>
              <a:rPr lang="en-US" dirty="0"/>
              <a:t> command line exist if </a:t>
            </a:r>
            <a:r>
              <a:rPr lang="en-US" dirty="0" err="1"/>
              <a:t>github</a:t>
            </a:r>
            <a:r>
              <a:rPr lang="en-US" dirty="0"/>
              <a:t> desktop is a thing?</a:t>
            </a:r>
          </a:p>
          <a:p>
            <a:pPr lvl="1"/>
            <a:r>
              <a:rPr lang="en-US" dirty="0"/>
              <a:t>- *First, </a:t>
            </a:r>
            <a:r>
              <a:rPr lang="en-US" dirty="0" err="1"/>
              <a:t>Git</a:t>
            </a:r>
            <a:r>
              <a:rPr lang="en-US" dirty="0"/>
              <a:t> comes from the Unix people. They love command line. They might die without touching the keyboard regularly :) Most of the </a:t>
            </a:r>
            <a:r>
              <a:rPr lang="en-US" dirty="0" err="1"/>
              <a:t>git</a:t>
            </a:r>
            <a:r>
              <a:rPr lang="en-US" dirty="0"/>
              <a:t> tools are just a GUI on top of these commands. Second, it is often used in the help files, because that is the right way to do, regardless in which menu item or under which name it is hidden in different </a:t>
            </a:r>
            <a:r>
              <a:rPr lang="en-US" dirty="0" err="1"/>
              <a:t>git</a:t>
            </a:r>
            <a:r>
              <a:rPr lang="en-US" dirty="0"/>
              <a:t> clients. GitHub desktop is only one of such clients. I personally find nice, that all the commands are </a:t>
            </a:r>
            <a:r>
              <a:rPr lang="en-US" dirty="0" err="1"/>
              <a:t>somwhat</a:t>
            </a:r>
            <a:r>
              <a:rPr lang="en-US" dirty="0"/>
              <a:t> hidden from us. You can however grab any other tool to use with </a:t>
            </a:r>
            <a:r>
              <a:rPr lang="en-US" dirty="0" err="1"/>
              <a:t>Git</a:t>
            </a:r>
            <a:r>
              <a:rPr lang="en-US" dirty="0"/>
              <a:t> or GitHub.*</a:t>
            </a:r>
          </a:p>
          <a:p>
            <a:r>
              <a:rPr lang="en-US" dirty="0"/>
              <a:t>Can I write into files within a repository from the command line?</a:t>
            </a:r>
          </a:p>
          <a:p>
            <a:pPr lvl="1"/>
            <a:r>
              <a:rPr lang="en-US" dirty="0"/>
              <a:t>- *Something like </a:t>
            </a:r>
            <a:r>
              <a:rPr lang="en-US" dirty="0">
                <a:hlinkClick r:id="rId2"/>
              </a:rPr>
              <a:t>https://superuser.com/questions/186857/how-do-i-edit-text-files-in-the-windows-command-prompt</a:t>
            </a:r>
            <a:r>
              <a:rPr lang="en-US" dirty="0"/>
              <a:t>  ? The repository is basically your local folder. Or you meant accessing the history, </a:t>
            </a:r>
            <a:r>
              <a:rPr lang="en-US" dirty="0" err="1"/>
              <a:t>commiting</a:t>
            </a:r>
            <a:r>
              <a:rPr lang="en-US" dirty="0"/>
              <a:t>, pushing, and all that stuff? The </a:t>
            </a:r>
            <a:r>
              <a:rPr lang="en-US" dirty="0" err="1"/>
              <a:t>Git</a:t>
            </a:r>
            <a:r>
              <a:rPr lang="en-US" dirty="0"/>
              <a:t> has been designed for command line, but I am no expert on the commands. The </a:t>
            </a:r>
            <a:r>
              <a:rPr lang="en-US" dirty="0">
                <a:hlinkClick r:id="rId3"/>
              </a:rPr>
              <a:t>https://git-scm.com/docs/</a:t>
            </a:r>
            <a:r>
              <a:rPr lang="en-US" dirty="0"/>
              <a:t>  should have your back. But unless you are a big nerd {no offence), you are just fine to stick to any GUI tool you like (the GitHub desktop is possibly the simplest and most user-friendly one). You can of course edit your files directly in the github.com, but this is really impractical (that is, do not do it!) for your source codes.*</a:t>
            </a:r>
          </a:p>
          <a:p>
            <a:r>
              <a:rPr lang="en-US" dirty="0"/>
              <a:t>Can two repositories be merged? I'm not sure why this would have to happen, but I'm curious.</a:t>
            </a:r>
          </a:p>
          <a:p>
            <a:pPr lvl="1"/>
            <a:r>
              <a:rPr lang="en-US" dirty="0"/>
              <a:t>Yes, though it is quite an extreme case. You can have more than one "origin" sources. But this is impractical and could do more harm than good.</a:t>
            </a:r>
          </a:p>
          <a:p>
            <a:r>
              <a:rPr lang="en-US" b="1" i="0" dirty="0">
                <a:solidFill>
                  <a:srgbClr val="333333"/>
                </a:solidFill>
                <a:effectLst/>
                <a:latin typeface="revert"/>
              </a:rPr>
              <a:t>Is there a size limit to the repository?</a:t>
            </a:r>
          </a:p>
          <a:p>
            <a:pPr lvl="1"/>
            <a:r>
              <a:rPr lang="en-US" b="0" i="0" dirty="0">
                <a:solidFill>
                  <a:srgbClr val="333333"/>
                </a:solidFill>
                <a:effectLst/>
                <a:latin typeface="revert"/>
              </a:rPr>
              <a:t>individual files are blocked above 100 MB (GitHub warns above 50 MB) and the whole repository is recommended to be under 5 GB, which is fine even for large projects, as long as you don't commit binaries</a:t>
            </a:r>
          </a:p>
          <a:p>
            <a:pPr lvl="0"/>
            <a:r>
              <a:rPr lang="en-US" dirty="0"/>
              <a:t>How much size can the `~/.git` directory take? Worried about this especially if it’s a large project.</a:t>
            </a:r>
          </a:p>
          <a:p>
            <a:pPr lvl="1"/>
            <a:r>
              <a:rPr lang="en-US" dirty="0"/>
              <a:t>Is a Linux core a large project? It was designed for this purpose. The source code is zipped, having only minimal footprint then. Remember, do not track generated binary files – each time they get regenerated they are versioned and stored! Otherwise, even a large project, will hover around 10 - 500MB, which is acceptable.</a:t>
            </a:r>
          </a:p>
          <a:p>
            <a:pPr marL="0" indent="0">
              <a:buNone/>
            </a:pPr>
            <a:endParaRPr lang="en-GB" dirty="0"/>
          </a:p>
          <a:p>
            <a:endParaRPr lang="en-GB" dirty="0"/>
          </a:p>
        </p:txBody>
      </p:sp>
    </p:spTree>
    <p:extLst>
      <p:ext uri="{BB962C8B-B14F-4D97-AF65-F5344CB8AC3E}">
        <p14:creationId xmlns:p14="http://schemas.microsoft.com/office/powerpoint/2010/main" val="23994960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39451-138D-4FAE-D5DA-3A0BB0D4B882}"/>
              </a:ext>
            </a:extLst>
          </p:cNvPr>
          <p:cNvSpPr>
            <a:spLocks noGrp="1"/>
          </p:cNvSpPr>
          <p:nvPr>
            <p:ph type="title"/>
          </p:nvPr>
        </p:nvSpPr>
        <p:spPr/>
        <p:txBody>
          <a:bodyPr/>
          <a:lstStyle/>
          <a:p>
            <a:r>
              <a:rPr lang="en-US" dirty="0"/>
              <a:t>Other</a:t>
            </a:r>
          </a:p>
        </p:txBody>
      </p:sp>
      <p:sp>
        <p:nvSpPr>
          <p:cNvPr id="3" name="Content Placeholder 2">
            <a:extLst>
              <a:ext uri="{FF2B5EF4-FFF2-40B4-BE49-F238E27FC236}">
                <a16:creationId xmlns:a16="http://schemas.microsoft.com/office/drawing/2014/main" id="{BC285A3C-A90E-117C-E7C5-546066AB80C0}"/>
              </a:ext>
            </a:extLst>
          </p:cNvPr>
          <p:cNvSpPr>
            <a:spLocks noGrp="1"/>
          </p:cNvSpPr>
          <p:nvPr>
            <p:ph idx="1"/>
          </p:nvPr>
        </p:nvSpPr>
        <p:spPr/>
        <p:txBody>
          <a:bodyPr>
            <a:normAutofit fontScale="62500" lnSpcReduction="20000"/>
          </a:bodyPr>
          <a:lstStyle/>
          <a:p>
            <a:r>
              <a:rPr lang="en-US" b="1" i="0" dirty="0">
                <a:solidFill>
                  <a:srgbClr val="333333"/>
                </a:solidFill>
                <a:effectLst/>
                <a:latin typeface="revert"/>
              </a:rPr>
              <a:t>What will happen if I use ```--force``` option in ```git push```?</a:t>
            </a:r>
          </a:p>
          <a:p>
            <a:pPr lvl="1"/>
            <a:r>
              <a:rPr lang="en-US" dirty="0"/>
              <a:t>Usually nothing. The force option is to override the otherwise forbidden pushes – like pushing when not the last commit, pushing rebased branch etc.</a:t>
            </a:r>
          </a:p>
          <a:p>
            <a:r>
              <a:rPr lang="en-US" b="1" i="0" dirty="0">
                <a:solidFill>
                  <a:srgbClr val="333333"/>
                </a:solidFill>
                <a:effectLst/>
                <a:latin typeface="revert"/>
              </a:rPr>
              <a:t>I think that as files grow bigger and there are more changes, it would get really complex to navigate branches and file versions. I'm worried about how that will work with other collaborators as well.</a:t>
            </a:r>
          </a:p>
          <a:p>
            <a:pPr lvl="1"/>
            <a:r>
              <a:rPr lang="en-US" dirty="0">
                <a:solidFill>
                  <a:srgbClr val="333333"/>
                </a:solidFill>
                <a:latin typeface="revert"/>
              </a:rPr>
              <a:t>The history is usually linear. Once the branches merge, it gets linear again. No big deal, honestly. To orientate better, create releases and tags.</a:t>
            </a:r>
            <a:endParaRPr lang="en-US" i="0" dirty="0">
              <a:solidFill>
                <a:srgbClr val="333333"/>
              </a:solidFill>
              <a:effectLst/>
              <a:latin typeface="revert"/>
            </a:endParaRPr>
          </a:p>
          <a:p>
            <a:r>
              <a:rPr lang="en-US" b="1" i="0" dirty="0">
                <a:solidFill>
                  <a:srgbClr val="333333"/>
                </a:solidFill>
                <a:effectLst/>
                <a:latin typeface="revert"/>
              </a:rPr>
              <a:t>Is it true that we can only have .</a:t>
            </a:r>
            <a:r>
              <a:rPr lang="en-US" b="1" i="0" dirty="0" err="1">
                <a:solidFill>
                  <a:srgbClr val="333333"/>
                </a:solidFill>
                <a:effectLst/>
                <a:latin typeface="revert"/>
              </a:rPr>
              <a:t>gitattribute</a:t>
            </a:r>
            <a:r>
              <a:rPr lang="en-US" b="1" i="0" dirty="0">
                <a:solidFill>
                  <a:srgbClr val="333333"/>
                </a:solidFill>
                <a:effectLst/>
                <a:latin typeface="revert"/>
              </a:rPr>
              <a:t> under the root of the repository?</a:t>
            </a:r>
          </a:p>
          <a:p>
            <a:pPr lvl="1"/>
            <a:r>
              <a:rPr lang="en-US" dirty="0">
                <a:solidFill>
                  <a:srgbClr val="333333"/>
                </a:solidFill>
                <a:latin typeface="revert"/>
              </a:rPr>
              <a:t>You can have as many as you want. But only the one is used to define the settings. </a:t>
            </a:r>
          </a:p>
          <a:p>
            <a:pPr lvl="1"/>
            <a:r>
              <a:rPr lang="en-US" dirty="0">
                <a:solidFill>
                  <a:srgbClr val="333333"/>
                </a:solidFill>
                <a:latin typeface="revert"/>
              </a:rPr>
              <a:t>Settings can include various stuff like line endings (CRLF / LF), what to consider as binaries and other next-level repository level settings.</a:t>
            </a:r>
          </a:p>
          <a:p>
            <a:r>
              <a:rPr lang="en-US" b="1" i="0" dirty="0">
                <a:solidFill>
                  <a:srgbClr val="333333"/>
                </a:solidFill>
                <a:effectLst/>
                <a:latin typeface="revert"/>
              </a:rPr>
              <a:t>How does using "git fetch upstream" help in keeping a forked repository up-to-date with the original repository, and what steps should follow to integrate the fetched changes into your local branch?</a:t>
            </a:r>
          </a:p>
          <a:p>
            <a:pPr lvl="1"/>
            <a:r>
              <a:rPr lang="en-US" i="0" dirty="0">
                <a:solidFill>
                  <a:srgbClr val="333333"/>
                </a:solidFill>
                <a:effectLst/>
                <a:latin typeface="revert"/>
              </a:rPr>
              <a:t>This will synchronize your fork with the parent, upstream repository. Imagine I have added new content AFTER you forked – it would not get updated automatically, you have to fetch upstream.</a:t>
            </a:r>
          </a:p>
          <a:p>
            <a:r>
              <a:rPr lang="en-US" b="1" i="0" dirty="0">
                <a:solidFill>
                  <a:srgbClr val="333333"/>
                </a:solidFill>
                <a:effectLst/>
                <a:latin typeface="revert"/>
              </a:rPr>
              <a:t>Will there only be one administrator for each repository? </a:t>
            </a:r>
          </a:p>
          <a:p>
            <a:pPr lvl="1"/>
            <a:r>
              <a:rPr lang="en-US" dirty="0">
                <a:solidFill>
                  <a:srgbClr val="333333"/>
                </a:solidFill>
                <a:latin typeface="revert"/>
              </a:rPr>
              <a:t>There can be more, for sure!</a:t>
            </a:r>
            <a:endParaRPr lang="en-US" dirty="0"/>
          </a:p>
        </p:txBody>
      </p:sp>
    </p:spTree>
    <p:extLst>
      <p:ext uri="{BB962C8B-B14F-4D97-AF65-F5344CB8AC3E}">
        <p14:creationId xmlns:p14="http://schemas.microsoft.com/office/powerpoint/2010/main" val="16677328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BFD66-D6DF-DED1-C938-9C51C118D5C5}"/>
              </a:ext>
            </a:extLst>
          </p:cNvPr>
          <p:cNvSpPr>
            <a:spLocks noGrp="1"/>
          </p:cNvSpPr>
          <p:nvPr>
            <p:ph type="title"/>
          </p:nvPr>
        </p:nvSpPr>
        <p:spPr/>
        <p:txBody>
          <a:bodyPr/>
          <a:lstStyle/>
          <a:p>
            <a:r>
              <a:rPr lang="en-US" dirty="0"/>
              <a:t>Take away</a:t>
            </a:r>
          </a:p>
        </p:txBody>
      </p:sp>
      <p:sp>
        <p:nvSpPr>
          <p:cNvPr id="3" name="Content Placeholder 2">
            <a:extLst>
              <a:ext uri="{FF2B5EF4-FFF2-40B4-BE49-F238E27FC236}">
                <a16:creationId xmlns:a16="http://schemas.microsoft.com/office/drawing/2014/main" id="{B0C11BCA-5CE3-0B11-2B58-01E82FE5196D}"/>
              </a:ext>
            </a:extLst>
          </p:cNvPr>
          <p:cNvSpPr>
            <a:spLocks noGrp="1"/>
          </p:cNvSpPr>
          <p:nvPr>
            <p:ph idx="1"/>
          </p:nvPr>
        </p:nvSpPr>
        <p:spPr/>
        <p:txBody>
          <a:bodyPr>
            <a:normAutofit fontScale="92500" lnSpcReduction="10000"/>
          </a:bodyPr>
          <a:lstStyle/>
          <a:p>
            <a:r>
              <a:rPr lang="en-US" sz="4400" dirty="0"/>
              <a:t>Use Git &amp; Commit!</a:t>
            </a:r>
          </a:p>
          <a:p>
            <a:r>
              <a:rPr lang="en-US" sz="4400" dirty="0"/>
              <a:t>Push sometimes</a:t>
            </a:r>
          </a:p>
          <a:p>
            <a:r>
              <a:rPr lang="en-US" sz="3000" i="1" dirty="0"/>
              <a:t>Ask for more</a:t>
            </a:r>
          </a:p>
          <a:p>
            <a:endParaRPr lang="en-US" sz="4400" dirty="0"/>
          </a:p>
          <a:p>
            <a:r>
              <a:rPr lang="en-US" sz="4400" dirty="0"/>
              <a:t>KEEP IT SIMPLE!</a:t>
            </a:r>
          </a:p>
          <a:p>
            <a:pPr lvl="1"/>
            <a:r>
              <a:rPr lang="en-US" sz="4000" b="1" dirty="0"/>
              <a:t>Commit!</a:t>
            </a:r>
          </a:p>
          <a:p>
            <a:pPr lvl="1"/>
            <a:r>
              <a:rPr lang="en-US" sz="4000" dirty="0"/>
              <a:t>Do not overuse branches</a:t>
            </a:r>
          </a:p>
        </p:txBody>
      </p:sp>
      <p:pic>
        <p:nvPicPr>
          <p:cNvPr id="1026" name="Picture 2" descr="Keep It Simple, Stupid. KISS | by Coop | Medium">
            <a:extLst>
              <a:ext uri="{FF2B5EF4-FFF2-40B4-BE49-F238E27FC236}">
                <a16:creationId xmlns:a16="http://schemas.microsoft.com/office/drawing/2014/main" id="{5200DC89-883E-83FF-5387-F5E926439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3902" y="281781"/>
            <a:ext cx="3095625" cy="1476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113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dpis 3"/>
          <p:cNvSpPr>
            <a:spLocks noGrp="1"/>
          </p:cNvSpPr>
          <p:nvPr>
            <p:ph type="title"/>
          </p:nvPr>
        </p:nvSpPr>
        <p:spPr/>
        <p:txBody>
          <a:bodyPr/>
          <a:lstStyle/>
          <a:p>
            <a:r>
              <a:rPr lang="en-US" dirty="0"/>
              <a:t>More help</a:t>
            </a:r>
            <a:endParaRPr lang="en-GB" dirty="0"/>
          </a:p>
        </p:txBody>
      </p:sp>
      <p:sp>
        <p:nvSpPr>
          <p:cNvPr id="5" name="Zástupný symbol pro text 4"/>
          <p:cNvSpPr>
            <a:spLocks noGrp="1"/>
          </p:cNvSpPr>
          <p:nvPr>
            <p:ph type="body" idx="1"/>
          </p:nvPr>
        </p:nvSpPr>
        <p:spPr/>
        <p:txBody>
          <a:bodyPr/>
          <a:lstStyle/>
          <a:p>
            <a:pPr lvl="0"/>
            <a:r>
              <a:rPr lang="en-GB" dirty="0"/>
              <a:t>Filip Je</a:t>
            </a:r>
            <a:r>
              <a:rPr lang="cs-CZ" dirty="0" err="1"/>
              <a:t>žek</a:t>
            </a:r>
            <a:endParaRPr lang="en-GB" dirty="0"/>
          </a:p>
          <a:p>
            <a:pPr lvl="0"/>
            <a:r>
              <a:rPr lang="en-US" dirty="0">
                <a:hlinkClick r:id="rId2"/>
              </a:rPr>
              <a:t>fjezek@umich.edu</a:t>
            </a:r>
            <a:endParaRPr lang="en-US" dirty="0"/>
          </a:p>
          <a:p>
            <a:endParaRPr lang="en-GB" dirty="0"/>
          </a:p>
        </p:txBody>
      </p:sp>
      <p:pic>
        <p:nvPicPr>
          <p:cNvPr id="9218" name="Picture 2" descr="https://i.imgflip.com/6047iv.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885" y="0"/>
            <a:ext cx="5286229" cy="3448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00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Get organized!</a:t>
            </a:r>
            <a:endParaRPr lang="en-US" dirty="0"/>
          </a:p>
        </p:txBody>
      </p:sp>
      <p:pic>
        <p:nvPicPr>
          <p:cNvPr id="4" name="Obrázek 3" descr="A computer screen displaying a file explorer window with the folder path 'UMICH' open. Inside the folder, there are six visible yellow folders named 'BestVersion Ever,' 'Changes,' 'FinalSubmission,' 'FinalTest,' and 'Revi.' On the left sidebar, there are various locations including Desktop, Creative Cloud Files, OneDrive, and a folder named 'flip.' To the right, there is a panel showing commit history with dates and descriptions of recent changes, including updates to README files and model creation."/>
          <p:cNvPicPr>
            <a:picLocks noChangeAspect="1"/>
          </p:cNvPicPr>
          <p:nvPr/>
        </p:nvPicPr>
        <p:blipFill>
          <a:blip r:embed="rId2"/>
          <a:stretch>
            <a:fillRect/>
          </a:stretch>
        </p:blipFill>
        <p:spPr>
          <a:xfrm>
            <a:off x="222265" y="1690688"/>
            <a:ext cx="7972425" cy="4305300"/>
          </a:xfrm>
          <a:prstGeom prst="rect">
            <a:avLst/>
          </a:prstGeom>
        </p:spPr>
      </p:pic>
      <p:pic>
        <p:nvPicPr>
          <p:cNvPr id="5" name="Obrázek 4" descr="A screenshot of a version control system interface showing commit history. It lists commits made on different dates: November 29, 2022, November 22, 2022, October 11, 2022, and October 3, 2022. Each entry includes the commit message, the author named Filip Jezek, the date of the commit, a verification badge, and a unique commit hash. The commit messages include updates to README.md files, a description of models, and an initial commit.">
            <a:extLst>
              <a:ext uri="{FF2B5EF4-FFF2-40B4-BE49-F238E27FC236}">
                <a16:creationId xmlns:a16="http://schemas.microsoft.com/office/drawing/2014/main" id="{120CD0FF-0049-215F-5F29-D6D7B84B2FF0}"/>
              </a:ext>
            </a:extLst>
          </p:cNvPr>
          <p:cNvPicPr>
            <a:picLocks noChangeAspect="1"/>
          </p:cNvPicPr>
          <p:nvPr/>
        </p:nvPicPr>
        <p:blipFill>
          <a:blip r:embed="rId3"/>
          <a:stretch>
            <a:fillRect/>
          </a:stretch>
        </p:blipFill>
        <p:spPr>
          <a:xfrm>
            <a:off x="5389322" y="1365315"/>
            <a:ext cx="6580413" cy="4956046"/>
          </a:xfrm>
          <a:prstGeom prst="rect">
            <a:avLst/>
          </a:prstGeom>
        </p:spPr>
      </p:pic>
    </p:spTree>
    <p:extLst>
      <p:ext uri="{BB962C8B-B14F-4D97-AF65-F5344CB8AC3E}">
        <p14:creationId xmlns:p14="http://schemas.microsoft.com/office/powerpoint/2010/main" val="12774959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9CF91-A9AD-5493-E9FA-CC0478FBD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0CFC5-B2C8-8C6A-8DE2-BC8BC279466B}"/>
              </a:ext>
            </a:extLst>
          </p:cNvPr>
          <p:cNvSpPr>
            <a:spLocks noGrp="1"/>
          </p:cNvSpPr>
          <p:nvPr>
            <p:ph type="title"/>
          </p:nvPr>
        </p:nvSpPr>
        <p:spPr/>
        <p:txBody>
          <a:bodyPr/>
          <a:lstStyle/>
          <a:p>
            <a:r>
              <a:rPr lang="en-US" dirty="0"/>
              <a:t>Git: Prepare for a mistake!</a:t>
            </a:r>
          </a:p>
        </p:txBody>
      </p:sp>
      <p:sp>
        <p:nvSpPr>
          <p:cNvPr id="3" name="Content Placeholder 2">
            <a:extLst>
              <a:ext uri="{FF2B5EF4-FFF2-40B4-BE49-F238E27FC236}">
                <a16:creationId xmlns:a16="http://schemas.microsoft.com/office/drawing/2014/main" id="{C1656A87-7563-9510-7E05-3124E7A43491}"/>
              </a:ext>
            </a:extLst>
          </p:cNvPr>
          <p:cNvSpPr>
            <a:spLocks noGrp="1"/>
          </p:cNvSpPr>
          <p:nvPr>
            <p:ph idx="1"/>
          </p:nvPr>
        </p:nvSpPr>
        <p:spPr/>
        <p:txBody>
          <a:bodyPr/>
          <a:lstStyle/>
          <a:p>
            <a:r>
              <a:rPr lang="en-US" dirty="0"/>
              <a:t>Made a big oops?</a:t>
            </a:r>
          </a:p>
          <a:p>
            <a:r>
              <a:rPr lang="en-US" dirty="0"/>
              <a:t>Overwrote an important file?</a:t>
            </a:r>
          </a:p>
          <a:p>
            <a:endParaRPr lang="en-US" dirty="0"/>
          </a:p>
          <a:p>
            <a:r>
              <a:rPr lang="en-US" dirty="0"/>
              <a:t>The project JUST does not run?</a:t>
            </a:r>
          </a:p>
          <a:p>
            <a:endParaRPr lang="en-US" dirty="0"/>
          </a:p>
        </p:txBody>
      </p:sp>
      <p:pic>
        <p:nvPicPr>
          <p:cNvPr id="2050" name="Picture 2" descr="A photo of two soldiers dragging a casualty across a field, captioned 'Git revert, I repeat, git revert'.">
            <a:extLst>
              <a:ext uri="{FF2B5EF4-FFF2-40B4-BE49-F238E27FC236}">
                <a16:creationId xmlns:a16="http://schemas.microsoft.com/office/drawing/2014/main" id="{F6E2A060-276B-6ABD-3629-EF53123610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7378" y="4396192"/>
            <a:ext cx="3684814" cy="23509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 meme captioned 'When reverting to your last commit is your only option', above a video still of a man holding a phone with the subtitle 'It's Rewind time.'">
            <a:extLst>
              <a:ext uri="{FF2B5EF4-FFF2-40B4-BE49-F238E27FC236}">
                <a16:creationId xmlns:a16="http://schemas.microsoft.com/office/drawing/2014/main" id="{3A25E086-D7D1-B0A7-9A5D-4036076E0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7620" y="186957"/>
            <a:ext cx="3292929" cy="37563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 still from Men in Black: two agents in dark suits and sunglasses, one holding up a neuralyzer memory-erasing device, captioned 'git reset --hard'.">
            <a:extLst>
              <a:ext uri="{FF2B5EF4-FFF2-40B4-BE49-F238E27FC236}">
                <a16:creationId xmlns:a16="http://schemas.microsoft.com/office/drawing/2014/main" id="{AF522C2A-D6EA-5257-F6BC-A78359F59A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070442"/>
            <a:ext cx="2710543" cy="26766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61444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68E9F8-9CB1-201A-71D8-36412B494AC7}"/>
              </a:ext>
            </a:extLst>
          </p:cNvPr>
          <p:cNvSpPr>
            <a:spLocks noGrp="1"/>
          </p:cNvSpPr>
          <p:nvPr>
            <p:ph type="title"/>
          </p:nvPr>
        </p:nvSpPr>
        <p:spPr/>
        <p:txBody>
          <a:bodyPr/>
          <a:lstStyle/>
          <a:p>
            <a:r>
              <a:rPr lang="en-US" dirty="0"/>
              <a:t>GIT: More versions of the same project</a:t>
            </a:r>
          </a:p>
        </p:txBody>
      </p:sp>
      <p:sp>
        <p:nvSpPr>
          <p:cNvPr id="3" name="Zástupný obsah 2">
            <a:extLst>
              <a:ext uri="{FF2B5EF4-FFF2-40B4-BE49-F238E27FC236}">
                <a16:creationId xmlns:a16="http://schemas.microsoft.com/office/drawing/2014/main" id="{7A4092C8-1F19-2909-93E7-F851C2B1D507}"/>
              </a:ext>
            </a:extLst>
          </p:cNvPr>
          <p:cNvSpPr>
            <a:spLocks noGrp="1"/>
          </p:cNvSpPr>
          <p:nvPr>
            <p:ph idx="1"/>
          </p:nvPr>
        </p:nvSpPr>
        <p:spPr>
          <a:xfrm>
            <a:off x="838200" y="1825625"/>
            <a:ext cx="4470918" cy="4351338"/>
          </a:xfrm>
        </p:spPr>
        <p:txBody>
          <a:bodyPr/>
          <a:lstStyle/>
          <a:p>
            <a:r>
              <a:rPr lang="en-US" dirty="0"/>
              <a:t>Hell to maintain?</a:t>
            </a:r>
          </a:p>
          <a:p>
            <a:endParaRPr lang="en-US" dirty="0"/>
          </a:p>
          <a:p>
            <a:r>
              <a:rPr lang="en-US" dirty="0"/>
              <a:t>Branches might merge back when successful, or die out</a:t>
            </a:r>
          </a:p>
        </p:txBody>
      </p:sp>
      <p:pic>
        <p:nvPicPr>
          <p:cNvPr id="1026" name="Picture 2" descr="A branching diagram with a legend for Main, Release, Develop and two Feature branches. Commits are coloured dots on parallel lanes; feature branches split off develop and merge back, and release points are tagged v0.1, v0.2 and v1.0 on the main line.">
            <a:extLst>
              <a:ext uri="{FF2B5EF4-FFF2-40B4-BE49-F238E27FC236}">
                <a16:creationId xmlns:a16="http://schemas.microsoft.com/office/drawing/2014/main" id="{269AC49E-0E73-CF5B-41A5-F5F450D1B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118" y="2567568"/>
            <a:ext cx="6882882" cy="429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09967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7A14E-D8E5-47B6-1B95-38A742E919E0}"/>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C4540D29-7B19-2BA3-CD50-CC9E094B4CA5}"/>
              </a:ext>
            </a:extLst>
          </p:cNvPr>
          <p:cNvSpPr>
            <a:spLocks noGrp="1"/>
          </p:cNvSpPr>
          <p:nvPr>
            <p:ph type="title"/>
          </p:nvPr>
        </p:nvSpPr>
        <p:spPr/>
        <p:txBody>
          <a:bodyPr/>
          <a:lstStyle/>
          <a:p>
            <a:r>
              <a:rPr lang="en-US" dirty="0"/>
              <a:t>GIT: Get backed up!</a:t>
            </a:r>
            <a:endParaRPr lang="en-US" dirty="0"/>
          </a:p>
        </p:txBody>
      </p:sp>
      <p:pic>
        <p:nvPicPr>
          <p:cNvPr id="4" name="Picture 2" descr="A meme: a bearded man looking resigned, captioned 'Me: finishing a paper. Computer: I have decided that I want to die.'">
            <a:extLst>
              <a:ext uri="{FF2B5EF4-FFF2-40B4-BE49-F238E27FC236}">
                <a16:creationId xmlns:a16="http://schemas.microsoft.com/office/drawing/2014/main" id="{54FC8E52-E499-6B62-D1CC-DE3997BC1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5" y="1730375"/>
            <a:ext cx="5495925" cy="4762500"/>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A cartoon boy shrugging with both palms turned up, beside the words 'I don't care'.">
            <a:extLst>
              <a:ext uri="{FF2B5EF4-FFF2-40B4-BE49-F238E27FC236}">
                <a16:creationId xmlns:a16="http://schemas.microsoft.com/office/drawing/2014/main" id="{D75BA54A-61DB-85F5-9101-8370EA7758F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919"/>
          <a:stretch>
            <a:fillRect/>
          </a:stretch>
        </p:blipFill>
        <p:spPr bwMode="auto">
          <a:xfrm>
            <a:off x="7063919" y="1789987"/>
            <a:ext cx="4723949" cy="4245688"/>
          </a:xfrm>
          <a:prstGeom prst="rect">
            <a:avLst/>
          </a:prstGeom>
          <a:noFill/>
          <a:extLst>
            <a:ext uri="{909E8E84-426E-40DD-AFC4-6F175D3DCCD1}">
              <a14:hiddenFill xmlns:a14="http://schemas.microsoft.com/office/drawing/2010/main">
                <a:solidFill>
                  <a:srgbClr val="FFFFFF"/>
                </a:solidFill>
              </a14:hiddenFill>
            </a:ext>
          </a:extLst>
        </p:spPr>
      </p:pic>
      <p:sp>
        <p:nvSpPr>
          <p:cNvPr id="5" name="TextovéPole 4">
            <a:extLst>
              <a:ext uri="{FF2B5EF4-FFF2-40B4-BE49-F238E27FC236}">
                <a16:creationId xmlns:a16="http://schemas.microsoft.com/office/drawing/2014/main" id="{4A1D8C31-D543-205E-5B8C-91C809D6200E}"/>
              </a:ext>
            </a:extLst>
          </p:cNvPr>
          <p:cNvSpPr txBox="1"/>
          <p:nvPr/>
        </p:nvSpPr>
        <p:spPr>
          <a:xfrm>
            <a:off x="6874328" y="953274"/>
            <a:ext cx="3631941" cy="1015663"/>
          </a:xfrm>
          <a:prstGeom prst="rect">
            <a:avLst/>
          </a:prstGeom>
          <a:noFill/>
        </p:spPr>
        <p:txBody>
          <a:bodyPr wrap="square">
            <a:spAutoFit/>
          </a:bodyPr>
          <a:lstStyle/>
          <a:p>
            <a:r>
              <a:rPr lang="en-US" sz="6000" dirty="0"/>
              <a:t>GitHub: </a:t>
            </a:r>
          </a:p>
        </p:txBody>
      </p:sp>
      <p:pic>
        <p:nvPicPr>
          <p:cNvPr id="3" name="Picture 2" descr="A full-length publicity photo of the android Data from Star Trek: The Next Generation in Starfleet uniform — a visual pun on the word 'data'.">
            <a:extLst>
              <a:ext uri="{FF2B5EF4-FFF2-40B4-BE49-F238E27FC236}">
                <a16:creationId xmlns:a16="http://schemas.microsoft.com/office/drawing/2014/main" id="{5BEA36ED-21EF-36EA-4C98-168FA0485A15}"/>
              </a:ext>
            </a:extLst>
          </p:cNvPr>
          <p:cNvPicPr>
            <a:picLocks noChangeAspect="1"/>
          </p:cNvPicPr>
          <p:nvPr/>
        </p:nvPicPr>
        <p:blipFill>
          <a:blip r:embed="rId4"/>
          <a:srcRect b="58405"/>
          <a:stretch>
            <a:fillRect/>
          </a:stretch>
        </p:blipFill>
        <p:spPr>
          <a:xfrm rot="19291144">
            <a:off x="9829569" y="5159139"/>
            <a:ext cx="2806933" cy="2140975"/>
          </a:xfrm>
          <a:prstGeom prst="rect">
            <a:avLst/>
          </a:prstGeom>
        </p:spPr>
      </p:pic>
      <p:sp>
        <p:nvSpPr>
          <p:cNvPr id="6" name="TextovéPole 4">
            <a:extLst>
              <a:ext uri="{FF2B5EF4-FFF2-40B4-BE49-F238E27FC236}">
                <a16:creationId xmlns:a16="http://schemas.microsoft.com/office/drawing/2014/main" id="{BF70FD3D-DCA8-565D-061F-53A95F61043D}"/>
              </a:ext>
            </a:extLst>
          </p:cNvPr>
          <p:cNvSpPr txBox="1"/>
          <p:nvPr/>
        </p:nvSpPr>
        <p:spPr>
          <a:xfrm>
            <a:off x="6134036" y="6315892"/>
            <a:ext cx="5112523" cy="523220"/>
          </a:xfrm>
          <a:prstGeom prst="rect">
            <a:avLst/>
          </a:prstGeom>
          <a:noFill/>
        </p:spPr>
        <p:txBody>
          <a:bodyPr wrap="square">
            <a:spAutoFit/>
          </a:bodyPr>
          <a:lstStyle/>
          <a:p>
            <a:r>
              <a:rPr lang="en-US" sz="2800" dirty="0"/>
              <a:t>Do not forget about the data!</a:t>
            </a:r>
          </a:p>
        </p:txBody>
      </p:sp>
    </p:spTree>
    <p:extLst>
      <p:ext uri="{BB962C8B-B14F-4D97-AF65-F5344CB8AC3E}">
        <p14:creationId xmlns:p14="http://schemas.microsoft.com/office/powerpoint/2010/main" val="2035625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Git: </a:t>
            </a:r>
            <a:r>
              <a:rPr lang="en-US" dirty="0" err="1"/>
              <a:t>Collaborate</a:t>
            </a:r>
            <a:r>
              <a:rPr lang="en-US" dirty="0"/>
              <a:t>!</a:t>
            </a:r>
            <a:endParaRPr lang="en-US" dirty="0"/>
          </a:p>
        </p:txBody>
      </p:sp>
      <p:sp>
        <p:nvSpPr>
          <p:cNvPr id="3" name="Zástupný symbol pro obsah 2"/>
          <p:cNvSpPr>
            <a:spLocks noGrp="1"/>
          </p:cNvSpPr>
          <p:nvPr>
            <p:ph idx="1"/>
          </p:nvPr>
        </p:nvSpPr>
        <p:spPr>
          <a:xfrm>
            <a:off x="838200" y="4913421"/>
            <a:ext cx="10515600" cy="1263542"/>
          </a:xfrm>
        </p:spPr>
        <p:txBody>
          <a:bodyPr/>
          <a:lstStyle/>
          <a:p>
            <a:r>
              <a:rPr lang="en-US" dirty="0"/>
              <a:t>Invited collaborators</a:t>
            </a:r>
          </a:p>
          <a:p>
            <a:r>
              <a:rPr lang="en-US" dirty="0"/>
              <a:t>Pull requests from wide public</a:t>
            </a:r>
          </a:p>
        </p:txBody>
      </p:sp>
      <p:pic>
        <p:nvPicPr>
          <p:cNvPr id="6" name="Picture 2" descr="A diagram titled 'Git and GitHub' showing the fork workflow in four numbered steps: 1, clone or pull from the original repository; 2, fork the original repo into your GitHub account; 3, push from your development machine to your fork; 4, open a pull request from your fork back to the original repository.">
            <a:extLst>
              <a:ext uri="{FF2B5EF4-FFF2-40B4-BE49-F238E27FC236}">
                <a16:creationId xmlns:a16="http://schemas.microsoft.com/office/drawing/2014/main" id="{D78A3361-EDB9-CC5F-FD0F-A6D7D66E4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6435" y="3639373"/>
            <a:ext cx="6096000" cy="323850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A commit graph with a horizontal black 'master' branch and three coloured side branches labelled 'profile-mocks', 'styleguide' and 'icon-design'. Each splits off master, collects several commits, and merges back.">
            <a:extLst>
              <a:ext uri="{FF2B5EF4-FFF2-40B4-BE49-F238E27FC236}">
                <a16:creationId xmlns:a16="http://schemas.microsoft.com/office/drawing/2014/main" id="{2B858AE8-394C-8353-CB0B-43DCEF760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07094"/>
            <a:ext cx="8284029" cy="335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201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B22363C-7700-B51A-9270-7B3CAEC360DF}"/>
              </a:ext>
            </a:extLst>
          </p:cNvPr>
          <p:cNvSpPr>
            <a:spLocks noGrp="1"/>
          </p:cNvSpPr>
          <p:nvPr>
            <p:ph type="title"/>
          </p:nvPr>
        </p:nvSpPr>
        <p:spPr/>
        <p:txBody>
          <a:bodyPr/>
          <a:lstStyle/>
          <a:p>
            <a:r>
              <a:rPr lang="en-US" dirty="0"/>
              <a:t>Git: Make your research public</a:t>
            </a:r>
          </a:p>
        </p:txBody>
      </p:sp>
      <p:sp>
        <p:nvSpPr>
          <p:cNvPr id="3" name="Zástupný obsah 2">
            <a:extLst>
              <a:ext uri="{FF2B5EF4-FFF2-40B4-BE49-F238E27FC236}">
                <a16:creationId xmlns:a16="http://schemas.microsoft.com/office/drawing/2014/main" id="{78B3DF68-4A1F-28BA-EE9A-8027DB6A81A6}"/>
              </a:ext>
            </a:extLst>
          </p:cNvPr>
          <p:cNvSpPr>
            <a:spLocks noGrp="1"/>
          </p:cNvSpPr>
          <p:nvPr>
            <p:ph idx="1"/>
          </p:nvPr>
        </p:nvSpPr>
        <p:spPr/>
        <p:txBody>
          <a:bodyPr/>
          <a:lstStyle/>
          <a:p>
            <a:r>
              <a:rPr lang="en-US" dirty="0"/>
              <a:t>A link to GitHub would do too</a:t>
            </a:r>
          </a:p>
          <a:p>
            <a:r>
              <a:rPr lang="en-US" dirty="0"/>
              <a:t>Dedicated storage repository - </a:t>
            </a:r>
            <a:r>
              <a:rPr lang="en-US" dirty="0">
                <a:hlinkClick r:id="rId2"/>
              </a:rPr>
              <a:t>Zenodo</a:t>
            </a:r>
            <a:r>
              <a:rPr lang="en-US" dirty="0"/>
              <a:t> - pin a release</a:t>
            </a:r>
          </a:p>
        </p:txBody>
      </p:sp>
      <p:pic>
        <p:nvPicPr>
          <p:cNvPr id="5" name="Obrázek 4" descr="A screenshot of a webpage from Zenodo showing the Gene Ontology Data Archive. The page has a blue header with the Zenodo logo, a search bar, and options to upload or access communities. Below, the page title is &quot;Gene Ontology Data Archive&quot; with the date July 2, 2018. It lists a file named &quot;go-release-archive.tgz&quot; with a size of 45.4 GB and a download button. To the right, there are statistics showing 58,088 views, 7,638 downloads, and a logo for OpenAIRE.">
            <a:extLst>
              <a:ext uri="{FF2B5EF4-FFF2-40B4-BE49-F238E27FC236}">
                <a16:creationId xmlns:a16="http://schemas.microsoft.com/office/drawing/2014/main" id="{91C9FF27-940E-1126-B915-53C2F3CBD439}"/>
              </a:ext>
            </a:extLst>
          </p:cNvPr>
          <p:cNvPicPr>
            <a:picLocks noChangeAspect="1"/>
          </p:cNvPicPr>
          <p:nvPr/>
        </p:nvPicPr>
        <p:blipFill>
          <a:blip r:embed="rId3"/>
          <a:stretch>
            <a:fillRect/>
          </a:stretch>
        </p:blipFill>
        <p:spPr>
          <a:xfrm>
            <a:off x="0" y="2838800"/>
            <a:ext cx="12192000" cy="5957674"/>
          </a:xfrm>
          <a:prstGeom prst="rect">
            <a:avLst/>
          </a:prstGeom>
        </p:spPr>
      </p:pic>
    </p:spTree>
    <p:extLst>
      <p:ext uri="{BB962C8B-B14F-4D97-AF65-F5344CB8AC3E}">
        <p14:creationId xmlns:p14="http://schemas.microsoft.com/office/powerpoint/2010/main" val="3638247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B2BF-DADA-6F71-87D2-D7C00B6BF4A9}"/>
              </a:ext>
            </a:extLst>
          </p:cNvPr>
          <p:cNvSpPr>
            <a:spLocks noGrp="1"/>
          </p:cNvSpPr>
          <p:nvPr>
            <p:ph type="title"/>
          </p:nvPr>
        </p:nvSpPr>
        <p:spPr/>
        <p:txBody>
          <a:bodyPr/>
          <a:lstStyle/>
          <a:p>
            <a:r>
              <a:rPr lang="en-US" dirty="0"/>
              <a:t>What is a Git Repository?</a:t>
            </a:r>
          </a:p>
        </p:txBody>
      </p:sp>
      <p:sp>
        <p:nvSpPr>
          <p:cNvPr id="4" name="Text Placeholder 3">
            <a:extLst>
              <a:ext uri="{FF2B5EF4-FFF2-40B4-BE49-F238E27FC236}">
                <a16:creationId xmlns:a16="http://schemas.microsoft.com/office/drawing/2014/main" id="{8EDEBEC8-9089-938F-BE76-A7430F87A713}"/>
              </a:ext>
            </a:extLst>
          </p:cNvPr>
          <p:cNvSpPr>
            <a:spLocks noGrp="1"/>
          </p:cNvSpPr>
          <p:nvPr>
            <p:ph type="body" idx="1"/>
          </p:nvPr>
        </p:nvSpPr>
        <p:spPr/>
        <p:txBody>
          <a:bodyPr/>
          <a:lstStyle/>
          <a:p>
            <a:pPr algn="ctr"/>
            <a:r>
              <a:rPr lang="en-US" dirty="0"/>
              <a:t>Repository: history and branches</a:t>
            </a:r>
          </a:p>
        </p:txBody>
      </p:sp>
      <p:sp>
        <p:nvSpPr>
          <p:cNvPr id="6" name="Text Placeholder 5">
            <a:extLst>
              <a:ext uri="{FF2B5EF4-FFF2-40B4-BE49-F238E27FC236}">
                <a16:creationId xmlns:a16="http://schemas.microsoft.com/office/drawing/2014/main" id="{73FBAC8D-20B0-C27C-8B97-F6D23862F751}"/>
              </a:ext>
            </a:extLst>
          </p:cNvPr>
          <p:cNvSpPr>
            <a:spLocks noGrp="1"/>
          </p:cNvSpPr>
          <p:nvPr>
            <p:ph type="body" sz="quarter" idx="3"/>
          </p:nvPr>
        </p:nvSpPr>
        <p:spPr/>
        <p:txBody>
          <a:bodyPr/>
          <a:lstStyle/>
          <a:p>
            <a:pPr algn="ctr"/>
            <a:r>
              <a:rPr lang="en-US" dirty="0"/>
              <a:t>Working copy: files on the drive</a:t>
            </a:r>
          </a:p>
        </p:txBody>
      </p:sp>
      <p:pic>
        <p:nvPicPr>
          <p:cNvPr id="1028" name="Picture 4" descr="500+ Wine Bottle Pictures [HD] | Download Free Images on Unsplash">
            <a:extLst>
              <a:ext uri="{FF2B5EF4-FFF2-40B4-BE49-F238E27FC236}">
                <a16:creationId xmlns:a16="http://schemas.microsoft.com/office/drawing/2014/main" id="{C1A732BE-81FD-26AC-D43F-4402C6FAE971}"/>
              </a:ext>
            </a:extLst>
          </p:cNvPr>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5997575" y="2712030"/>
            <a:ext cx="2390775" cy="191452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ZJUJ High end Wine Racks 6 Bottle Countertop Wine Rack Wine Rack Repository  Modern Metal Wine">
            <a:extLst>
              <a:ext uri="{FF2B5EF4-FFF2-40B4-BE49-F238E27FC236}">
                <a16:creationId xmlns:a16="http://schemas.microsoft.com/office/drawing/2014/main" id="{F84EC19C-E4B2-04F0-24B4-B2E3375B56D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319027" y="2825750"/>
            <a:ext cx="2295525" cy="1990725"/>
          </a:xfrm>
          <a:prstGeom prst="rect">
            <a:avLst/>
          </a:prstGeom>
          <a:noFill/>
          <a:extLst>
            <a:ext uri="{909E8E84-426E-40DD-AFC4-6F175D3DCCD1}">
              <a14:hiddenFill xmlns:a14="http://schemas.microsoft.com/office/drawing/2010/main">
                <a:solidFill>
                  <a:srgbClr val="FFFFFF"/>
                </a:solidFill>
              </a14:hiddenFill>
            </a:ext>
          </a:extLst>
        </p:spPr>
      </p:pic>
      <p:pic>
        <p:nvPicPr>
          <p:cNvPr id="9" name="Obrázek 7" descr="A diagram comparing centralized and distributed version control systems. On the left, the centralized system shows a single central repository connected to two working copies, represented by two cartoon figures. On the right, the distributed system shows a full repository connected to two full repositories, with the full repositories depicted as larger cylinders, and the central full repository connected to the other full repository with lines.">
            <a:extLst>
              <a:ext uri="{FF2B5EF4-FFF2-40B4-BE49-F238E27FC236}">
                <a16:creationId xmlns:a16="http://schemas.microsoft.com/office/drawing/2014/main" id="{995A484D-ECE5-5486-A602-1D465B17D13A}"/>
              </a:ext>
            </a:extLst>
          </p:cNvPr>
          <p:cNvPicPr>
            <a:picLocks noChangeAspect="1"/>
          </p:cNvPicPr>
          <p:nvPr/>
        </p:nvPicPr>
        <p:blipFill rotWithShape="1">
          <a:blip r:embed="rId4"/>
          <a:srcRect l="14212" t="16069" r="72641" b="52379"/>
          <a:stretch/>
        </p:blipFill>
        <p:spPr>
          <a:xfrm>
            <a:off x="2892669" y="2644247"/>
            <a:ext cx="1547447" cy="2000961"/>
          </a:xfrm>
          <a:prstGeom prst="rect">
            <a:avLst/>
          </a:prstGeom>
        </p:spPr>
      </p:pic>
      <p:pic>
        <p:nvPicPr>
          <p:cNvPr id="11" name="Picture 10" descr="A yellow file folder with a tab on top, slightly open to reveal several sheets of paper inside, with some blue lines and text visible on the papers.">
            <a:extLst>
              <a:ext uri="{FF2B5EF4-FFF2-40B4-BE49-F238E27FC236}">
                <a16:creationId xmlns:a16="http://schemas.microsoft.com/office/drawing/2014/main" id="{852E294A-FCFA-63F0-139F-0729FA7B31A4}"/>
              </a:ext>
            </a:extLst>
          </p:cNvPr>
          <p:cNvPicPr>
            <a:picLocks noChangeAspect="1"/>
          </p:cNvPicPr>
          <p:nvPr/>
        </p:nvPicPr>
        <p:blipFill>
          <a:blip r:embed="rId5"/>
          <a:stretch>
            <a:fillRect/>
          </a:stretch>
        </p:blipFill>
        <p:spPr>
          <a:xfrm>
            <a:off x="8846222" y="2522112"/>
            <a:ext cx="1792471" cy="2294363"/>
          </a:xfrm>
          <a:prstGeom prst="rect">
            <a:avLst/>
          </a:prstGeom>
        </p:spPr>
      </p:pic>
      <p:sp>
        <p:nvSpPr>
          <p:cNvPr id="13" name="TextBox 12">
            <a:extLst>
              <a:ext uri="{FF2B5EF4-FFF2-40B4-BE49-F238E27FC236}">
                <a16:creationId xmlns:a16="http://schemas.microsoft.com/office/drawing/2014/main" id="{73B407EA-43A4-48AC-20F0-ED2A0E6677B4}"/>
              </a:ext>
            </a:extLst>
          </p:cNvPr>
          <p:cNvSpPr txBox="1"/>
          <p:nvPr/>
        </p:nvSpPr>
        <p:spPr>
          <a:xfrm>
            <a:off x="1095498" y="4992171"/>
            <a:ext cx="6097464" cy="461665"/>
          </a:xfrm>
          <a:prstGeom prst="rect">
            <a:avLst/>
          </a:prstGeom>
          <a:noFill/>
        </p:spPr>
        <p:txBody>
          <a:bodyPr wrap="square">
            <a:spAutoFit/>
          </a:bodyPr>
          <a:lstStyle/>
          <a:p>
            <a:r>
              <a:rPr lang="en-US" dirty="0"/>
              <a:t>(usually in hidden subfolder, e.g. </a:t>
            </a:r>
            <a:r>
              <a:rPr lang="en-US" sz="2400" b="1" dirty="0">
                <a:solidFill>
                  <a:schemeClr val="tx1">
                    <a:lumMod val="50000"/>
                    <a:lumOff val="50000"/>
                  </a:schemeClr>
                </a:solidFill>
              </a:rPr>
              <a:t>.git</a:t>
            </a:r>
            <a:r>
              <a:rPr lang="en-US" dirty="0"/>
              <a:t>)</a:t>
            </a:r>
          </a:p>
        </p:txBody>
      </p:sp>
      <p:sp>
        <p:nvSpPr>
          <p:cNvPr id="3" name="Title 1">
            <a:extLst>
              <a:ext uri="{FF2B5EF4-FFF2-40B4-BE49-F238E27FC236}">
                <a16:creationId xmlns:a16="http://schemas.microsoft.com/office/drawing/2014/main" id="{A7125D98-1964-0FE1-2D5B-B5F9E926E47B}"/>
              </a:ext>
            </a:extLst>
          </p:cNvPr>
          <p:cNvSpPr txBox="1">
            <a:spLocks/>
          </p:cNvSpPr>
          <p:nvPr/>
        </p:nvSpPr>
        <p:spPr>
          <a:xfrm>
            <a:off x="1676400" y="58007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dirty="0"/>
              <a:t>Just a folder with some extras..</a:t>
            </a:r>
          </a:p>
        </p:txBody>
      </p:sp>
    </p:spTree>
    <p:extLst>
      <p:ext uri="{BB962C8B-B14F-4D97-AF65-F5344CB8AC3E}">
        <p14:creationId xmlns:p14="http://schemas.microsoft.com/office/powerpoint/2010/main" val="12469524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en-US" dirty="0"/>
              <a:t>Process</a:t>
            </a:r>
            <a:endParaRPr lang="en-US" dirty="0"/>
          </a:p>
        </p:txBody>
      </p:sp>
      <p:sp>
        <p:nvSpPr>
          <p:cNvPr id="3" name="Zástupný symbol pro obsah 2"/>
          <p:cNvSpPr>
            <a:spLocks noGrp="1"/>
          </p:cNvSpPr>
          <p:nvPr>
            <p:ph idx="1"/>
          </p:nvPr>
        </p:nvSpPr>
        <p:spPr>
          <a:xfrm>
            <a:off x="838200" y="1825625"/>
            <a:ext cx="10515600" cy="707850"/>
          </a:xfrm>
        </p:spPr>
        <p:txBody>
          <a:bodyPr/>
          <a:lstStyle/>
          <a:p>
            <a:r>
              <a:rPr lang="en-US" dirty="0"/>
              <a:t>DO THIS AS OFTEN AS POSSIBLE</a:t>
            </a:r>
            <a:endParaRPr lang="en-US" dirty="0"/>
          </a:p>
        </p:txBody>
      </p:sp>
      <p:sp>
        <p:nvSpPr>
          <p:cNvPr id="4" name="Vývojový diagram: alternativní postup 3"/>
          <p:cNvSpPr/>
          <p:nvPr/>
        </p:nvSpPr>
        <p:spPr>
          <a:xfrm>
            <a:off x="381414" y="3925539"/>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File system</a:t>
            </a:r>
            <a:endParaRPr lang="en-US" dirty="0"/>
          </a:p>
        </p:txBody>
      </p:sp>
      <p:sp>
        <p:nvSpPr>
          <p:cNvPr id="5" name="Vývojový diagram: alternativní postup 4"/>
          <p:cNvSpPr/>
          <p:nvPr/>
        </p:nvSpPr>
        <p:spPr>
          <a:xfrm>
            <a:off x="5412298" y="3929988"/>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Local</a:t>
            </a:r>
          </a:p>
          <a:p>
            <a:pPr algn="ctr"/>
            <a:r>
              <a:rPr lang="en-US" dirty="0">
                <a:solidFill>
                  <a:srgbClr val="FFFFFF"/>
                </a:solidFill>
              </a:rPr>
              <a:t>Repository</a:t>
            </a:r>
          </a:p>
        </p:txBody>
      </p:sp>
      <p:sp>
        <p:nvSpPr>
          <p:cNvPr id="6" name="Vývojový diagram: alternativní postup 5"/>
          <p:cNvSpPr/>
          <p:nvPr/>
        </p:nvSpPr>
        <p:spPr>
          <a:xfrm>
            <a:off x="9902504" y="3925539"/>
            <a:ext cx="1451296" cy="763398"/>
          </a:xfrm>
          <a:prstGeom prst="flowChartAlternateProcess">
            <a:avLst/>
          </a:prstGeom>
          <a:solidFill>
            <a:srgbClr val="1F4E79"/>
          </a:solidFill>
          <a:ln>
            <a:solidFill>
              <a:srgbClr val="14385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FF"/>
                </a:solidFill>
              </a:rPr>
              <a:t>Remote</a:t>
            </a:r>
          </a:p>
          <a:p>
            <a:pPr algn="ctr"/>
            <a:r>
              <a:rPr lang="en-US" dirty="0">
                <a:solidFill>
                  <a:srgbClr val="FFFFFF"/>
                </a:solidFill>
              </a:rPr>
              <a:t>Repository</a:t>
            </a:r>
          </a:p>
        </p:txBody>
      </p:sp>
      <p:pic>
        <p:nvPicPr>
          <p:cNvPr id="7" name="Obrázek 6" descr="An icon of a document with three horizontal lines representing text."/>
          <p:cNvPicPr>
            <a:picLocks noChangeAspect="1"/>
          </p:cNvPicPr>
          <p:nvPr/>
        </p:nvPicPr>
        <p:blipFill>
          <a:blip r:embed="rId2"/>
          <a:stretch>
            <a:fillRect/>
          </a:stretch>
        </p:blipFill>
        <p:spPr>
          <a:xfrm>
            <a:off x="704107" y="2933256"/>
            <a:ext cx="805911" cy="805911"/>
          </a:xfrm>
          <a:prstGeom prst="rect">
            <a:avLst/>
          </a:prstGeom>
        </p:spPr>
      </p:pic>
      <p:pic>
        <p:nvPicPr>
          <p:cNvPr id="8" name="Obrázek 7" descr="A DeLorean car with a glowing license plate &quot;OUTATIME&quot; leaves fiery tire tracks as it speeds away, beneath the title &quot;Back to the Future&quot; in bold, colorful letters."/>
          <p:cNvPicPr>
            <a:picLocks noChangeAspect="1"/>
          </p:cNvPicPr>
          <p:nvPr/>
        </p:nvPicPr>
        <p:blipFill rotWithShape="1">
          <a:blip r:embed="rId3"/>
          <a:srcRect l="-7766" t="19009" r="-1"/>
          <a:stretch/>
        </p:blipFill>
        <p:spPr>
          <a:xfrm>
            <a:off x="5369370" y="2295152"/>
            <a:ext cx="1537150" cy="1592860"/>
          </a:xfrm>
          <a:prstGeom prst="rect">
            <a:avLst/>
          </a:prstGeom>
        </p:spPr>
      </p:pic>
      <p:pic>
        <p:nvPicPr>
          <p:cNvPr id="9" name="Obrázek 8" descr="The image features the GitHub logo, which is a black circle with a white silhouette of an octocat, a cat with octopus-like tentacles, inside it. Below the logo, the word &quot;GitHub&quot; is written in bold black letters."/>
          <p:cNvPicPr>
            <a:picLocks noChangeAspect="1"/>
          </p:cNvPicPr>
          <p:nvPr/>
        </p:nvPicPr>
        <p:blipFill>
          <a:blip r:embed="rId4"/>
          <a:stretch>
            <a:fillRect/>
          </a:stretch>
        </p:blipFill>
        <p:spPr>
          <a:xfrm>
            <a:off x="10980391" y="2969988"/>
            <a:ext cx="958617" cy="918024"/>
          </a:xfrm>
          <a:prstGeom prst="rect">
            <a:avLst/>
          </a:prstGeom>
        </p:spPr>
      </p:pic>
      <p:cxnSp>
        <p:nvCxnSpPr>
          <p:cNvPr id="22" name="Zakřivená spojnice 21" descr="Arrow from Local Repository to Remote Repository, labelled Push"/>
          <p:cNvCxnSpPr>
            <a:stCxn id="5" idx="2"/>
            <a:endCxn id="6" idx="2"/>
          </p:cNvCxnSpPr>
          <p:nvPr/>
        </p:nvCxnSpPr>
        <p:spPr>
          <a:xfrm rot="5400000" flipH="1" flipV="1">
            <a:off x="8380824" y="2446059"/>
            <a:ext cx="4449" cy="4490206"/>
          </a:xfrm>
          <a:prstGeom prst="curvedConnector3">
            <a:avLst>
              <a:gd name="adj1" fmla="val -1268067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Přímá spojnice se šipkou 30" descr="Arrow from Remote Repository to Local Repository, labelled Pull"/>
          <p:cNvCxnSpPr>
            <a:stCxn id="6" idx="1"/>
            <a:endCxn id="5" idx="3"/>
          </p:cNvCxnSpPr>
          <p:nvPr/>
        </p:nvCxnSpPr>
        <p:spPr>
          <a:xfrm flipH="1">
            <a:off x="6863594" y="4307238"/>
            <a:ext cx="3038910" cy="4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Obdélník 37" descr="The staging area"/>
          <p:cNvSpPr/>
          <p:nvPr/>
        </p:nvSpPr>
        <p:spPr>
          <a:xfrm>
            <a:off x="3036354" y="3925539"/>
            <a:ext cx="75961" cy="7633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Přímá spojnice se šipkou 39" descr="Arrow from the staging area to Local Repository, labelled Commit"/>
          <p:cNvCxnSpPr>
            <a:stCxn id="38" idx="3"/>
            <a:endCxn id="5" idx="1"/>
          </p:cNvCxnSpPr>
          <p:nvPr/>
        </p:nvCxnSpPr>
        <p:spPr>
          <a:xfrm>
            <a:off x="3112315" y="4307238"/>
            <a:ext cx="2299983" cy="4449"/>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42" name="Přímá spojnice se šipkou 41" descr="Arrow from File system to the staging area, labelled Stage"/>
          <p:cNvCxnSpPr>
            <a:stCxn id="4" idx="3"/>
            <a:endCxn id="38" idx="1"/>
          </p:cNvCxnSpPr>
          <p:nvPr/>
        </p:nvCxnSpPr>
        <p:spPr>
          <a:xfrm>
            <a:off x="1832710" y="4307238"/>
            <a:ext cx="12036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ovéPole 43"/>
          <p:cNvSpPr txBox="1"/>
          <p:nvPr/>
        </p:nvSpPr>
        <p:spPr>
          <a:xfrm>
            <a:off x="2094454" y="4307238"/>
            <a:ext cx="697692" cy="369332"/>
          </a:xfrm>
          <a:prstGeom prst="rect">
            <a:avLst/>
          </a:prstGeom>
          <a:noFill/>
        </p:spPr>
        <p:txBody>
          <a:bodyPr wrap="none" rtlCol="0">
            <a:spAutoFit/>
          </a:bodyPr>
          <a:lstStyle/>
          <a:p>
            <a:r>
              <a:rPr lang="en-US" dirty="0"/>
              <a:t>Stage</a:t>
            </a:r>
            <a:endParaRPr lang="en-US" dirty="0"/>
          </a:p>
        </p:txBody>
      </p:sp>
      <p:sp>
        <p:nvSpPr>
          <p:cNvPr id="45" name="TextovéPole 44"/>
          <p:cNvSpPr txBox="1"/>
          <p:nvPr/>
        </p:nvSpPr>
        <p:spPr>
          <a:xfrm>
            <a:off x="3507131" y="4307238"/>
            <a:ext cx="1534394" cy="584775"/>
          </a:xfrm>
          <a:prstGeom prst="rect">
            <a:avLst/>
          </a:prstGeom>
          <a:noFill/>
        </p:spPr>
        <p:txBody>
          <a:bodyPr wrap="none" rtlCol="0">
            <a:spAutoFit/>
          </a:bodyPr>
          <a:lstStyle/>
          <a:p>
            <a:r>
              <a:rPr lang="en-US" sz="3200" b="1" dirty="0"/>
              <a:t>Commit</a:t>
            </a:r>
            <a:endParaRPr lang="en-US" sz="3200" b="1" dirty="0"/>
          </a:p>
        </p:txBody>
      </p:sp>
      <p:sp>
        <p:nvSpPr>
          <p:cNvPr id="46" name="TextovéPole 45"/>
          <p:cNvSpPr txBox="1"/>
          <p:nvPr/>
        </p:nvSpPr>
        <p:spPr>
          <a:xfrm>
            <a:off x="7977226" y="4319605"/>
            <a:ext cx="530915" cy="369332"/>
          </a:xfrm>
          <a:prstGeom prst="rect">
            <a:avLst/>
          </a:prstGeom>
          <a:noFill/>
        </p:spPr>
        <p:txBody>
          <a:bodyPr wrap="none" rtlCol="0">
            <a:spAutoFit/>
          </a:bodyPr>
          <a:lstStyle/>
          <a:p>
            <a:r>
              <a:rPr lang="en-US" dirty="0"/>
              <a:t>Pull</a:t>
            </a:r>
            <a:endParaRPr lang="en-US" dirty="0"/>
          </a:p>
        </p:txBody>
      </p:sp>
      <p:sp>
        <p:nvSpPr>
          <p:cNvPr id="50" name="TextovéPole 49"/>
          <p:cNvSpPr txBox="1"/>
          <p:nvPr/>
        </p:nvSpPr>
        <p:spPr>
          <a:xfrm>
            <a:off x="8019867" y="5267670"/>
            <a:ext cx="636713" cy="369332"/>
          </a:xfrm>
          <a:prstGeom prst="rect">
            <a:avLst/>
          </a:prstGeom>
          <a:noFill/>
        </p:spPr>
        <p:txBody>
          <a:bodyPr wrap="none" rtlCol="0">
            <a:spAutoFit/>
          </a:bodyPr>
          <a:lstStyle/>
          <a:p>
            <a:r>
              <a:rPr lang="en-US" dirty="0"/>
              <a:t>Push</a:t>
            </a:r>
            <a:endParaRPr lang="en-US" dirty="0"/>
          </a:p>
        </p:txBody>
      </p:sp>
      <p:sp>
        <p:nvSpPr>
          <p:cNvPr id="51" name="Vývojový diagram: alternativní postup 50" descr="">
            <a:extLst>
              <a:ext uri="{C183D7F6-B498-43B3-948B-1728B52AA6E4}">
                <ns0:decorative xmlns:ns0="http://schemas.microsoft.com/office/drawing/2017/decorative" val="1"/>
              </a:ext>
            </a:extLst>
          </p:cNvPr>
          <p:cNvSpPr/>
          <p:nvPr/>
        </p:nvSpPr>
        <p:spPr>
          <a:xfrm>
            <a:off x="243281" y="2248250"/>
            <a:ext cx="7038363" cy="2793533"/>
          </a:xfrm>
          <a:prstGeom prst="flowChartAlternateProcess">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Zástupný symbol pro obsah 2"/>
          <p:cNvSpPr txBox="1">
            <a:spLocks/>
          </p:cNvSpPr>
          <p:nvPr/>
        </p:nvSpPr>
        <p:spPr>
          <a:xfrm>
            <a:off x="6830037" y="5637001"/>
            <a:ext cx="5229691" cy="10406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Do this for collaboration and backup</a:t>
            </a:r>
            <a:endParaRPr lang="en-US" dirty="0"/>
          </a:p>
        </p:txBody>
      </p:sp>
      <p:pic>
        <p:nvPicPr>
          <p:cNvPr id="53" name="Obrázek 52" descr="&quot;Text on a plain background reads: DECIDE. COMMIT. SUCCEED.&quot;"/>
          <p:cNvPicPr>
            <a:picLocks noChangeAspect="1"/>
          </p:cNvPicPr>
          <p:nvPr/>
        </p:nvPicPr>
        <p:blipFill>
          <a:blip r:embed="rId5"/>
          <a:stretch>
            <a:fillRect/>
          </a:stretch>
        </p:blipFill>
        <p:spPr>
          <a:xfrm>
            <a:off x="9592753" y="99218"/>
            <a:ext cx="2466975" cy="1857375"/>
          </a:xfrm>
          <a:prstGeom prst="rect">
            <a:avLst/>
          </a:prstGeom>
        </p:spPr>
      </p:pic>
      <p:pic>
        <p:nvPicPr>
          <p:cNvPr id="3074" name="Picture 2" descr="A simple grey outline icon of a cloud, representing a remote serv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28267" y="3070532"/>
            <a:ext cx="1837606" cy="103365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 small icon of a tower server connected to a network cable, representing a remote serv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117022" y="2907728"/>
            <a:ext cx="1022260" cy="1022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56346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I messed up. What now?</a:t>
            </a:r>
          </a:p>
        </p:txBody>
      </p:sp>
      <p:graphicFrame>
        <p:nvGraphicFramePr>
          <p:cNvPr id="3" name="Table 2" descr="Table of common mistakes, the Git command that fixes each one, and notes on when it is safe to use."/>
          <p:cNvGraphicFramePr>
            <a:graphicFrameLocks noGrp="1"/>
          </p:cNvGraphicFramePr>
          <p:nvPr/>
        </p:nvGraphicFramePr>
        <p:xfrm>
          <a:off x="792480" y="1828800"/>
          <a:ext cx="10607040" cy="330984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292608">
                <a:tc>
                  <a:txBody>
                    <a:bodyPr/>
                    <a:lstStyle/>
                    <a:p>
                      <a:r>
                        <a:rPr sz="1300" b="1">
                          <a:solidFill>
                            <a:srgbClr val="FFFFFF"/>
                          </a:solidFill>
                        </a:rPr>
                        <a:t>Situation</a:t>
                      </a:r>
                    </a:p>
                  </a:txBody>
                  <a:tcPr marT="18000" marB="18000" anchor="ctr">
                    <a:solidFill>
                      <a:srgbClr val="1F4E79"/>
                    </a:solidFill>
                  </a:tcPr>
                </a:tc>
                <a:tc>
                  <a:txBody>
                    <a:bodyPr/>
                    <a:lstStyle/>
                    <a:p>
                      <a:r>
                        <a:rPr sz="1300" b="1">
                          <a:solidFill>
                            <a:srgbClr val="FFFFFF"/>
                          </a:solidFill>
                        </a:rPr>
                        <a:t>Fix</a:t>
                      </a:r>
                    </a:p>
                  </a:txBody>
                  <a:tcPr marT="18000" marB="18000" anchor="ctr">
                    <a:solidFill>
                      <a:srgbClr val="1F4E79"/>
                    </a:solidFill>
                  </a:tcPr>
                </a:tc>
                <a:tc>
                  <a:txBody>
                    <a:bodyPr/>
                    <a:lstStyle/>
                    <a:p>
                      <a:r>
                        <a:rPr sz="1300" b="1">
                          <a:solidFill>
                            <a:srgbClr val="FFFFFF"/>
                          </a:solidFill>
                        </a:rPr>
                        <a:t>Notes</a:t>
                      </a:r>
                    </a:p>
                  </a:txBody>
                  <a:tcPr marT="18000" marB="18000" anchor="ctr">
                    <a:solidFill>
                      <a:srgbClr val="1F4E79"/>
                    </a:solidFill>
                  </a:tcPr>
                </a:tc>
                <a:extLst>
                  <a:ext uri="{0D108BD9-81ED-4DB2-BD59-A6C34878D82A}">
                    <a16:rowId xmlns:a16="http://schemas.microsoft.com/office/drawing/2014/main" val="10000"/>
                  </a:ext>
                </a:extLst>
              </a:tr>
              <a:tr h="292608">
                <a:tc>
                  <a:txBody>
                    <a:bodyPr/>
                    <a:lstStyle/>
                    <a:p>
                      <a:r>
                        <a:rPr sz="1200">
                          <a:solidFill>
                            <a:srgbClr val="000000"/>
                          </a:solidFill>
                        </a:rPr>
                        <a:t>Wrong commit message (not pushed)</a:t>
                      </a:r>
                    </a:p>
                  </a:txBody>
                  <a:tcPr marT="9000" marB="9000" anchor="ctr"/>
                </a:tc>
                <a:tc>
                  <a:txBody>
                    <a:bodyPr/>
                    <a:lstStyle/>
                    <a:p>
                      <a:r>
                        <a:rPr sz="1200">
                          <a:solidFill>
                            <a:srgbClr val="000000"/>
                          </a:solidFill>
                          <a:latin typeface="Consolas"/>
                        </a:rPr>
                        <a:t>git commit --amend</a:t>
                      </a:r>
                    </a:p>
                  </a:txBody>
                  <a:tcPr marT="9000" marB="9000" anchor="ctr"/>
                </a:tc>
                <a:tc>
                  <a:txBody>
                    <a:bodyPr/>
                    <a:lstStyle/>
                    <a:p>
                      <a:r>
                        <a:rPr sz="1200">
                          <a:solidFill>
                            <a:srgbClr val="000000"/>
                          </a:solidFill>
                        </a:rPr>
                        <a:t>GUI: right-click the last commit ▸ Amend</a:t>
                      </a:r>
                    </a:p>
                  </a:txBody>
                  <a:tcPr marT="9000" marB="9000" anchor="ctr"/>
                </a:tc>
                <a:extLst>
                  <a:ext uri="{0D108BD9-81ED-4DB2-BD59-A6C34878D82A}">
                    <a16:rowId xmlns:a16="http://schemas.microsoft.com/office/drawing/2014/main" val="10001"/>
                  </a:ext>
                </a:extLst>
              </a:tr>
              <a:tr h="292608">
                <a:tc>
                  <a:txBody>
                    <a:bodyPr/>
                    <a:lstStyle/>
                    <a:p>
                      <a:r>
                        <a:rPr sz="1200">
                          <a:solidFill>
                            <a:srgbClr val="000000"/>
                          </a:solidFill>
                        </a:rPr>
                        <a:t>Staged the wrong file</a:t>
                      </a:r>
                    </a:p>
                  </a:txBody>
                  <a:tcPr marT="9000" marB="9000" anchor="ctr"/>
                </a:tc>
                <a:tc>
                  <a:txBody>
                    <a:bodyPr/>
                    <a:lstStyle/>
                    <a:p>
                      <a:r>
                        <a:rPr sz="1200">
                          <a:solidFill>
                            <a:srgbClr val="000000"/>
                          </a:solidFill>
                          <a:latin typeface="Consolas"/>
                        </a:rPr>
                        <a:t>git restore --staged &lt;file&gt;</a:t>
                      </a:r>
                    </a:p>
                  </a:txBody>
                  <a:tcPr marT="9000" marB="9000" anchor="ctr"/>
                </a:tc>
                <a:tc>
                  <a:txBody>
                    <a:bodyPr/>
                    <a:lstStyle/>
                    <a:p>
                      <a:r>
                        <a:rPr sz="1200">
                          <a:solidFill>
                            <a:srgbClr val="000000"/>
                          </a:solidFill>
                        </a:rPr>
                        <a:t>GUI: untick it</a:t>
                      </a:r>
                    </a:p>
                  </a:txBody>
                  <a:tcPr marT="9000" marB="9000" anchor="ctr"/>
                </a:tc>
                <a:extLst>
                  <a:ext uri="{0D108BD9-81ED-4DB2-BD59-A6C34878D82A}">
                    <a16:rowId xmlns:a16="http://schemas.microsoft.com/office/drawing/2014/main" val="10002"/>
                  </a:ext>
                </a:extLst>
              </a:tr>
              <a:tr h="292608">
                <a:tc>
                  <a:txBody>
                    <a:bodyPr/>
                    <a:lstStyle/>
                    <a:p>
                      <a:r>
                        <a:rPr sz="1200">
                          <a:solidFill>
                            <a:srgbClr val="000000"/>
                          </a:solidFill>
                        </a:rPr>
                        <a:t>Throw away edits to a file</a:t>
                      </a:r>
                    </a:p>
                  </a:txBody>
                  <a:tcPr marT="9000" marB="9000" anchor="ctr"/>
                </a:tc>
                <a:tc>
                  <a:txBody>
                    <a:bodyPr/>
                    <a:lstStyle/>
                    <a:p>
                      <a:r>
                        <a:rPr sz="1200">
                          <a:solidFill>
                            <a:srgbClr val="000000"/>
                          </a:solidFill>
                          <a:latin typeface="Consolas"/>
                        </a:rPr>
                        <a:t>git restore &lt;file&gt;</a:t>
                      </a:r>
                    </a:p>
                  </a:txBody>
                  <a:tcPr marT="9000" marB="9000" anchor="ctr"/>
                </a:tc>
                <a:tc>
                  <a:txBody>
                    <a:bodyPr/>
                    <a:lstStyle/>
                    <a:p>
                      <a:r>
                        <a:rPr sz="1200">
                          <a:solidFill>
                            <a:srgbClr val="000000"/>
                          </a:solidFill>
                        </a:rPr>
                        <a:t>GUI: Discard changes. </a:t>
                      </a:r>
                      <a:r>
                        <a:rPr sz="1200" b="1">
                          <a:solidFill>
                            <a:srgbClr val="000000"/>
                          </a:solidFill>
                        </a:rPr>
                        <a:t>Not recoverable</a:t>
                      </a:r>
                    </a:p>
                  </a:txBody>
                  <a:tcPr marT="9000" marB="9000" anchor="ctr"/>
                </a:tc>
                <a:extLst>
                  <a:ext uri="{0D108BD9-81ED-4DB2-BD59-A6C34878D82A}">
                    <a16:rowId xmlns:a16="http://schemas.microsoft.com/office/drawing/2014/main" val="10003"/>
                  </a:ext>
                </a:extLst>
              </a:tr>
              <a:tr h="292608">
                <a:tc>
                  <a:txBody>
                    <a:bodyPr/>
                    <a:lstStyle/>
                    <a:p>
                      <a:r>
                        <a:rPr sz="1200">
                          <a:solidFill>
                            <a:srgbClr val="000000"/>
                          </a:solidFill>
                        </a:rPr>
                        <a:t>Undo last commit, keep the edits</a:t>
                      </a:r>
                    </a:p>
                  </a:txBody>
                  <a:tcPr marT="9000" marB="9000" anchor="ctr"/>
                </a:tc>
                <a:tc>
                  <a:txBody>
                    <a:bodyPr/>
                    <a:lstStyle/>
                    <a:p>
                      <a:r>
                        <a:rPr sz="1200">
                          <a:solidFill>
                            <a:srgbClr val="000000"/>
                          </a:solidFill>
                          <a:latin typeface="Consolas"/>
                        </a:rPr>
                        <a:t>git reset --soft HEAD~1</a:t>
                      </a:r>
                    </a:p>
                  </a:txBody>
                  <a:tcPr marT="9000" marB="9000" anchor="ctr"/>
                </a:tc>
                <a:tc>
                  <a:txBody>
                    <a:bodyPr/>
                    <a:lstStyle/>
                    <a:p>
                      <a:r>
                        <a:rPr sz="1200">
                          <a:solidFill>
                            <a:srgbClr val="000000"/>
                          </a:solidFill>
                        </a:rPr>
                        <a:t>GUI: Undo commit</a:t>
                      </a:r>
                    </a:p>
                  </a:txBody>
                  <a:tcPr marT="9000" marB="9000" anchor="ctr"/>
                </a:tc>
                <a:extLst>
                  <a:ext uri="{0D108BD9-81ED-4DB2-BD59-A6C34878D82A}">
                    <a16:rowId xmlns:a16="http://schemas.microsoft.com/office/drawing/2014/main" val="10004"/>
                  </a:ext>
                </a:extLst>
              </a:tr>
              <a:tr h="292608">
                <a:tc>
                  <a:txBody>
                    <a:bodyPr/>
                    <a:lstStyle/>
                    <a:p>
                      <a:r>
                        <a:rPr sz="1200">
                          <a:solidFill>
                            <a:srgbClr val="000000"/>
                          </a:solidFill>
                        </a:rPr>
                        <a:t>Undo last commit and the edits</a:t>
                      </a:r>
                    </a:p>
                  </a:txBody>
                  <a:tcPr marT="9000" marB="9000" anchor="ctr"/>
                </a:tc>
                <a:tc>
                  <a:txBody>
                    <a:bodyPr/>
                    <a:lstStyle/>
                    <a:p>
                      <a:r>
                        <a:rPr sz="1200">
                          <a:solidFill>
                            <a:srgbClr val="000000"/>
                          </a:solidFill>
                          <a:latin typeface="Consolas"/>
                        </a:rPr>
                        <a:t>git reset --hard HEAD~1</a:t>
                      </a:r>
                    </a:p>
                  </a:txBody>
                  <a:tcPr marT="9000" marB="9000" anchor="ctr"/>
                </a:tc>
                <a:tc>
                  <a:txBody>
                    <a:bodyPr/>
                    <a:lstStyle/>
                    <a:p>
                      <a:r>
                        <a:rPr sz="1200">
                          <a:solidFill>
                            <a:srgbClr val="000000"/>
                          </a:solidFill>
                        </a:rPr>
                        <a:t>Only if it was never pushed</a:t>
                      </a:r>
                    </a:p>
                  </a:txBody>
                  <a:tcPr marT="9000" marB="9000" anchor="ctr"/>
                </a:tc>
                <a:extLst>
                  <a:ext uri="{0D108BD9-81ED-4DB2-BD59-A6C34878D82A}">
                    <a16:rowId xmlns:a16="http://schemas.microsoft.com/office/drawing/2014/main" val="10005"/>
                  </a:ext>
                </a:extLst>
              </a:tr>
              <a:tr h="292608">
                <a:tc>
                  <a:txBody>
                    <a:bodyPr/>
                    <a:lstStyle/>
                    <a:p>
                      <a:r>
                        <a:rPr sz="1200">
                          <a:solidFill>
                            <a:srgbClr val="000000"/>
                          </a:solidFill>
                        </a:rPr>
                        <a:t>Already pushed — undo it</a:t>
                      </a:r>
                    </a:p>
                  </a:txBody>
                  <a:tcPr marT="9000" marB="9000" anchor="ctr"/>
                </a:tc>
                <a:tc>
                  <a:txBody>
                    <a:bodyPr/>
                    <a:lstStyle/>
                    <a:p>
                      <a:r>
                        <a:rPr sz="1200">
                          <a:solidFill>
                            <a:srgbClr val="000000"/>
                          </a:solidFill>
                          <a:latin typeface="Consolas"/>
                        </a:rPr>
                        <a:t>git revert &lt;commit&gt;</a:t>
                      </a:r>
                    </a:p>
                  </a:txBody>
                  <a:tcPr marT="9000" marB="9000" anchor="ctr"/>
                </a:tc>
                <a:tc>
                  <a:txBody>
                    <a:bodyPr/>
                    <a:lstStyle/>
                    <a:p>
                      <a:r>
                        <a:rPr sz="1200">
                          <a:solidFill>
                            <a:srgbClr val="000000"/>
                          </a:solidFill>
                        </a:rPr>
                        <a:t>Makes a new, opposite commit. Safe for others</a:t>
                      </a:r>
                    </a:p>
                  </a:txBody>
                  <a:tcPr marT="9000" marB="9000" anchor="ctr"/>
                </a:tc>
                <a:extLst>
                  <a:ext uri="{0D108BD9-81ED-4DB2-BD59-A6C34878D82A}">
                    <a16:rowId xmlns:a16="http://schemas.microsoft.com/office/drawing/2014/main" val="10006"/>
                  </a:ext>
                </a:extLst>
              </a:tr>
              <a:tr h="292608">
                <a:tc>
                  <a:txBody>
                    <a:bodyPr/>
                    <a:lstStyle/>
                    <a:p>
                      <a:r>
                        <a:rPr sz="1200">
                          <a:solidFill>
                            <a:srgbClr val="000000"/>
                          </a:solidFill>
                        </a:rPr>
                        <a:t>Just look at an old version</a:t>
                      </a:r>
                    </a:p>
                  </a:txBody>
                  <a:tcPr marT="9000" marB="9000" anchor="ctr"/>
                </a:tc>
                <a:tc>
                  <a:txBody>
                    <a:bodyPr/>
                    <a:lstStyle/>
                    <a:p>
                      <a:r>
                        <a:rPr sz="1200">
                          <a:solidFill>
                            <a:srgbClr val="000000"/>
                          </a:solidFill>
                          <a:latin typeface="Consolas"/>
                        </a:rPr>
                        <a:t>git switch --detach &lt;commit&gt;</a:t>
                      </a:r>
                    </a:p>
                  </a:txBody>
                  <a:tcPr marT="9000" marB="9000" anchor="ctr"/>
                </a:tc>
                <a:tc>
                  <a:txBody>
                    <a:bodyPr/>
                    <a:lstStyle/>
                    <a:p>
                      <a:r>
                        <a:rPr sz="1200">
                          <a:solidFill>
                            <a:srgbClr val="000000"/>
                          </a:solidFill>
                        </a:rPr>
                        <a:t>Look, do not edit</a:t>
                      </a:r>
                    </a:p>
                  </a:txBody>
                  <a:tcPr marT="9000" marB="9000" anchor="ctr"/>
                </a:tc>
                <a:extLst>
                  <a:ext uri="{0D108BD9-81ED-4DB2-BD59-A6C34878D82A}">
                    <a16:rowId xmlns:a16="http://schemas.microsoft.com/office/drawing/2014/main" val="10007"/>
                  </a:ext>
                </a:extLst>
              </a:tr>
              <a:tr h="292608">
                <a:tc>
                  <a:txBody>
                    <a:bodyPr/>
                    <a:lstStyle/>
                    <a:p>
                      <a:r>
                        <a:rPr sz="1200">
                          <a:solidFill>
                            <a:srgbClr val="000000"/>
                          </a:solidFill>
                        </a:rPr>
                        <a:t>Continue from an old commit</a:t>
                      </a:r>
                    </a:p>
                  </a:txBody>
                  <a:tcPr marT="9000" marB="9000" anchor="ctr"/>
                </a:tc>
                <a:tc>
                  <a:txBody>
                    <a:bodyPr/>
                    <a:lstStyle/>
                    <a:p>
                      <a:r>
                        <a:rPr sz="1200">
                          <a:solidFill>
                            <a:srgbClr val="000000"/>
                          </a:solidFill>
                          <a:latin typeface="Consolas"/>
                        </a:rPr>
                        <a:t>git switch -c fix &lt;commit&gt;</a:t>
                      </a:r>
                    </a:p>
                  </a:txBody>
                  <a:tcPr marT="9000" marB="9000" anchor="ctr"/>
                </a:tc>
                <a:tc>
                  <a:txBody>
                    <a:bodyPr/>
                    <a:lstStyle/>
                    <a:p>
                      <a:r>
                        <a:rPr sz="1200">
                          <a:solidFill>
                            <a:srgbClr val="000000"/>
                          </a:solidFill>
                        </a:rPr>
                        <a:t>Full working state, new branch</a:t>
                      </a:r>
                    </a:p>
                  </a:txBody>
                  <a:tcPr marT="9000" marB="9000" anchor="ctr"/>
                </a:tc>
                <a:extLst>
                  <a:ext uri="{0D108BD9-81ED-4DB2-BD59-A6C34878D82A}">
                    <a16:rowId xmlns:a16="http://schemas.microsoft.com/office/drawing/2014/main" val="10008"/>
                  </a:ext>
                </a:extLst>
              </a:tr>
              <a:tr h="292608">
                <a:tc>
                  <a:txBody>
                    <a:bodyPr/>
                    <a:lstStyle/>
                    <a:p>
                      <a:r>
                        <a:rPr sz="1200">
                          <a:solidFill>
                            <a:srgbClr val="000000"/>
                          </a:solidFill>
                        </a:rPr>
                        <a:t>“I destroyed everything”</a:t>
                      </a:r>
                    </a:p>
                  </a:txBody>
                  <a:tcPr marT="9000" marB="9000" anchor="ctr"/>
                </a:tc>
                <a:tc>
                  <a:txBody>
                    <a:bodyPr/>
                    <a:lstStyle/>
                    <a:p>
                      <a:r>
                        <a:rPr sz="1200">
                          <a:solidFill>
                            <a:srgbClr val="000000"/>
                          </a:solidFill>
                          <a:latin typeface="Consolas"/>
                        </a:rPr>
                        <a:t>git reflog</a:t>
                      </a:r>
                    </a:p>
                  </a:txBody>
                  <a:tcPr marT="9000" marB="9000" anchor="ctr"/>
                </a:tc>
                <a:tc>
                  <a:txBody>
                    <a:bodyPr/>
                    <a:lstStyle/>
                    <a:p>
                      <a:r>
                        <a:rPr sz="1200">
                          <a:solidFill>
                            <a:srgbClr val="000000"/>
                          </a:solidFill>
                        </a:rPr>
                        <a:t>Every HEAD you have had, ~90 days. Find the hash, branch to it</a:t>
                      </a:r>
                    </a:p>
                  </a:txBody>
                  <a:tcPr marT="9000" marB="9000" anchor="ctr"/>
                </a:tc>
                <a:extLst>
                  <a:ext uri="{0D108BD9-81ED-4DB2-BD59-A6C34878D82A}">
                    <a16:rowId xmlns:a16="http://schemas.microsoft.com/office/drawing/2014/main" val="10009"/>
                  </a:ext>
                </a:extLst>
              </a:tr>
              <a:tr h="292608">
                <a:tc>
                  <a:txBody>
                    <a:bodyPr/>
                    <a:lstStyle/>
                    <a:p>
                      <a:r>
                        <a:rPr sz="1200">
                          <a:solidFill>
                            <a:srgbClr val="000000"/>
                          </a:solidFill>
                        </a:rPr>
                        <a:t>Committed a huge or secret file</a:t>
                      </a:r>
                    </a:p>
                  </a:txBody>
                  <a:tcPr marT="9000" marB="9000" anchor="ctr"/>
                </a:tc>
                <a:tc>
                  <a:txBody>
                    <a:bodyPr/>
                    <a:lstStyle/>
                    <a:p>
                      <a:r>
                        <a:rPr sz="1200">
                          <a:solidFill>
                            <a:srgbClr val="000000"/>
                          </a:solidFill>
                          <a:latin typeface="Consolas"/>
                        </a:rPr>
                        <a:t>git rm --cached &lt;file&gt;</a:t>
                      </a:r>
                    </a:p>
                  </a:txBody>
                  <a:tcPr marT="9000" marB="9000" anchor="ctr"/>
                </a:tc>
                <a:tc>
                  <a:txBody>
                    <a:bodyPr/>
                    <a:lstStyle/>
                    <a:p>
                      <a:r>
                        <a:rPr sz="1200">
                          <a:solidFill>
                            <a:srgbClr val="000000"/>
                          </a:solidFill>
                        </a:rPr>
                        <a:t>Rotate the secret </a:t>
                      </a:r>
                      <a:r>
                        <a:rPr sz="1200" b="1">
                          <a:solidFill>
                            <a:srgbClr val="000000"/>
                          </a:solidFill>
                        </a:rPr>
                        <a:t>first</a:t>
                      </a:r>
                      <a:r>
                        <a:rPr sz="1200">
                          <a:solidFill>
                            <a:srgbClr val="000000"/>
                          </a:solidFill>
                        </a:rPr>
                        <a:t>, then rewrite history</a:t>
                      </a:r>
                    </a:p>
                  </a:txBody>
                  <a:tcPr marT="9000" marB="9000" anchor="ctr"/>
                </a:tc>
                <a:extLst>
                  <a:ext uri="{0D108BD9-81ED-4DB2-BD59-A6C34878D82A}">
                    <a16:rowId xmlns:a16="http://schemas.microsoft.com/office/drawing/2014/main" val="10010"/>
                  </a:ext>
                </a:extLst>
              </a:tr>
            </a:tbl>
          </a:graphicData>
        </a:graphic>
      </p:graphicFrame>
      <p:sp>
        <p:nvSpPr>
          <p:cNvPr id="4" name="TextBox 3"/>
          <p:cNvSpPr txBox="1"/>
          <p:nvPr/>
        </p:nvSpPr>
        <p:spPr>
          <a:xfrm>
            <a:off x="822960" y="5989320"/>
            <a:ext cx="10546080" cy="502920"/>
          </a:xfrm>
          <a:prstGeom prst="rect">
            <a:avLst/>
          </a:prstGeom>
          <a:noFill/>
        </p:spPr>
        <p:txBody>
          <a:bodyPr wrap="square">
            <a:spAutoFit/>
          </a:bodyPr>
          <a:lstStyle/>
          <a:p>
            <a:r>
              <a:rPr sz="1400" i="1"/>
              <a:t>The rule: anything committed can be recovered. Anything never committed cannot. That is the whole argument for committing often.</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Worktrees: several working copies at once</a:t>
            </a:r>
          </a:p>
        </p:txBody>
      </p:sp>
      <p:sp>
        <p:nvSpPr>
          <p:cNvPr id="3" name="Content Placeholder 2"/>
          <p:cNvSpPr>
            <a:spLocks noGrp="1"/>
          </p:cNvSpPr>
          <p:nvPr>
            <p:ph idx="1"/>
          </p:nvPr>
        </p:nvSpPr>
        <p:spPr/>
        <p:txBody>
          <a:bodyPr wrap="square">
            <a:normAutofit/>
          </a:bodyPr>
          <a:lstStyle/>
          <a:p>
            <a:r>
              <a:rPr sz="1600" b="1"/>
              <a:t>The situation:</a:t>
            </a:r>
            <a:r>
              <a:rPr sz="1600"/>
              <a:t> you are mid-experiment, the code half works — and you need the </a:t>
            </a:r>
            <a:r>
              <a:rPr sz="1600" i="1"/>
              <a:t>working</a:t>
            </a:r>
            <a:r>
              <a:rPr sz="1600"/>
              <a:t> version to compare against, or to review a colleague's pull request</a:t>
            </a:r>
          </a:p>
          <a:p>
            <a:pPr lvl="1"/>
            <a:r>
              <a:rPr sz="1500"/>
              <a:t>So far your options were: commit garbage, stash, or clone the whole repo again</a:t>
            </a:r>
          </a:p>
          <a:p>
            <a:pPr>
              <a:defRPr sz="700"/>
            </a:pPr>
            <a:endParaRPr sz="1500"/>
          </a:p>
          <a:p>
            <a:r>
              <a:rPr sz="1600"/>
              <a:t>A </a:t>
            </a:r>
            <a:r>
              <a:rPr sz="1600" b="1"/>
              <a:t>worktree</a:t>
            </a:r>
            <a:r>
              <a:rPr sz="1600"/>
              <a:t> is a second folder on disk, on a different branch, sharing </a:t>
            </a:r>
            <a:r>
              <a:rPr sz="1600" b="1"/>
              <a:t>one</a:t>
            </a:r>
            <a:r>
              <a:rPr sz="1600"/>
              <a:t> repository and one history</a:t>
            </a:r>
          </a:p>
          <a:p>
            <a:pPr lvl="1"/>
            <a:r>
              <a:rPr sz="1500"/>
              <a:t>No second clone, no duplicated history, nothing re-downloaded</a:t>
            </a:r>
          </a:p>
          <a:p>
            <a:pPr lvl="1"/>
            <a:r>
              <a:rPr sz="1500"/>
              <a:t>Commit in either folder — it is the same repository</a:t>
            </a:r>
          </a:p>
          <a:p>
            <a:pPr>
              <a:defRPr sz="700"/>
            </a:pPr>
            <a:endParaRPr sz="1500"/>
          </a:p>
          <a:p>
            <a:r>
              <a:rPr sz="1600" b="1"/>
              <a:t>Why this matters for modelling</a:t>
            </a:r>
          </a:p>
          <a:p>
            <a:pPr lvl="1"/>
            <a:r>
              <a:rPr sz="1500"/>
              <a:t>Run the </a:t>
            </a:r>
            <a:r>
              <a:rPr sz="1500" b="1"/>
              <a:t>old</a:t>
            </a:r>
            <a:r>
              <a:rPr sz="1500"/>
              <a:t> and the </a:t>
            </a:r>
            <a:r>
              <a:rPr sz="1500" b="1"/>
              <a:t>new</a:t>
            </a:r>
            <a:r>
              <a:rPr sz="1500"/>
              <a:t> model side by side, two MATLAB/Python sessions, and diff the outputs</a:t>
            </a:r>
          </a:p>
          <a:p>
            <a:pPr lvl="1"/>
            <a:r>
              <a:rPr sz="1500"/>
              <a:t>Let a long simulation keep running on </a:t>
            </a:r>
            <a:r>
              <a:rPr sz="1500">
                <a:latin typeface="Consolas"/>
              </a:rPr>
              <a:t>main</a:t>
            </a:r>
            <a:r>
              <a:rPr sz="1500"/>
              <a:t> while you edit a branch</a:t>
            </a:r>
          </a:p>
          <a:p>
            <a:pPr lvl="1"/>
            <a:r>
              <a:rPr sz="1500"/>
              <a:t>Review a PR without destroying your working state</a:t>
            </a:r>
          </a:p>
          <a:p>
            <a:pPr>
              <a:defRPr sz="700"/>
            </a:pPr>
            <a:endParaRPr sz="1500"/>
          </a:p>
          <a:p>
            <a:r>
              <a:rPr sz="1600"/>
              <a:t>Limit: the same branch cannot be checked out in two worktrees at once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Worktrees: how</a:t>
            </a:r>
          </a:p>
        </p:txBody>
      </p:sp>
      <p:pic>
        <p:nvPicPr>
          <p:cNvPr id="4" name="Picture 3" descr="A worktree diagram: a folder labelled 'Git Repo' connects to three further folders labelled 'Worktrees'. Coloured arrows link each worktree folder to a different branch on the commit graph below — a red bugfix branch, the blue main branch, and a green feature branch.">
            <a:extLst>
              <a:ext uri="{FF2B5EF4-FFF2-40B4-BE49-F238E27FC236}">
                <a16:creationId xmlns:a16="http://schemas.microsoft.com/office/drawing/2014/main" id="{F27D7574-3E64-7986-2DE4-8FEF0C58D76C}"/>
              </a:ext>
            </a:extLst>
          </p:cNvPr>
          <p:cNvPicPr>
            <a:picLocks noChangeAspect="1"/>
          </p:cNvPicPr>
          <p:nvPr/>
        </p:nvPicPr>
        <p:blipFill>
          <a:blip r:embed="rId3"/>
          <a:stretch>
            <a:fillRect/>
          </a:stretch>
        </p:blipFill>
        <p:spPr>
          <a:xfrm>
            <a:off x="8167978" y="0"/>
            <a:ext cx="4024021" cy="2616200"/>
          </a:xfrm>
          <a:prstGeom prst="rect">
            <a:avLst/>
          </a:prstGeom>
        </p:spPr>
      </p:pic>
      <p:sp>
        <p:nvSpPr>
          <p:cNvPr id="3" name="Content Placeholder 2"/>
          <p:cNvSpPr>
            <a:spLocks noGrp="1"/>
          </p:cNvSpPr>
          <p:nvPr>
            <p:ph idx="1"/>
          </p:nvPr>
        </p:nvSpPr>
        <p:spPr/>
        <p:txBody>
          <a:bodyPr wrap="square">
            <a:normAutofit/>
          </a:bodyPr>
          <a:lstStyle/>
          <a:p>
            <a:r>
              <a:rPr sz="1600" b="1"/>
              <a:t>GitHub Desktop 3.6 (June 2026) added them</a:t>
            </a:r>
            <a:r>
              <a:rPr sz="1600"/>
              <a:t> — it is no longer CLI-only</a:t>
            </a:r>
          </a:p>
          <a:p>
            <a:pPr lvl="1"/>
            <a:r>
              <a:rPr sz="1500"/>
              <a:t>Repository ▸ </a:t>
            </a:r>
            <a:r>
              <a:rPr sz="1500" b="1"/>
              <a:t>New Worktree…</a:t>
            </a:r>
            <a:r>
              <a:rPr sz="1500"/>
              <a:t> → give it a name; leave the branch blank to make a new one</a:t>
            </a:r>
          </a:p>
          <a:p>
            <a:pPr lvl="1"/>
            <a:r>
              <a:rPr sz="1500"/>
              <a:t>A </a:t>
            </a:r>
            <a:r>
              <a:rPr sz="1500" b="1"/>
              <a:t>Current Worktree</a:t>
            </a:r>
            <a:r>
              <a:rPr sz="1500"/>
              <a:t> menu appears next to </a:t>
            </a:r>
            <a:r>
              <a:rPr sz="1500" i="1"/>
              <a:t>Current Repository</a:t>
            </a:r>
            <a:r>
              <a:rPr sz="1500"/>
              <a:t> and </a:t>
            </a:r>
            <a:r>
              <a:rPr sz="1500" i="1"/>
              <a:t>Current Branch</a:t>
            </a:r>
          </a:p>
          <a:p>
            <a:pPr lvl="1"/>
            <a:r>
              <a:rPr sz="1500"/>
              <a:t>Switching worktree switches the </a:t>
            </a:r>
            <a:r>
              <a:rPr sz="1500" b="1"/>
              <a:t>folder and the branch together</a:t>
            </a:r>
            <a:r>
              <a:rPr sz="1500"/>
              <a:t> — that is the whole idea</a:t>
            </a:r>
          </a:p>
          <a:p>
            <a:pPr lvl="1"/>
            <a:r>
              <a:rPr sz="1500"/>
              <a:t>Right-click a linked worktree ▸ </a:t>
            </a:r>
            <a:r>
              <a:rPr sz="1500" b="1"/>
              <a:t>Delete…</a:t>
            </a:r>
            <a:r>
              <a:rPr sz="1500"/>
              <a:t>  (it refuses if you have uncommitted changes)</a:t>
            </a:r>
          </a:p>
          <a:p>
            <a:pPr lvl="1"/>
            <a:r>
              <a:rPr sz="1500"/>
              <a:t>You cannot rename or delete the </a:t>
            </a:r>
            <a:r>
              <a:rPr sz="1500" i="1"/>
              <a:t>main</a:t>
            </a:r>
            <a:r>
              <a:rPr sz="1500"/>
              <a:t> worktree</a:t>
            </a:r>
          </a:p>
          <a:p>
            <a:pPr>
              <a:defRPr sz="700"/>
            </a:pPr>
            <a:endParaRPr sz="1500"/>
          </a:p>
          <a:p>
            <a:r>
              <a:rPr sz="1600" b="1"/>
              <a:t>Command line</a:t>
            </a:r>
          </a:p>
          <a:p>
            <a:pPr lvl="1"/>
            <a:r>
              <a:rPr sz="1500">
                <a:latin typeface="Consolas"/>
              </a:rPr>
              <a:t>git worktree add ../proj-main main</a:t>
            </a:r>
          </a:p>
          <a:p>
            <a:pPr lvl="1"/>
            <a:r>
              <a:rPr sz="1500">
                <a:latin typeface="Consolas"/>
              </a:rPr>
              <a:t>git worktree list</a:t>
            </a:r>
          </a:p>
          <a:p>
            <a:pPr lvl="1"/>
            <a:r>
              <a:rPr sz="1500">
                <a:latin typeface="Consolas"/>
              </a:rPr>
              <a:t>git worktree remove ../proj-main</a:t>
            </a:r>
          </a:p>
          <a:p>
            <a:pPr>
              <a:defRPr sz="700"/>
            </a:pPr>
            <a:endParaRPr sz="1500">
              <a:latin typeface="Consolas"/>
            </a:endParaRPr>
          </a:p>
          <a:p>
            <a:r>
              <a:rPr sz="1600"/>
              <a:t>Rule of thumb: put them </a:t>
            </a:r>
            <a:r>
              <a:rPr sz="1600" b="1"/>
              <a:t>next to</a:t>
            </a:r>
            <a:r>
              <a:rPr sz="1600"/>
              <a:t> the repo, never inside it, and delete them when done.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Try it: both greetings at once</a:t>
            </a:r>
          </a:p>
        </p:txBody>
      </p:sp>
      <p:sp>
        <p:nvSpPr>
          <p:cNvPr id="3" name="Content Placeholder 2"/>
          <p:cNvSpPr>
            <a:spLocks noGrp="1"/>
          </p:cNvSpPr>
          <p:nvPr>
            <p:ph idx="1"/>
          </p:nvPr>
        </p:nvSpPr>
        <p:spPr/>
        <p:txBody>
          <a:bodyPr wrap="square">
            <a:normAutofit/>
          </a:bodyPr>
          <a:lstStyle/>
          <a:p>
            <a:pPr/>
            <a:r>
              <a:rPr sz="1600"/>
              <a:t>You now have the same line saying two different things on two branches.</a:t>
            </a:r>
          </a:p>
          <a:p>
            <a:pPr/>
            <a:r>
              <a:rPr sz="1600"/>
              <a:t>Switching back and forth to compare them is exactly the annoyance worktrees remove.</a:t>
            </a:r>
          </a:p>
          <a:p>
            <a:pPr>
              <a:defRPr sz="700"/>
            </a:pPr>
          </a:p>
          <a:p>
            <a:pPr/>
            <a:r>
              <a:rPr sz="1600"/>
              <a:t>You are standing on </a:t>
            </a:r>
            <a:r>
              <a:rPr sz="1600">
                <a:latin typeface="Consolas"/>
              </a:rPr>
              <a:t>main</a:t>
            </a:r>
            <a:r>
              <a:rPr sz="1600"/>
              <a:t>. Put </a:t>
            </a:r>
            <a:r>
              <a:rPr sz="1600">
                <a:latin typeface="Consolas"/>
              </a:rPr>
              <a:t>greeting-na</a:t>
            </a:r>
            <a:r>
              <a:rPr sz="1600"/>
              <a:t> into a </a:t>
            </a:r>
            <a:r>
              <a:rPr b="1" sz="1600"/>
              <a:t>second folder</a:t>
            </a:r>
            <a:r>
              <a:rPr sz="1600"/>
              <a:t>:</a:t>
            </a:r>
          </a:p>
          <a:p>
            <a:pPr lvl="1"/>
            <a:r>
              <a:rPr b="1" sz="1500"/>
              <a:t>Repository ▸ New Worktree…</a:t>
            </a:r>
            <a:r>
              <a:rPr sz="1500"/>
              <a:t>  →  Name: </a:t>
            </a:r>
            <a:r>
              <a:rPr sz="1500">
                <a:latin typeface="Consolas"/>
              </a:rPr>
              <a:t>gitintro-na</a:t>
            </a:r>
            <a:r>
              <a:rPr sz="1500"/>
              <a:t>, Branch: </a:t>
            </a:r>
            <a:r>
              <a:rPr sz="1500">
                <a:latin typeface="Consolas"/>
              </a:rPr>
              <a:t>greeting-na</a:t>
            </a:r>
          </a:p>
          <a:p>
            <a:pPr lvl="1"/>
            <a:r>
              <a:rPr sz="1500"/>
              <a:t>Command line: </a:t>
            </a:r>
            <a:r>
              <a:rPr sz="1500">
                <a:latin typeface="Consolas"/>
              </a:rPr>
              <a:t>git worktree add ../gitintro-na greeting-na</a:t>
            </a:r>
          </a:p>
          <a:p>
            <a:pPr/>
            <a:r>
              <a:rPr sz="1600"/>
              <a:t>Open both folders side by side — two VS Code or MATLAB windows</a:t>
            </a:r>
          </a:p>
          <a:p>
            <a:pPr lvl="1"/>
            <a:r>
              <a:rPr sz="1500"/>
              <a:t>The original folder says </a:t>
            </a:r>
            <a:r>
              <a:rPr b="1" sz="1500"/>
              <a:t>“Good afternoon, Europe”</a:t>
            </a:r>
          </a:p>
          <a:p>
            <a:pPr lvl="1"/>
            <a:r>
              <a:rPr sz="1500"/>
              <a:t>The new folder says </a:t>
            </a:r>
            <a:r>
              <a:rPr b="1" sz="1500"/>
              <a:t>“Hello North America”</a:t>
            </a:r>
          </a:p>
          <a:p>
            <a:pPr lvl="1"/>
            <a:r>
              <a:rPr sz="1500"/>
              <a:t>Same repository, same history, two working copies</a:t>
            </a:r>
          </a:p>
          <a:p>
            <a:pPr>
              <a:defRPr sz="700"/>
            </a:pPr>
          </a:p>
          <a:p>
            <a:pPr/>
            <a:r>
              <a:rPr b="1" sz="1600"/>
              <a:t>Why the new folder gets `greeting-na` and not `main`:</a:t>
            </a:r>
            <a:r>
              <a:rPr sz="1600"/>
              <a:t> a branch can be checked out in only </a:t>
            </a:r>
            <a:r>
              <a:rPr b="1" sz="1600"/>
              <a:t>one</a:t>
            </a:r>
            <a:r>
              <a:rPr sz="1600"/>
              <a:t> worktree at a time, and </a:t>
            </a:r>
            <a:r>
              <a:rPr sz="1600">
                <a:latin typeface="Consolas"/>
              </a:rPr>
              <a:t>main</a:t>
            </a:r>
            <a:r>
              <a:rPr sz="1600"/>
              <a:t> is already here.</a:t>
            </a:r>
          </a:p>
          <a:p>
            <a:pPr>
              <a:defRPr sz="700"/>
            </a:pPr>
          </a:p>
          <a:p>
            <a:pPr/>
            <a:r>
              <a:rPr sz="1600"/>
              <a:t>When you are done: right-click the worktree ▸ </a:t>
            </a:r>
            <a:r>
              <a:rPr b="1" sz="1600"/>
              <a:t>Delete</a:t>
            </a:r>
          </a:p>
          <a:p>
            <a:pPr/>
            <a:r>
              <a:rPr b="1" sz="1600"/>
              <a:t>For real work:</a:t>
            </a:r>
            <a:r>
              <a:rPr sz="1600"/>
              <a:t> run the </a:t>
            </a:r>
            <a:r>
              <a:rPr i="1" sz="1600"/>
              <a:t>old</a:t>
            </a:r>
            <a:r>
              <a:rPr sz="1600"/>
              <a:t> and the </a:t>
            </a:r>
            <a:r>
              <a:rPr i="1" sz="1600"/>
              <a:t>new</a:t>
            </a:r>
            <a:r>
              <a:rPr sz="1600"/>
              <a:t> model side by side and diff the outputs.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Merge conflicts: the reference card</a:t>
            </a:r>
          </a:p>
        </p:txBody>
      </p:sp>
      <p:graphicFrame>
        <p:nvGraphicFramePr>
          <p:cNvPr id="3" name="Table 2" descr="Table explaining Git merge-conflict markers and how to resolve each case."/>
          <p:cNvGraphicFramePr>
            <a:graphicFrameLocks noGrp="1"/>
          </p:cNvGraphicFramePr>
          <p:nvPr/>
        </p:nvGraphicFramePr>
        <p:xfrm>
          <a:off x="792480" y="1828800"/>
          <a:ext cx="10607040" cy="2048256"/>
        </p:xfrm>
        <a:graphic>
          <a:graphicData uri="http://schemas.openxmlformats.org/drawingml/2006/table">
            <a:tbl>
              <a:tblPr firstRow="1" bandRow="1">
                <a:tableStyleId>{5C22544A-7EE6-4342-B048-85BDC9FD1C3A}</a:tableStyleId>
              </a:tblPr>
              <a:tblGrid>
                <a:gridCol w="2834640"/>
                <a:gridCol w="4206240"/>
                <a:gridCol w="3566160"/>
              </a:tblGrid>
              <a:tr h="292608">
                <a:tc>
                  <a:txBody>
                    <a:bodyPr/>
                    <a:lstStyle/>
                    <a:p>
                      <a:r>
                        <a:rPr sz="1300" b="1">
                          <a:solidFill>
                            <a:srgbClr val="FFFFFF"/>
                          </a:solidFill>
                        </a:rPr>
                        <a:t>What you see</a:t>
                      </a:r>
                    </a:p>
                  </a:txBody>
                  <a:tcPr anchor="ctr">
                    <a:solidFill>
                      <a:srgbClr val="1F4E79"/>
                    </a:solidFill>
                  </a:tcPr>
                </a:tc>
                <a:tc>
                  <a:txBody>
                    <a:bodyPr/>
                    <a:lstStyle/>
                    <a:p>
                      <a:r>
                        <a:rPr sz="1300" b="1">
                          <a:solidFill>
                            <a:srgbClr val="FFFFFF"/>
                          </a:solidFill>
                        </a:rPr>
                        <a:t>What it means</a:t>
                      </a:r>
                    </a:p>
                  </a:txBody>
                  <a:tcPr anchor="ctr">
                    <a:solidFill>
                      <a:srgbClr val="1F4E79"/>
                    </a:solidFill>
                  </a:tcPr>
                </a:tc>
                <a:tc>
                  <a:txBody>
                    <a:bodyPr/>
                    <a:lstStyle/>
                    <a:p>
                      <a:r>
                        <a:rPr sz="1300" b="1">
                          <a:solidFill>
                            <a:srgbClr val="FFFFFF"/>
                          </a:solidFill>
                        </a:rPr>
                        <a:t>What to do</a:t>
                      </a:r>
                    </a:p>
                  </a:txBody>
                  <a:tcPr anchor="ctr">
                    <a:solidFill>
                      <a:srgbClr val="1F4E79"/>
                    </a:solidFill>
                  </a:tcPr>
                </a:tc>
              </a:tr>
              <a:tr h="292608">
                <a:tc>
                  <a:txBody>
                    <a:bodyPr wrap="square"/>
                    <a:lstStyle/>
                    <a:p>
                      <a:r>
                        <a:rPr sz="1200">
                          <a:solidFill>
                            <a:srgbClr val="000000"/>
                          </a:solidFill>
                          <a:latin typeface="Consolas"/>
                        </a:rPr>
                        <a:t>&lt;&lt;&lt;&lt;&lt;&lt;&lt; HEAD</a:t>
                      </a:r>
                    </a:p>
                  </a:txBody>
                  <a:tcPr anchor="ctr"/>
                </a:tc>
                <a:tc>
                  <a:txBody>
                    <a:bodyPr wrap="square"/>
                    <a:lstStyle/>
                    <a:p>
                      <a:r>
                        <a:rPr sz="1200">
                          <a:solidFill>
                            <a:srgbClr val="000000"/>
                          </a:solidFill>
                        </a:rPr>
                        <a:t>Everything below is </a:t>
                      </a:r>
                      <a:r>
                        <a:rPr b="1" sz="1200">
                          <a:solidFill>
                            <a:srgbClr val="000000"/>
                          </a:solidFill>
                        </a:rPr>
                        <a:t>your</a:t>
                      </a:r>
                      <a:r>
                        <a:rPr sz="1200">
                          <a:solidFill>
                            <a:srgbClr val="000000"/>
                          </a:solidFill>
                        </a:rPr>
                        <a:t> branch — the one you are standing on</a:t>
                      </a:r>
                    </a:p>
                  </a:txBody>
                  <a:tcPr anchor="ctr"/>
                </a:tc>
                <a:tc>
                  <a:txBody>
                    <a:bodyPr wrap="square"/>
                    <a:lstStyle/>
                    <a:p>
                      <a:r>
                        <a:rPr sz="1200">
                          <a:solidFill>
                            <a:srgbClr val="000000"/>
                          </a:solidFill>
                        </a:rPr>
                        <a:t>Keep, edit or delete it</a:t>
                      </a:r>
                    </a:p>
                  </a:txBody>
                  <a:tcPr anchor="ctr"/>
                </a:tc>
              </a:tr>
              <a:tr h="292608">
                <a:tc>
                  <a:txBody>
                    <a:bodyPr wrap="square"/>
                    <a:lstStyle/>
                    <a:p>
                      <a:r>
                        <a:rPr sz="1200">
                          <a:solidFill>
                            <a:srgbClr val="000000"/>
                          </a:solidFill>
                          <a:latin typeface="Consolas"/>
                        </a:rPr>
                        <a:t>=======</a:t>
                      </a:r>
                    </a:p>
                  </a:txBody>
                  <a:tcPr anchor="ctr"/>
                </a:tc>
                <a:tc>
                  <a:txBody>
                    <a:bodyPr wrap="square"/>
                    <a:lstStyle/>
                    <a:p>
                      <a:r>
                        <a:rPr sz="1200">
                          <a:solidFill>
                            <a:srgbClr val="000000"/>
                          </a:solidFill>
                        </a:rPr>
                        <a:t>The divider between the two versions</a:t>
                      </a:r>
                    </a:p>
                  </a:txBody>
                  <a:tcPr anchor="ctr"/>
                </a:tc>
                <a:tc>
                  <a:txBody>
                    <a:bodyPr wrap="square"/>
                    <a:lstStyle/>
                    <a:p>
                      <a:r>
                        <a:rPr sz="1200">
                          <a:solidFill>
                            <a:srgbClr val="000000"/>
                          </a:solidFill>
                        </a:rPr>
                        <a:t>Delete this line</a:t>
                      </a:r>
                    </a:p>
                  </a:txBody>
                  <a:tcPr anchor="ctr"/>
                </a:tc>
              </a:tr>
              <a:tr h="292608">
                <a:tc>
                  <a:txBody>
                    <a:bodyPr wrap="square"/>
                    <a:lstStyle/>
                    <a:p>
                      <a:r>
                        <a:rPr sz="1200">
                          <a:solidFill>
                            <a:srgbClr val="000000"/>
                          </a:solidFill>
                          <a:latin typeface="Consolas"/>
                        </a:rPr>
                        <a:t>&gt;&gt;&gt;&gt;&gt;&gt;&gt; main</a:t>
                      </a:r>
                    </a:p>
                  </a:txBody>
                  <a:tcPr anchor="ctr"/>
                </a:tc>
                <a:tc>
                  <a:txBody>
                    <a:bodyPr wrap="square"/>
                    <a:lstStyle/>
                    <a:p>
                      <a:r>
                        <a:rPr sz="1200">
                          <a:solidFill>
                            <a:srgbClr val="000000"/>
                          </a:solidFill>
                        </a:rPr>
                        <a:t>Everything above came from the branch you are merging </a:t>
                      </a:r>
                      <a:r>
                        <a:rPr b="1" sz="1200">
                          <a:solidFill>
                            <a:srgbClr val="000000"/>
                          </a:solidFill>
                        </a:rPr>
                        <a:t>in</a:t>
                      </a:r>
                    </a:p>
                  </a:txBody>
                  <a:tcPr anchor="ctr"/>
                </a:tc>
                <a:tc>
                  <a:txBody>
                    <a:bodyPr wrap="square"/>
                    <a:lstStyle/>
                    <a:p>
                      <a:r>
                        <a:rPr sz="1200">
                          <a:solidFill>
                            <a:srgbClr val="000000"/>
                          </a:solidFill>
                        </a:rPr>
                        <a:t>Keep, edit or delete it</a:t>
                      </a:r>
                    </a:p>
                  </a:txBody>
                  <a:tcPr anchor="ctr"/>
                </a:tc>
              </a:tr>
              <a:tr h="292608">
                <a:tc>
                  <a:txBody>
                    <a:bodyPr wrap="square"/>
                    <a:lstStyle/>
                    <a:p>
                      <a:r>
                        <a:rPr sz="1200">
                          <a:solidFill>
                            <a:srgbClr val="000000"/>
                          </a:solidFill>
                        </a:rPr>
                        <a:t>A file marked </a:t>
                      </a:r>
                      <a:r>
                        <a:rPr i="1" sz="1200">
                          <a:solidFill>
                            <a:srgbClr val="000000"/>
                          </a:solidFill>
                        </a:rPr>
                        <a:t>Conflicted</a:t>
                      </a:r>
                    </a:p>
                  </a:txBody>
                  <a:tcPr anchor="ctr"/>
                </a:tc>
                <a:tc>
                  <a:txBody>
                    <a:bodyPr wrap="square"/>
                    <a:lstStyle/>
                    <a:p>
                      <a:r>
                        <a:rPr sz="1200">
                          <a:solidFill>
                            <a:srgbClr val="000000"/>
                          </a:solidFill>
                        </a:rPr>
                        <a:t>Git stopped; it will not guess for you</a:t>
                      </a:r>
                    </a:p>
                  </a:txBody>
                  <a:tcPr anchor="ctr"/>
                </a:tc>
                <a:tc>
                  <a:txBody>
                    <a:bodyPr wrap="square"/>
                    <a:lstStyle/>
                    <a:p>
                      <a:r>
                        <a:rPr sz="1200">
                          <a:solidFill>
                            <a:srgbClr val="000000"/>
                          </a:solidFill>
                        </a:rPr>
                        <a:t>Edit the file until it is correct, then stage it</a:t>
                      </a:r>
                    </a:p>
                  </a:txBody>
                  <a:tcPr anchor="ctr"/>
                </a:tc>
              </a:tr>
              <a:tr h="292608">
                <a:tc>
                  <a:txBody>
                    <a:bodyPr wrap="square"/>
                    <a:lstStyle/>
                    <a:p>
                      <a:r>
                        <a:rPr sz="1200">
                          <a:solidFill>
                            <a:srgbClr val="000000"/>
                          </a:solidFill>
                        </a:rPr>
                        <a:t>“I want the whole merge undone”</a:t>
                      </a:r>
                    </a:p>
                  </a:txBody>
                  <a:tcPr anchor="ctr"/>
                </a:tc>
                <a:tc>
                  <a:txBody>
                    <a:bodyPr wrap="square"/>
                    <a:lstStyle/>
                    <a:p>
                      <a:r>
                        <a:rPr sz="1200">
                          <a:solidFill>
                            <a:srgbClr val="000000"/>
                          </a:solidFill>
                        </a:rPr>
                        <a:t>Nothing is committed yet</a:t>
                      </a:r>
                    </a:p>
                  </a:txBody>
                  <a:tcPr anchor="ctr"/>
                </a:tc>
                <a:tc>
                  <a:txBody>
                    <a:bodyPr wrap="square"/>
                    <a:lstStyle/>
                    <a:p>
                      <a:r>
                        <a:rPr sz="1200">
                          <a:solidFill>
                            <a:srgbClr val="000000"/>
                          </a:solidFill>
                          <a:latin typeface="Consolas"/>
                        </a:rPr>
                        <a:t>git merge --abort</a:t>
                      </a:r>
                      <a:r>
                        <a:rPr sz="1200">
                          <a:solidFill>
                            <a:srgbClr val="000000"/>
                          </a:solidFill>
                        </a:rPr>
                        <a:t>  (GUI: Abort merge)</a:t>
                      </a:r>
                    </a:p>
                  </a:txBody>
                  <a:tcPr anchor="ctr"/>
                </a:tc>
              </a:tr>
              <a:tr h="292608">
                <a:tc>
                  <a:txBody>
                    <a:bodyPr wrap="square"/>
                    <a:lstStyle/>
                    <a:p>
                      <a:r>
                        <a:rPr sz="1200">
                          <a:solidFill>
                            <a:srgbClr val="000000"/>
                          </a:solidFill>
                        </a:rPr>
                        <a:t>A binary file (</a:t>
                      </a:r>
                      <a:r>
                        <a:rPr sz="1200">
                          <a:solidFill>
                            <a:srgbClr val="000000"/>
                          </a:solidFill>
                          <a:latin typeface="Consolas"/>
                        </a:rPr>
                        <a:t>.slx</a:t>
                      </a:r>
                      <a:r>
                        <a:rPr sz="1200">
                          <a:solidFill>
                            <a:srgbClr val="000000"/>
                          </a:solidFill>
                        </a:rPr>
                        <a:t> </a:t>
                      </a:r>
                      <a:r>
                        <a:rPr sz="1200">
                          <a:solidFill>
                            <a:srgbClr val="000000"/>
                          </a:solidFill>
                          <a:latin typeface="Consolas"/>
                        </a:rPr>
                        <a:t>.mat</a:t>
                      </a:r>
                      <a:r>
                        <a:rPr sz="1200">
                          <a:solidFill>
                            <a:srgbClr val="000000"/>
                          </a:solidFill>
                        </a:rPr>
                        <a:t> </a:t>
                      </a:r>
                      <a:r>
                        <a:rPr sz="1200">
                          <a:solidFill>
                            <a:srgbClr val="000000"/>
                          </a:solidFill>
                          <a:latin typeface="Consolas"/>
                        </a:rPr>
                        <a:t>.png</a:t>
                      </a:r>
                      <a:r>
                        <a:rPr sz="1200">
                          <a:solidFill>
                            <a:srgbClr val="000000"/>
                          </a:solidFill>
                        </a:rPr>
                        <a:t>)</a:t>
                      </a:r>
                    </a:p>
                  </a:txBody>
                  <a:tcPr anchor="ctr"/>
                </a:tc>
                <a:tc>
                  <a:txBody>
                    <a:bodyPr wrap="square"/>
                    <a:lstStyle/>
                    <a:p>
                      <a:r>
                        <a:rPr sz="1200">
                          <a:solidFill>
                            <a:srgbClr val="000000"/>
                          </a:solidFill>
                        </a:rPr>
                        <a:t>No line-by-line merge exists</a:t>
                      </a:r>
                    </a:p>
                  </a:txBody>
                  <a:tcPr anchor="ctr"/>
                </a:tc>
                <a:tc>
                  <a:txBody>
                    <a:bodyPr wrap="square"/>
                    <a:lstStyle/>
                    <a:p>
                      <a:r>
                        <a:rPr sz="1200">
                          <a:solidFill>
                            <a:srgbClr val="000000"/>
                          </a:solidFill>
                        </a:rPr>
                        <a:t>Choose one version whole — mine or theirs</a:t>
                      </a:r>
                    </a:p>
                  </a:txBody>
                  <a:tcPr anchor="ct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Issues, Projects and Actions</a:t>
            </a:r>
          </a:p>
        </p:txBody>
      </p:sp>
      <p:sp>
        <p:nvSpPr>
          <p:cNvPr id="3" name="Content Placeholder 2"/>
          <p:cNvSpPr>
            <a:spLocks noGrp="1"/>
          </p:cNvSpPr>
          <p:nvPr>
            <p:ph idx="1"/>
          </p:nvPr>
        </p:nvSpPr>
        <p:spPr/>
        <p:txBody>
          <a:bodyPr wrap="square">
            <a:normAutofit/>
          </a:bodyPr>
          <a:lstStyle/>
          <a:p>
            <a:pPr/>
            <a:r>
              <a:rPr sz="1600"/>
              <a:t>GitHub is not just file storage. Three things worth knowing exist above the repository:</a:t>
            </a:r>
          </a:p>
          <a:p>
            <a:pPr>
              <a:defRPr sz="700"/>
            </a:pPr>
          </a:p>
          <a:p>
            <a:pPr/>
            <a:r>
              <a:rPr b="1" sz="1600"/>
              <a:t>Issues</a:t>
            </a:r>
            <a:r>
              <a:rPr sz="1600"/>
              <a:t> — the lab notebook of a codebase</a:t>
            </a:r>
          </a:p>
          <a:p>
            <a:pPr lvl="1"/>
            <a:r>
              <a:rPr sz="1500"/>
              <a:t>A bug, a question, a to-do. Numbered, searchable, assignable, and they never get lost in email</a:t>
            </a:r>
          </a:p>
          <a:p>
            <a:pPr lvl="1"/>
            <a:r>
              <a:rPr sz="1500"/>
              <a:t>Write “fixes #12” in a commit message and GitHub closes issue 12 when it lands</a:t>
            </a:r>
          </a:p>
          <a:p>
            <a:pPr lvl="1"/>
            <a:r>
              <a:rPr sz="1500"/>
              <a:t>The most useful un-taught feature for a research group</a:t>
            </a:r>
          </a:p>
          <a:p>
            <a:pPr/>
            <a:r>
              <a:rPr b="1" sz="1600"/>
              <a:t>Projects</a:t>
            </a:r>
            <a:r>
              <a:rPr sz="1600"/>
              <a:t> — a kanban board over those issues (Todo / Doing / Done)</a:t>
            </a:r>
          </a:p>
          <a:p>
            <a:pPr/>
            <a:r>
              <a:rPr b="1" sz="1600"/>
              <a:t>Actions</a:t>
            </a:r>
            <a:r>
              <a:rPr sz="1600"/>
              <a:t> — run something automatically on every push</a:t>
            </a:r>
          </a:p>
          <a:p>
            <a:pPr lvl="1"/>
            <a:r>
              <a:rPr sz="1500"/>
              <a:t>Run the tests · rebuild a figure · check that the model still solves</a:t>
            </a:r>
          </a:p>
          <a:p>
            <a:pPr lvl="1"/>
            <a:r>
              <a:rPr sz="1500"/>
              <a:t>Free for public repositories; a monthly quota for private ones</a:t>
            </a:r>
          </a:p>
          <a:p>
            <a:pPr lvl="1"/>
            <a:r>
              <a:rPr sz="1500"/>
              <a:t>Realistic first use: one workflow that runs one script and fails loudly if a result changed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Big files: Git LFS and the free alternatives</a:t>
            </a:r>
          </a:p>
        </p:txBody>
      </p:sp>
      <p:sp>
        <p:nvSpPr>
          <p:cNvPr id="3" name="Content Placeholder 2"/>
          <p:cNvSpPr>
            <a:spLocks noGrp="1"/>
          </p:cNvSpPr>
          <p:nvPr>
            <p:ph idx="1"/>
          </p:nvPr>
        </p:nvSpPr>
        <p:spPr/>
        <p:txBody>
          <a:bodyPr wrap="square">
            <a:normAutofit/>
          </a:bodyPr>
          <a:lstStyle/>
          <a:p>
            <a:pPr/>
            <a:r>
              <a:rPr sz="1600"/>
              <a:t>GitHub blocks files over </a:t>
            </a:r>
            <a:r>
              <a:rPr b="1" sz="1600"/>
              <a:t>100 MB</a:t>
            </a:r>
            <a:r>
              <a:rPr sz="1600"/>
              <a:t>, warns over 50 MB, wants repos under ~5 GB</a:t>
            </a:r>
          </a:p>
          <a:p>
            <a:pPr>
              <a:defRPr sz="700"/>
            </a:pPr>
          </a:p>
          <a:p>
            <a:pPr/>
            <a:r>
              <a:rPr b="1" sz="1600"/>
              <a:t>Git LFS</a:t>
            </a:r>
            <a:r>
              <a:rPr sz="1600"/>
              <a:t> — keeps a pointer in Git, the bytes on a server</a:t>
            </a:r>
          </a:p>
          <a:p>
            <a:pPr lvl="1"/>
            <a:r>
              <a:rPr sz="1500">
                <a:latin typeface="Consolas"/>
              </a:rPr>
              <a:t>git lfs track "*.mat"</a:t>
            </a:r>
            <a:r>
              <a:rPr sz="1500"/>
              <a:t> → writes </a:t>
            </a:r>
            <a:r>
              <a:rPr sz="1500">
                <a:latin typeface="Consolas"/>
              </a:rPr>
              <a:t>.gitattributes</a:t>
            </a:r>
            <a:r>
              <a:rPr sz="1500"/>
              <a:t> → commit that file too</a:t>
            </a:r>
          </a:p>
          <a:p>
            <a:pPr lvl="1"/>
            <a:r>
              <a:rPr sz="1500"/>
              <a:t>Free tier: </a:t>
            </a:r>
            <a:r>
              <a:rPr b="1" sz="1500"/>
              <a:t>10 GiB storage and 10 GiB bandwidth a month</a:t>
            </a:r>
            <a:r>
              <a:rPr sz="1500"/>
              <a:t> (Free/Pro accounts)</a:t>
            </a:r>
          </a:p>
          <a:p>
            <a:pPr lvl="1"/>
            <a:r>
              <a:rPr b="1" sz="1500"/>
              <a:t>Bandwidth is counted per download</a:t>
            </a:r>
            <a:r>
              <a:rPr sz="1500"/>
              <a:t> — every clone by every person spends it. That is the part that bites.</a:t>
            </a:r>
          </a:p>
          <a:p>
            <a:pPr>
              <a:defRPr sz="700"/>
            </a:pPr>
          </a:p>
          <a:p>
            <a:pPr/>
            <a:r>
              <a:rPr b="1" sz="1600"/>
              <a:t>Free alternatives, in the order to consider them</a:t>
            </a:r>
          </a:p>
          <a:p>
            <a:pPr lvl="1"/>
            <a:r>
              <a:rPr b="1" sz="1500"/>
              <a:t>Zenodo / OSF / Figshare</a:t>
            </a:r>
            <a:r>
              <a:rPr sz="1500"/>
              <a:t> — free, versioned, and you get a </a:t>
            </a:r>
            <a:r>
              <a:rPr b="1" sz="1500"/>
              <a:t>DOI</a:t>
            </a:r>
            <a:r>
              <a:rPr sz="1500"/>
              <a:t>. Best for data behind a paper</a:t>
            </a:r>
          </a:p>
          <a:p>
            <a:pPr lvl="1"/>
            <a:r>
              <a:rPr b="1" sz="1500"/>
              <a:t>DVC</a:t>
            </a:r>
            <a:r>
              <a:rPr sz="1500"/>
              <a:t> — free tool, you supply the storage (U-M Turbo, Google Drive, S3). A pointer file lives in Git</a:t>
            </a:r>
          </a:p>
          <a:p>
            <a:pPr lvl="1"/>
            <a:r>
              <a:rPr b="1" sz="1500"/>
              <a:t>GitHub Releases</a:t>
            </a:r>
            <a:r>
              <a:rPr sz="1500"/>
              <a:t> — attach large assets to a tagged release; outside the LFS quota, but not line-by-line versioned</a:t>
            </a:r>
          </a:p>
          <a:p>
            <a:pPr lvl="1"/>
            <a:r>
              <a:rPr b="1" sz="1500"/>
              <a:t>Hugging Face Hub</a:t>
            </a:r>
            <a:r>
              <a:rPr sz="1500"/>
              <a:t> — free, git-based, generous limits; good for datasets and models</a:t>
            </a:r>
          </a:p>
          <a:p>
            <a:pPr>
              <a:defRPr sz="700"/>
            </a:pPr>
          </a:p>
          <a:p>
            <a:pPr/>
            <a:r>
              <a:rPr b="1" sz="1600"/>
              <a:t>For this course:</a:t>
            </a:r>
            <a:r>
              <a:rPr sz="1600"/>
              <a:t> keep data out of the repo, script the download, and put the DOI and a checksum in the README.</a:t>
            </a:r>
          </a:p>
        </p:txBody>
      </p:sp>
    </p:spTree>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26810</TotalTime>
  <Words>4562</Words>
  <Application>Microsoft Office PowerPoint</Application>
  <PresentationFormat>Widescreen</PresentationFormat>
  <Paragraphs>363</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Calibri Light</vt:lpstr>
      <vt:lpstr>revert</vt:lpstr>
      <vt:lpstr>Motiv Office</vt:lpstr>
      <vt:lpstr>Use  Git</vt:lpstr>
      <vt:lpstr>Got GitHub desktop?</vt:lpstr>
      <vt:lpstr>GIT: Get organized!</vt:lpstr>
      <vt:lpstr>Git: Prepare for a mistake!</vt:lpstr>
      <vt:lpstr>GIT: More versions of the same project</vt:lpstr>
      <vt:lpstr>GIT: Get backed up!</vt:lpstr>
      <vt:lpstr>Git: Collaborate!</vt:lpstr>
      <vt:lpstr>Git: Make your research public</vt:lpstr>
      <vt:lpstr>Version control system</vt:lpstr>
      <vt:lpstr>What to version control?</vt:lpstr>
      <vt:lpstr>What is a Repository?</vt:lpstr>
      <vt:lpstr>Centralized and distributed repositories and GitHub</vt:lpstr>
      <vt:lpstr>GitHub</vt:lpstr>
      <vt:lpstr>Process</vt:lpstr>
      <vt:lpstr>Pull requests</vt:lpstr>
      <vt:lpstr>Hands on</vt:lpstr>
      <vt:lpstr>First commit, where we initialize</vt:lpstr>
      <vt:lpstr>Second commit, where we extend and ignore</vt:lpstr>
      <vt:lpstr>.gitignore</vt:lpstr>
      <vt:lpstr>Third commit, where we mess up</vt:lpstr>
      <vt:lpstr>That’s it!</vt:lpstr>
      <vt:lpstr>Fourth commit to a new branch</vt:lpstr>
      <vt:lpstr>Fifth commit, where we experiment</vt:lpstr>
      <vt:lpstr>Let’s use Matlab to see the branches</vt:lpstr>
      <vt:lpstr>Sixth commit, where we merge</vt:lpstr>
      <vt:lpstr>Seventh commit, where we create conflict</vt:lpstr>
      <vt:lpstr>Eighth commit, where we resolve</vt:lpstr>
      <vt:lpstr>Create a pull request</vt:lpstr>
      <vt:lpstr>Ninth commit – updating a pull request</vt:lpstr>
      <vt:lpstr>Tenth commit is an assignment</vt:lpstr>
      <vt:lpstr>Check-out a repos</vt:lpstr>
      <vt:lpstr>Beyond the basics</vt:lpstr>
      <vt:lpstr>Gist</vt:lpstr>
      <vt:lpstr>Tags, releases</vt:lpstr>
      <vt:lpstr>GitHub</vt:lpstr>
      <vt:lpstr>Tidy up</vt:lpstr>
      <vt:lpstr>Git blame</vt:lpstr>
      <vt:lpstr>Reflog</vt:lpstr>
      <vt:lpstr>GitHub pages</vt:lpstr>
      <vt:lpstr>More resources</vt:lpstr>
      <vt:lpstr>QA</vt:lpstr>
      <vt:lpstr>Hidden message</vt:lpstr>
      <vt:lpstr>Merging and Conflicts</vt:lpstr>
      <vt:lpstr>Branching</vt:lpstr>
      <vt:lpstr>Git tooling</vt:lpstr>
      <vt:lpstr>Github</vt:lpstr>
      <vt:lpstr>.GitIgnore</vt:lpstr>
      <vt:lpstr>Pull requests</vt:lpstr>
      <vt:lpstr>Publishing issues</vt:lpstr>
      <vt:lpstr>Class</vt:lpstr>
      <vt:lpstr>Other</vt:lpstr>
      <vt:lpstr>Other</vt:lpstr>
      <vt:lpstr>Take away</vt:lpstr>
      <vt:lpstr>More help</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Autonomously Regulated Lumped Human Cardiovascular Model for Simulating Changes in Bodily Posture and Exercise</dc:title>
  <dc:creator>Filip Ježek</dc:creator>
  <cp:lastModifiedBy>Jezek, Filip</cp:lastModifiedBy>
  <cp:revision>102</cp:revision>
  <dcterms:created xsi:type="dcterms:W3CDTF">2021-03-24T10:47:54Z</dcterms:created>
  <dcterms:modified xsi:type="dcterms:W3CDTF">2025-09-23T08:53:28Z</dcterms:modified>
</cp:coreProperties>
</file>